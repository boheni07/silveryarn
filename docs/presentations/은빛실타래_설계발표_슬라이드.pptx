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B8935A"/>
                </a:solidFill>
                <a:latin typeface="맑은 고딕"/>
              </a:rPr>
              <a:t>설계발표 — 시스템 흐름 이해 중심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맑은 고딕"/>
              </a:rPr>
              <a:t>은빛실타래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8E97A6"/>
                </a:solidFill>
                <a:latin typeface="맑은 고딕"/>
              </a:rPr>
              <a:t>SilverYarn — 어르신 자서전 제작 및 AI 말벗돌봄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4F0F2"/>
                </a:solidFill>
                <a:latin typeface="맑은 고딕"/>
              </a:rPr>
              <a:t>전체 아키텍처 · 단위 시스템별 업무흐름도(개요+상세) · UI/UX 실 구현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096A0"/>
                </a:solidFill>
                <a:latin typeface="맑은 고딕"/>
              </a:rPr>
              <a:t>2026년 9월 · NUBiz AX(AI Transformation)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1부. 프로젝트 개요 — 배경 · 목적 · 3대 운영 모드 · 에이전트 페르소나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2부. 시스템 아키텍처 — 전체 컴포넌트 구성도 · Closed-Loop · 마스터 업무흐름도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3부. 단위 시스템별 상세 업무흐름도 — 13개 흐름(온보딩~관리자 업무)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4부. 데이터 모델 &amp; API — 엔티티 관계도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5부. UI/UX — 디자인 시스템 · 실 구현 화면 미리보기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6부. 보안 · 기술스택 요약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7부. 의사결정 &amp; CTO팀 검토 하이라이트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8부. 로드맵 &amp; Action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배경 · 목적 · 대상 사용자 · 서비스 컨셉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1부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Executive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887553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관점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Problem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고령화로 어르신 삶의 기록이 소실되고, 독거·정서적 고립으로 돌봄 공백 확대. 저사양/재활용 단말·비상시 인터넷 환경 고려 필요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Solution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온디바이스 STT/SLM/TTS로 평소 대화를 오프라인 완결, 등록 Wi-Fi 접속 시에만 온프레미스 서버(LLM·RAG·지식그래프)와 배치 동기화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Function/UX Effect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끊김 없는 대화 경험, 사진 기반 자동 회고로 자연스러운 콘텐츠 축적, 단말 사양별 키오스크/일반 자동 설치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Core Value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자서전 제작(입구) → 말벗돌봄·비서(체류)로 이어지는 락인 라이프사이클, 초개인화 대화로 범용 챗봇 대비 높은 몰입도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1부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프로젝트 목적 &amp; 핵심 차별점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목적: 온디바이스 음성 인터페이스(VAD·STT·SLM·TTS) + 중앙 서버 생성형 AI(LLM·RAG·지식그래프) 연계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472"/>
                </a:solidFill>
                <a:latin typeface="맑은 고딕"/>
              </a:rPr>
              <a:t>     -  오프라인 우선(Offline-First): 평상시 대화는 인터넷 연결 없이 온디바이스에서 완결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472"/>
                </a:solidFill>
                <a:latin typeface="맑은 고딕"/>
              </a:rPr>
              <a:t>     -  Wi-Fi 배치 동기화: 등록 Wi-Fi 접속 시에만 서버 고성능 엔진으로 최신화 후 재동기화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472"/>
                </a:solidFill>
                <a:latin typeface="맑은 고딕"/>
              </a:rPr>
              <a:t>     -  사진 기반 자동 회고 트리거: 신규 사진을 AI가 먼저 제시하며 자연스러운 회고 유도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472"/>
                </a:solidFill>
                <a:latin typeface="맑은 고딕"/>
              </a:rPr>
              <a:t>     -  디바이스 사양 기반 설치모드 자동 분기: 저사양은 키오스크, 고사양은 일반 앱 모드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472"/>
                </a:solidFill>
                <a:latin typeface="맑은 고딕"/>
              </a:rPr>
              <a:t>     -  작가 모드 → 말벗돌봄 모드 → 비서 모드로 이어지는 3단계 라이프사이클 통합 제공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1부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서비스 컨셉 — 3대 운영 모드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249"/>
                <a:gridCol w="3413666"/>
                <a:gridCol w="512049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모드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주요 기능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① 자서전 작가 모드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연대기적 구술 발굴 및 문학적 초안 생성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질문 생성기 · 사진 기반 회고 질문 · 심층 인터뷰잉 · 구술체→문어체 정제·챕터 자동귀속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② 말벗돌봄 모드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초개인화 공감 대화 및 고독감 해소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RAG 기반 추억 회상 · 사진 기반 회고 대화 · 정서 모니터링 및 알림 연동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③ 비서 모드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인지 기능 보조 및 일상 건강·일정 관리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일정·복약 엔티티 추출·등록 · 지정 시각 능동형 음성 브리핑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세 모드는 상호 배타적이지 않으며, 의도 분류(Intent Classification)로 하나의 대화 흐름 안에서 자연스럽게 전환됨 — 2026-09 Do 단계에서 '은실이' 하나의 대화 UI로 통합 구현(decisions.md #66~#68)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1부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대상 사용자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1차 사용자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구술의 주체가 되는 어르신 본인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2차 사용자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자서전을 감수·열람하는 가족, 돌봄 연계가 필요한 요양보호사·복지사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잠재 고객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복지관·요양기관·지자체 등 B2G/B2B 파일럿 운영 주체 — 채널 전략은 B2C/B2G 병행 추진으로 확정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전체 컴포넌트 구성도 · Closed-Loop · 마스터 업무흐름도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2부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데이터·운영 4원칙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원칙 1 (오프라인 우선): 평상시 대화는 인터넷 연결 없이 온디바이스에서 완결, 서버 동기화는 등록 Wi-Fi 접속 시에만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원칙 2 (전면 온프레미스): 원본 음성·자서전 원고·임베딩 벡터 등 PII 포함 데이터는 100% 자체 GPU 서버(vLLM·A100)·자체 DB에서만 처리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원칙 3 (제한적·선택적 외부 연계): 외부 클라우드 AI는 비식별화 데이터에 한해, 사용자 명시적 동의(Opt-in) 하에만 연계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원칙 4 (계약적 통제): 외부 연계 범위는 DPA 체결 및 내부 보안 검토를 통과한 항목으로 한정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6723F"/>
                </a:solidFill>
                <a:latin typeface="맑은 고딕"/>
              </a:rPr>
              <a:t>Zero External Data Egress — bkit Enterprise 기본 AWS 템플릿은 적용하지 않음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2부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전체 컴포넌트 다이어그램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E4F0F2"/>
          </a:solidFill>
          <a:ln w="15875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55C6B"/>
                </a:solidFill>
                <a:latin typeface="맑은 고딕"/>
              </a:rPr>
              <a:t>📱 모바일앱</a:t>
            </a:r>
          </a:p>
          <a:p>
            <a:pPr algn="ctr"/>
            <a:r>
              <a:rPr sz="1200">
                <a:solidFill>
                  <a:srgbClr val="155C6B"/>
                </a:solidFill>
                <a:latin typeface="맑은 고딕"/>
              </a:rPr>
              <a:t>온디바이스 (오프라인 우선)</a:t>
            </a:r>
          </a:p>
          <a:p>
            <a:pPr algn="ctr"/>
            <a:r>
              <a:rPr sz="1200">
                <a:solidFill>
                  <a:srgbClr val="155C6B"/>
                </a:solidFill>
                <a:latin typeface="맑은 고딕"/>
              </a:rPr>
              <a:t>VAD·STT·FTS5 RAG·SLM·TTS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4F2EE"/>
          </a:solidFill>
          <a:ln w="15875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55C6B"/>
                </a:solidFill>
                <a:latin typeface="맑은 고딕"/>
              </a:rPr>
              <a:t>🖥️ 서버 — 전량 온프레미스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FastAPI · 작가/말벗돌봄/비서 엔진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vLLM·A100 · Qdrant · Neo4j · PG · MinIO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417320"/>
            <a:ext cx="3474720" cy="1691640"/>
          </a:xfrm>
          <a:prstGeom prst="roundRect">
            <a:avLst>
              <a:gd name="adj" fmla="val 8000"/>
            </a:avLst>
          </a:prstGeom>
          <a:solidFill>
            <a:srgbClr val="ECE8E1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0242B"/>
                </a:solidFill>
                <a:latin typeface="맑은 고딕"/>
              </a:rPr>
              <a:t>🖊️ 웹 콘솔 (Next.js)</a:t>
            </a:r>
          </a:p>
          <a:p>
            <a:pPr algn="ctr"/>
            <a:r>
              <a:rPr sz="1200">
                <a:solidFill>
                  <a:srgbClr val="5B6472"/>
                </a:solidFill>
                <a:latin typeface="맑은 고딕"/>
              </a:rPr>
              <a:t>자서전 사용자 / 가족 / 관리자</a:t>
            </a:r>
          </a:p>
        </p:txBody>
      </p:sp>
      <p:sp>
        <p:nvSpPr>
          <p:cNvPr id="8" name="Down Arrow 7"/>
          <p:cNvSpPr/>
          <p:nvPr/>
        </p:nvSpPr>
        <p:spPr>
          <a:xfrm>
            <a:off x="2286000" y="3154680"/>
            <a:ext cx="320040" cy="320040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9692640" y="3154680"/>
            <a:ext cx="320040" cy="320040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3520440" cy="914400"/>
          </a:xfrm>
          <a:prstGeom prst="rect">
            <a:avLst/>
          </a:prstGeom>
          <a:solidFill>
            <a:srgbClr val="F3E9D8"/>
          </a:solidFill>
          <a:ln w="15875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96723F"/>
                </a:solidFill>
                <a:latin typeface="맑은 고딕"/>
              </a:rPr>
              <a:t>Wi-Fi 접속 시 자동 배치 동기화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3566160"/>
            <a:ext cx="3474720" cy="914400"/>
          </a:xfrm>
          <a:prstGeom prst="rect">
            <a:avLst/>
          </a:prstGeom>
          <a:solidFill>
            <a:srgbClr val="F3E9D8"/>
          </a:solidFill>
          <a:ln w="15875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96723F"/>
                </a:solidFill>
                <a:latin typeface="맑은 고딕"/>
              </a:rPr>
              <a:t>Keycloak SSO · /api/v1 · snake_case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49340" y="3108960"/>
            <a:ext cx="0" cy="457200"/>
          </a:xfrm>
          <a:prstGeom prst="line">
            <a:avLst/>
          </a:prstGeom>
          <a:ln w="19050">
            <a:solidFill>
              <a:srgbClr val="B8935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43400" y="3566160"/>
            <a:ext cx="3611880" cy="914400"/>
          </a:xfrm>
          <a:prstGeom prst="roundRect">
            <a:avLst>
              <a:gd name="adj" fmla="val 15000"/>
            </a:avLst>
          </a:prstGeom>
          <a:solidFill>
            <a:srgbClr val="F7F5F1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096A0"/>
                </a:solidFill>
                <a:latin typeface="맑은 고딕"/>
              </a:rPr>
              <a:t>선택 · Opt-in — 외부 고품질 TTS (Phase 3 한정)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92040"/>
            <a:ext cx="10911535" cy="96012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450" b="1">
                <a:solidFill>
                  <a:srgbClr val="FFFFFF"/>
                </a:solidFill>
                <a:latin typeface="맑은 고딕"/>
              </a:rPr>
              <a:t>🔒 핵심 원칙 — 오프라인 우선 + 전면 온프레미스(Zero External Data Egress) + 제한적·선택적 외부연계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2부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Closed-Loop Architecture — Edge ⇄ Cloud 피드백 루프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📱 EDGE TIER — 온디바이스 (Low-Latency)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962851" cy="822960"/>
          </a:xfrm>
          <a:prstGeom prst="rect">
            <a:avLst/>
          </a:prstGeom>
          <a:solidFill>
            <a:srgbClr val="E4F0F2"/>
          </a:solidFill>
          <a:ln w="15875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VAD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1491" y="2084831"/>
            <a:ext cx="292608" cy="182880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1531" y="1783080"/>
            <a:ext cx="1962851" cy="822960"/>
          </a:xfrm>
          <a:prstGeom prst="rect">
            <a:avLst/>
          </a:prstGeom>
          <a:solidFill>
            <a:srgbClr val="E4F0F2"/>
          </a:solidFill>
          <a:ln w="15875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경량 STT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94382" y="2084831"/>
            <a:ext cx="292608" cy="182880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14422" y="1783080"/>
            <a:ext cx="1962851" cy="822960"/>
          </a:xfrm>
          <a:prstGeom prst="rect">
            <a:avLst/>
          </a:prstGeom>
          <a:solidFill>
            <a:srgbClr val="E4F0F2"/>
          </a:solidFill>
          <a:ln w="15875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FTS5 RAG</a:t>
            </a:r>
          </a:p>
          <a:p>
            <a:pPr algn="ctr"/>
            <a:r>
              <a:rPr sz="1050">
                <a:solidFill>
                  <a:srgbClr val="155C6B"/>
                </a:solidFill>
                <a:latin typeface="맑은 고딕"/>
              </a:rPr>
              <a:t>(Zero-Neural)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77273" y="2084831"/>
            <a:ext cx="292608" cy="182880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97313" y="1783080"/>
            <a:ext cx="1962851" cy="822960"/>
          </a:xfrm>
          <a:prstGeom prst="rect">
            <a:avLst/>
          </a:prstGeom>
          <a:solidFill>
            <a:srgbClr val="E4F0F2"/>
          </a:solidFill>
          <a:ln w="15875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온디바이스 SLM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60164" y="2084831"/>
            <a:ext cx="292608" cy="182880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80204" y="1783080"/>
            <a:ext cx="1962851" cy="822960"/>
          </a:xfrm>
          <a:prstGeom prst="rect">
            <a:avLst/>
          </a:prstGeom>
          <a:solidFill>
            <a:srgbClr val="E4F0F2"/>
          </a:solidFill>
          <a:ln w="15875">
            <a:solidFill>
              <a:srgbClr val="1E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Native TTS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9748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6472"/>
                </a:solidFill>
                <a:latin typeface="맑은 고딕"/>
              </a:rPr>
              <a:t>로컬 영속화: Opus(16kbps) 압축 음성 + 대화턴 DB(conversations)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3017520" y="3108960"/>
            <a:ext cx="914400" cy="411480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3108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96723F"/>
                </a:solidFill>
                <a:latin typeface="맑은 고딕"/>
              </a:rPr>
              <a:t>▲ 상향: Opus 음성 + 로컬 STT 텍스트</a:t>
            </a:r>
          </a:p>
        </p:txBody>
      </p:sp>
      <p:sp>
        <p:nvSpPr>
          <p:cNvPr id="18" name="Up Arrow 17"/>
          <p:cNvSpPr/>
          <p:nvPr/>
        </p:nvSpPr>
        <p:spPr>
          <a:xfrm>
            <a:off x="7863840" y="3108960"/>
            <a:ext cx="914400" cy="411480"/>
          </a:xfrm>
          <a:prstGeom prst="upArrow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354787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55C6B"/>
                </a:solidFill>
                <a:latin typeface="맑은 고딕"/>
              </a:rPr>
              <a:t>▼ 하향: 정제지식·프롬프트·질문셋·일정룰 (Wi-Fi 접속 시)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69080"/>
            <a:ext cx="11094415" cy="3657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🖥️ CLOUD TIER — 온프레미스 서버 (Deep Processing)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17720"/>
            <a:ext cx="3484778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1. 검증·교정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Whisper Large-v3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정밀 재전사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033418" y="4937760"/>
            <a:ext cx="292608" cy="182880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53458" y="4617720"/>
            <a:ext cx="3484778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2. 지식화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Neo4j 그래프 +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Qdrant 벡터색인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38236" y="4937760"/>
            <a:ext cx="292608" cy="182880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8276" y="4617720"/>
            <a:ext cx="3484778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55C6B"/>
                </a:solidFill>
                <a:latin typeface="맑은 고딕"/>
              </a:rPr>
              <a:t>3. 생성·감수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온프레미스 vLLM 윤문</a:t>
            </a:r>
          </a:p>
          <a:p>
            <a:pPr algn="ctr"/>
            <a:r>
              <a:rPr sz="1100">
                <a:solidFill>
                  <a:srgbClr val="5B6472"/>
                </a:solidFill>
                <a:latin typeface="맑은 고딕"/>
              </a:rPr>
              <a:t>+ Critic Agent Gap분석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760720" y="5577840"/>
            <a:ext cx="640080" cy="25603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70448"/>
            <a:ext cx="11094415" cy="502920"/>
          </a:xfrm>
          <a:prstGeom prst="rect">
            <a:avLst/>
          </a:prstGeom>
          <a:solidFill>
            <a:srgbClr val="F3E9D8"/>
          </a:solidFill>
          <a:ln w="15875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96723F"/>
                </a:solidFill>
                <a:latin typeface="맑은 고딕"/>
              </a:rPr>
              <a:t>4. Compaction Engine — 자서전 요약 FTS5 차분 + 압축 프롬프트 + 우선순위 질문 → 온디바이스 패키징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2부 ·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전체 업무 프로세스 흐름도 (마스터 · Swimlane)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3576218" cy="36576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👤 당사자(스마트폰)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07738" y="1234440"/>
            <a:ext cx="3576218" cy="36576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🖥️ 온프레미스 서버</a:t>
            </a:r>
          </a:p>
        </p:txBody>
      </p:sp>
      <p:sp>
        <p:nvSpPr>
          <p:cNvPr id="7" name="Rectangle 6"/>
          <p:cNvSpPr/>
          <p:nvPr/>
        </p:nvSpPr>
        <p:spPr>
          <a:xfrm>
            <a:off x="8066836" y="1234440"/>
            <a:ext cx="3576218" cy="365760"/>
          </a:xfrm>
          <a:prstGeom prst="rect">
            <a:avLst/>
          </a:prstGeom>
          <a:solidFill>
            <a:srgbClr val="967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👨‍👩‍👧 가족(웹 콘솔)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11094415" cy="510757"/>
          </a:xfrm>
          <a:prstGeom prst="rect">
            <a:avLst/>
          </a:prstGeom>
          <a:solidFill>
            <a:srgbClr val="E4F0F2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350" b="1">
                <a:solidFill>
                  <a:srgbClr val="155C6B"/>
                </a:solidFill>
                <a:latin typeface="맑은 고딕"/>
              </a:rPr>
              <a:t>①  온보딩 · 설치모드 자동분기 · 초기설정 · 동의</a:t>
            </a:r>
          </a:p>
        </p:txBody>
      </p:sp>
      <p:sp>
        <p:nvSpPr>
          <p:cNvPr id="9" name="Down Arrow 8"/>
          <p:cNvSpPr/>
          <p:nvPr/>
        </p:nvSpPr>
        <p:spPr>
          <a:xfrm>
            <a:off x="6013551" y="2275549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21853"/>
            <a:ext cx="11094415" cy="510757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350" b="1">
                <a:solidFill>
                  <a:srgbClr val="20242B"/>
                </a:solidFill>
                <a:latin typeface="맑은 고딕"/>
              </a:rPr>
              <a:t>②  오프라인 구술 반복 (작가/말벗돌봄/비서, 온디바이스 완결)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13551" y="2914322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060626"/>
            <a:ext cx="11094415" cy="510757"/>
          </a:xfrm>
          <a:prstGeom prst="rect">
            <a:avLst/>
          </a:prstGeom>
          <a:solidFill>
            <a:srgbClr val="F3E9D8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350" b="1">
                <a:solidFill>
                  <a:srgbClr val="96723F"/>
                </a:solidFill>
                <a:latin typeface="맑은 고딕"/>
              </a:rPr>
              <a:t>③  Wi-Fi 접속 감지 → 배치 동기화 (업로드: 음성+전사+사진)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3553095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699399"/>
            <a:ext cx="11094415" cy="510757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350" b="1">
                <a:solidFill>
                  <a:srgbClr val="20242B"/>
                </a:solidFill>
                <a:latin typeface="맑은 고딕"/>
              </a:rPr>
              <a:t>④  서버 처리: STT 정밀보정 → 지식화 → LLM 챕터 초안 생성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013551" y="4191868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38172"/>
            <a:ext cx="11094415" cy="510757"/>
          </a:xfrm>
          <a:prstGeom prst="rect">
            <a:avLst/>
          </a:prstGeom>
          <a:solidFill>
            <a:srgbClr val="F3E9D8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350" b="1">
                <a:solidFill>
                  <a:srgbClr val="96723F"/>
                </a:solidFill>
                <a:latin typeface="맑은 고딕"/>
              </a:rPr>
              <a:t>⑤  가족 웹 감수 — 승인 / 반려(재생성 루프 → ④로)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013551" y="4830641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76945"/>
            <a:ext cx="11094415" cy="510757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350" b="1">
                <a:solidFill>
                  <a:srgbClr val="20242B"/>
                </a:solidFill>
                <a:latin typeface="맑은 고딕"/>
              </a:rPr>
              <a:t>⑥  확정 챕터 하향 동기화 → 로컬 캐시 갱신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13551" y="5469414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615718"/>
            <a:ext cx="11094415" cy="510757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350" b="1">
                <a:solidFill>
                  <a:srgbClr val="FFFFFF"/>
                </a:solidFill>
                <a:latin typeface="맑은 고딕"/>
              </a:rPr>
              <a:t>⑦  전체 챕터 확정 시 → 출판(PDF/ePub) 및 말벗돌봄 모드 본격 전환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8076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③↔⑥은 Wi-Fi 접속마다 반복되는 순환 구조 — 전체 라이프사이클은 프로세스흐름도 §5.2 참조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단위 시스템별 상세 업무흐름도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온보딩 · 작가엔진 · 사진회고 · RAG · 실시간대화 · 정서모니터링 · 비서 · 동기화 · 출판 · 감수 ·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온보딩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온보딩 · 가족 페어링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80160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스마트폰 최초 수령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설치모드 자동분기(키오스크/일반) → 초기설정(이름·Wi-Fi 등록)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280160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1967788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106777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개인정보 수집 동의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consent_logs 기록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106777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2794405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933394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가족 계정 초대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invitations 생성 · 토큰 발송 (웹 콘솔)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933394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3621022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3760011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초대 수락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가족이 링크 수락(status=accepted)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760011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13551" y="4447639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4586628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최초 Wi-Fi 동기화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초기 질문목록 다운로드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586628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13551" y="5274256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5413245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첫 구술 인터뷰 시작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온보딩 완료 → 정기 사용 전환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413245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자서전 작가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자서전 작가 엔진 상세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0025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STT 재전사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Whisper Large-v3 정밀 보정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1491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1531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2916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971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청킹·메타태깅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4411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시간·인물·장소·감정·사진ID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94382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14422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75807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5862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질문 이력 대조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7302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미응답 주제 탐지 → 신규/꼬리질문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77273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97313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58698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753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LLM 챕터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193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RAG 컨텍스트 기반 초안/갱신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60164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80204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41589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1644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구술체→문어체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3084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정제 및 챕터 자동 귀속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사진 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사진 기반 회고 → 챕터 인라인 편입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80160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사진 업로드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가족(웹) 또는 당사자(모바일) — 업로더 무관 동일 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280160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1967788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106777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미회고 사진 큐 등록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연도 태그 기반 예상 챕터 매핑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106777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2794405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933394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다음 대화 세션 우선 제시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작가/말벗돌봄 모드 무관 — 사진 먼저 보여주며 회고 유도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933394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3621022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3760011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음성 답변 수집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사진ID + 회고 텍스트 연결, 미회고 큐에서 제거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760011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13551" y="4447639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4586628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서버 처리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해당 시기 챕터 본문에 자동 인라인 삽입 (placement_status=proposed)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586628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13551" y="5274256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5413245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가족 웹 감수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위치·설명 확정 시 placement_status=confirmed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413245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RAG 검색(Retrieval)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0025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Query 임베딩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BGE-M3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1491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1531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2916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971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하이브리드 서치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4411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BM25 + Dense (Qdrant)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94382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14422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75807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5862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메타 필터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7302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시기 · 인물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77273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97313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58698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753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Top-K 추출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193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Re-rank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60164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80204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41589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1644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LLM Context 구성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3084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응답 생성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실시간 대화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말벗돌봄 실시간 대화 파이프라인 (저사양 단말 최적화, 8단계)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80160"/>
            <a:ext cx="10180015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① VAD 감지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WebRTC VAD — 800ms 묵음판정으로 발화종료 확정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280160"/>
            <a:ext cx="548640" cy="51435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1764465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1899012"/>
            <a:ext cx="10180015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② 온디바이스 STT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스트리밍 디코딩, 청크 단위 누적 처리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899012"/>
            <a:ext cx="548640" cy="51435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2383317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2517864"/>
            <a:ext cx="10180015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③ 키워드 추출 &amp; 의도분류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경량 룰/정규식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517864"/>
            <a:ext cx="548640" cy="51435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3002169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3136716"/>
            <a:ext cx="10180015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④ FTS5(BM25) 키워드 검색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Zero-Neural RAG — 임베딩 연산 없이 자서전 청크 인출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36716"/>
            <a:ext cx="548640" cy="51435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13551" y="3621021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755568"/>
            <a:ext cx="10180015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⑤ 동적 프롬프트 합성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페르소나+회상기억+발화, Context 1,024 토큰 제한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755568"/>
            <a:ext cx="548640" cy="51435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13551" y="4239873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4374420"/>
            <a:ext cx="10180015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⑥ SLM 스트리밍 추론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문장 종결부호 감지 시 즉시 문장 단위 분할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74420"/>
            <a:ext cx="548640" cy="51435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13551" y="4858725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4993272"/>
            <a:ext cx="10180015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⑦ 문장 단위 TTS 파이프라이닝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전체 응답 대기 없이 첫 문장 즉시 합성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993272"/>
            <a:ext cx="548640" cy="51435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013551" y="5477577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" y="5612124"/>
            <a:ext cx="10180015" cy="514350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⑧ 로컬 DB 영속화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발화·참조챕터ID·응답소요시간 기록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612124"/>
            <a:ext cx="548640" cy="51435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핵심 최적화: 임베딩모델 미상주(RAM 절감) + 문장단위 스트리밍(체감속도 단축) — decisions.md #31, #32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정서 모니터링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정서 모니터링 처리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80160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발화 분석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톤 분석 + 부정 어휘 빈도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280160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2071116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313432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정서 점수 산출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emotion_scores에 일별 1건 기록 (임계치와 무관하게 항상 수행)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313432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3104388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3346704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임계치 초과 판정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No → 종료 / Yes → emotion_alerts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346704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4137660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4379976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알림 발송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notification_settings 조회 → 설정된 채널로 가족·복지사 알림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379976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13551" y="5170932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5413248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확인 응답 대기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No(N분 경과) → 재알림 에스컬레이션 / Yes → 케이스 종료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413248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⚠️ '언제 보낼지'(임계치)는 법무·윤리 검토 대기 중 — '누가·어디로 받을지'만 지금 구현 가능 (decisions.md #12, #19)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비서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비서 모드 — 일정·복약 로컬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0025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발화 파싱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날짜·시간·장소·목적 엔티티 추출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1491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1531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2916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971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정보 충족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4411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부족 시 재질문 루프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94382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14422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75807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5862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로컬 DB 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7302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알림 예약 (OS 스케줄러)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77273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97313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58698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753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지정 시각 도달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193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능동형 음성 브리핑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60164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80204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41589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1644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응답 처리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3084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복용확인/무응답 에스컬레이션/거부사유 기록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동기화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Wi-Fi 동기화 실패 · 충돌 해결 프로세스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80160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업로드 시도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실패 시 지수 백오프 재시도(최대 N회, Do단계 확정)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280160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2071116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313432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다운로드 시도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실패 시 재시도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313432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3104388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3346704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체크섬 검증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실패 시 손상 데이터 폐기 후 재다운로드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346704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4137660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4379976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버전 충돌 확인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로컬-서버 충돌 시 서버 마스터 우선 적용(Server-Wins)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379976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13551" y="5170932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5413248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동기화 완료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로컬 캐시 정상 갱신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413248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출판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출판/인쇄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10025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전체 챕터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모든 chapters.status=confirmed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1491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1531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92916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2971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출판 요청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4411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publications.status=requested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94382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14422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75807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5862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조판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7302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PDF(CMYK 300DPI) 또는 ePub, MinIO 저장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77273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97313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58698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753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완료 알림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193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status=ready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60164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80204" y="1920240"/>
            <a:ext cx="1962851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41589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1644" y="3291840"/>
            <a:ext cx="177997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인쇄발주/다운로드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3084" y="4069080"/>
            <a:ext cx="1597091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하드커버 발주 또는 전자책 링크 제공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가족 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가족 협업 · 감수 워크플로우 (웹)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80160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신규 챕터 초안 알림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AI 생성 완료 시 가족에게 통지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280160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3551" y="2071116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313432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원고 대조 편집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구술 녹취록 ↔ AI 초안 비교, 사진 업로드·타임라인 배치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313432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013551" y="3104388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3346704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승인/반려 결정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반려 시 AI 재생성 요청 → 초안 루프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346704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013551" y="4137660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4379976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챕터 확정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chapter_revisions 기록, 버전 저장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379976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13551" y="5170932"/>
            <a:ext cx="164592" cy="164592"/>
          </a:xfrm>
          <a:prstGeom prst="down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5413248"/>
            <a:ext cx="10180015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전체 완료 확인</a:t>
            </a:r>
          </a:p>
          <a:p>
            <a:r>
              <a:rPr sz="1250">
                <a:solidFill>
                  <a:srgbClr val="5B6472"/>
                </a:solidFill>
                <a:latin typeface="맑은 고딕"/>
              </a:rPr>
              <a:t>모든 챕터 완료 시 출판 단계로 전환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413248"/>
            <a:ext cx="548640" cy="713232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Closed-Loop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서버측 Closed-Loop 3단계 상세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484778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70989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33018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검증·교정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69080"/>
            <a:ext cx="3119018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Whisper Large-v3 정밀 재전사 — 사투리·고유명사 보정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33418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3458" y="1920240"/>
            <a:ext cx="3484778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75807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898" y="3291840"/>
            <a:ext cx="33018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지식화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6338" y="4069080"/>
            <a:ext cx="3119018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Neo4j 그래프(인물·사건·감정 관계) + Qdrant 벡터색인(BGE-M3)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38236" y="3712463"/>
            <a:ext cx="320040" cy="164592"/>
          </a:xfrm>
          <a:prstGeom prst="rightArrow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1920240"/>
            <a:ext cx="3484778" cy="3749039"/>
          </a:xfrm>
          <a:prstGeom prst="rect">
            <a:avLst/>
          </a:prstGeom>
          <a:solidFill>
            <a:srgbClr val="FFFFFF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80625" y="2286000"/>
            <a:ext cx="640080" cy="64008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9716" y="3291840"/>
            <a:ext cx="33018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50" b="1">
                <a:solidFill>
                  <a:srgbClr val="20242B"/>
                </a:solidFill>
                <a:latin typeface="맑은 고딕"/>
              </a:rPr>
              <a:t>생성·감수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1156" y="4069080"/>
            <a:ext cx="3119018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B6472"/>
                </a:solidFill>
                <a:latin typeface="맑은 고딕"/>
              </a:rPr>
              <a:t>온프레미스 vLLM 윤문 + Critic Agent Gap분석(Fact/Emotion/Relation/Reflection)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설치모드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설치모드 자동 분기 흐름 — 키오스크 / 일반 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249"/>
                <a:gridCol w="4267082"/>
                <a:gridCol w="426708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키오스크 모드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일반 앱 모드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대상 단말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저사양·재활용 단말 (RAM&lt;6GB 또는 Android≤11)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고사양 개인 단말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설치 방식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Device Owner Mode(COSU)로 단일실행 잠금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여러 앱 중 하나로 아이콘 설치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앱 기능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완전히 동일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완전히 동일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모드 결정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설치 시 1회 자동판별, 재설치 전까지 고정 — 서버 원격전환 없음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좌동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판별기준: RAM&lt;6GB 또는 Android≤11 중 하나라도 미달 시 보수적으로 키오스크 판정 (decisions.md #5)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관리자 업무 흐름 — 기기관리/모니터링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5547207"/>
                <a:gridCol w="2773603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업무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근거 화면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사용자 관리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전체 사용자·가족 계정 현황 조회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A-03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Wi-Fi 동기화 모니터링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sync_sessions 상태·재시도·실패 이력 추적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A-08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정서 알림 이력 관리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emotion_alerts 발생·확인·케이스 종료 이력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A-04 부속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시스템 설정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LLM/STT 모델 버전, 외부연계 Opt-in 정책 관리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A-06/A-07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기기 관리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기기ID·사양(RAM/OS)·설치모드 조회 전용 (원격제어 없음)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A-04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분야: 동기화 페이로드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Wi-Fi 하향 동기화 페이로드 예시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solidFill>
            <a:srgbClr val="15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"data":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"sync_version": "sync_v20260906_02",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"chapter_updates": [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{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"chapter_id": "b3f1...-uuid",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"chapter_no": 2,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"period": "youth",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"keywords": ["1978년", "인천공장", "김반장", "월급"],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"summary": "1978년 인천 기계공장 근무 시절 김 반장과의 갈등 및 극복기"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],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"priority_questions": [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{ "question_id": "q_...-uuid",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"text": "인천 공장 계실 때 첫 월급 타서 사모님께 어떤 선물을 하셨는지 기억나세요?",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"type": "follow_up" 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],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"schedule_items": [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{ "id": "s_...-uuid", "kind": "medication",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    "due_at": "2026-09-07T08:30:00+09:00", "description": "혈압약" 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  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4F0F2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8935A"/>
                </a:solidFill>
                <a:latin typeface="맑은 고딕"/>
              </a:rPr>
              <a:t>GET /api/v1/sync/download 응답 — 필드 케이싱은 snake_case 확정 (decisions.md #20)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데이터 모델 &amp;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17개 엔티티 · 표준 API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4부 · 데이터/API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데이터 모델 개요 — 17개 엔티티 (schema.md)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핵심: users · family_members · devices · chapters · chapter_revisions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사진/구술: photos · photo_requests · conversation_chunks · questions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비서/정서: schedule_items · emotion_alerts · emotion_scores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운영/거버넌스: sync_sessions · consent_logs · notification_settings · invitations · publications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설계 원칙: DB enum은 영문 통일, API는 snake_case, 구독·결제 도메인은 Phase 1 스코프 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4부 · 데이터/API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핵심 엔티티 관계 (요약 ERD)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7448" y="1371600"/>
            <a:ext cx="2743200" cy="685800"/>
          </a:xfrm>
          <a:prstGeom prst="roundRect">
            <a:avLst>
              <a:gd name="adj" fmla="val 15000"/>
            </a:avLst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users (어르신 — 소유 루트)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80360"/>
            <a:ext cx="2606040" cy="914400"/>
          </a:xfrm>
          <a:prstGeom prst="rect">
            <a:avLst/>
          </a:prstGeom>
          <a:solidFill>
            <a:srgbClr val="F3E9D8"/>
          </a:solidFill>
          <a:ln w="15875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96723F"/>
                </a:solidFill>
                <a:latin typeface="맑은 고딕"/>
              </a:rPr>
              <a:t>family_members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9272" y="2880360"/>
            <a:ext cx="2606040" cy="914400"/>
          </a:xfrm>
          <a:prstGeom prst="rect">
            <a:avLst/>
          </a:prstGeom>
          <a:solidFill>
            <a:srgbClr val="F3E9D8"/>
          </a:solidFill>
          <a:ln w="15875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96723F"/>
                </a:solidFill>
                <a:latin typeface="맑은 고딕"/>
              </a:rPr>
              <a:t>devices → sync_sessions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9904" y="2880360"/>
            <a:ext cx="2606040" cy="914400"/>
          </a:xfrm>
          <a:prstGeom prst="rect">
            <a:avLst/>
          </a:prstGeom>
          <a:solidFill>
            <a:srgbClr val="F3E9D8"/>
          </a:solidFill>
          <a:ln w="15875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96723F"/>
                </a:solidFill>
                <a:latin typeface="맑은 고딕"/>
              </a:rPr>
              <a:t>invitations /</a:t>
            </a:r>
          </a:p>
          <a:p>
            <a:pPr algn="ctr"/>
            <a:r>
              <a:rPr sz="950">
                <a:solidFill>
                  <a:srgbClr val="5B6472"/>
                </a:solidFill>
                <a:latin typeface="맑은 고딕"/>
              </a:rPr>
              <a:t>notification_settings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0536" y="2880360"/>
            <a:ext cx="2606040" cy="914400"/>
          </a:xfrm>
          <a:prstGeom prst="rect">
            <a:avLst/>
          </a:prstGeom>
          <a:solidFill>
            <a:srgbClr val="F3E9D8"/>
          </a:solidFill>
          <a:ln w="15875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96723F"/>
                </a:solidFill>
                <a:latin typeface="맑은 고딕"/>
              </a:rPr>
              <a:t>chapters →</a:t>
            </a:r>
          </a:p>
          <a:p>
            <a:pPr algn="ctr"/>
            <a:r>
              <a:rPr sz="950">
                <a:solidFill>
                  <a:srgbClr val="5B6472"/>
                </a:solidFill>
                <a:latin typeface="맑은 고딕"/>
              </a:rPr>
              <a:t>chapter_revisions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95928"/>
            <a:ext cx="2606040" cy="914400"/>
          </a:xfrm>
          <a:prstGeom prst="rect">
            <a:avLst/>
          </a:prstGeom>
          <a:solidFill>
            <a:srgbClr val="F3E9D8"/>
          </a:solidFill>
          <a:ln w="15875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96723F"/>
                </a:solidFill>
                <a:latin typeface="맑은 고딕"/>
              </a:rPr>
              <a:t>photos ↔ conversation_chunks</a:t>
            </a:r>
          </a:p>
          <a:p>
            <a:pPr algn="ctr"/>
            <a:r>
              <a:rPr sz="950">
                <a:solidFill>
                  <a:srgbClr val="5B6472"/>
                </a:solidFill>
                <a:latin typeface="맑은 고딕"/>
              </a:rPr>
              <a:t>+ graph_node_ref → Neo4j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3995928"/>
            <a:ext cx="2606040" cy="914400"/>
          </a:xfrm>
          <a:prstGeom prst="rect">
            <a:avLst/>
          </a:prstGeom>
          <a:solidFill>
            <a:srgbClr val="F3E9D8"/>
          </a:solidFill>
          <a:ln w="15875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96723F"/>
                </a:solidFill>
                <a:latin typeface="맑은 고딕"/>
              </a:rPr>
              <a:t>photo_requests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904" y="3995928"/>
            <a:ext cx="2606040" cy="914400"/>
          </a:xfrm>
          <a:prstGeom prst="rect">
            <a:avLst/>
          </a:prstGeom>
          <a:solidFill>
            <a:srgbClr val="F3E9D8"/>
          </a:solidFill>
          <a:ln w="15875">
            <a:solidFill>
              <a:srgbClr val="B89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96723F"/>
                </a:solidFill>
                <a:latin typeface="맑은 고딕"/>
              </a:rPr>
              <a:t>questions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0536" y="3995928"/>
            <a:ext cx="2606040" cy="914400"/>
          </a:xfrm>
          <a:prstGeom prst="rect">
            <a:avLst/>
          </a:prstGeom>
          <a:solidFill>
            <a:srgbClr val="F7F5F1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0242B"/>
                </a:solidFill>
                <a:latin typeface="맑은 고딕"/>
              </a:rPr>
              <a:t>schedule_items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11496"/>
            <a:ext cx="2606040" cy="914400"/>
          </a:xfrm>
          <a:prstGeom prst="rect">
            <a:avLst/>
          </a:prstGeom>
          <a:solidFill>
            <a:srgbClr val="F7F5F1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0242B"/>
                </a:solidFill>
                <a:latin typeface="맑은 고딕"/>
              </a:rPr>
              <a:t>emotion_alerts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5111496"/>
            <a:ext cx="2606040" cy="914400"/>
          </a:xfrm>
          <a:prstGeom prst="rect">
            <a:avLst/>
          </a:prstGeom>
          <a:solidFill>
            <a:srgbClr val="F7F5F1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0242B"/>
                </a:solidFill>
                <a:latin typeface="맑은 고딕"/>
              </a:rPr>
              <a:t>emotion_scores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5111496"/>
            <a:ext cx="2606040" cy="914400"/>
          </a:xfrm>
          <a:prstGeom prst="rect">
            <a:avLst/>
          </a:prstGeom>
          <a:solidFill>
            <a:srgbClr val="F7F5F1"/>
          </a:solidFill>
          <a:ln w="15875">
            <a:solidFill>
              <a:srgbClr val="B7AD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0242B"/>
                </a:solidFill>
                <a:latin typeface="맑은 고딕"/>
              </a:rPr>
              <a:t>consent_logs /</a:t>
            </a:r>
          </a:p>
          <a:p>
            <a:pPr algn="ctr"/>
            <a:r>
              <a:rPr sz="950">
                <a:solidFill>
                  <a:srgbClr val="5B6472"/>
                </a:solidFill>
                <a:latin typeface="맑은 고딕"/>
              </a:rPr>
              <a:t>publications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851660" y="2057400"/>
            <a:ext cx="4247388" cy="822960"/>
          </a:xfrm>
          <a:prstGeom prst="line">
            <a:avLst/>
          </a:prstGeom>
          <a:ln w="12700">
            <a:solidFill>
              <a:srgbClr val="8E9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622292" y="2057400"/>
            <a:ext cx="1476756" cy="822960"/>
          </a:xfrm>
          <a:prstGeom prst="line">
            <a:avLst/>
          </a:prstGeom>
          <a:ln w="12700">
            <a:solidFill>
              <a:srgbClr val="8E9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057400"/>
            <a:ext cx="1293876" cy="822960"/>
          </a:xfrm>
          <a:prstGeom prst="line">
            <a:avLst/>
          </a:prstGeom>
          <a:ln w="12700">
            <a:solidFill>
              <a:srgbClr val="8E9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9048" y="2057400"/>
            <a:ext cx="4064508" cy="822960"/>
          </a:xfrm>
          <a:prstGeom prst="line">
            <a:avLst/>
          </a:prstGeom>
          <a:ln w="12700">
            <a:solidFill>
              <a:srgbClr val="8E9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851660" y="2057400"/>
            <a:ext cx="4247388" cy="1938528"/>
          </a:xfrm>
          <a:prstGeom prst="line">
            <a:avLst/>
          </a:prstGeom>
          <a:ln w="12700">
            <a:solidFill>
              <a:srgbClr val="8E9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622292" y="2057400"/>
            <a:ext cx="1476756" cy="1938528"/>
          </a:xfrm>
          <a:prstGeom prst="line">
            <a:avLst/>
          </a:prstGeom>
          <a:ln w="12700">
            <a:solidFill>
              <a:srgbClr val="8E9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99048" y="2057400"/>
            <a:ext cx="1293876" cy="1938528"/>
          </a:xfrm>
          <a:prstGeom prst="line">
            <a:avLst/>
          </a:prstGeom>
          <a:ln w="12700">
            <a:solidFill>
              <a:srgbClr val="8E9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99048" y="2057400"/>
            <a:ext cx="4064508" cy="1938528"/>
          </a:xfrm>
          <a:prstGeom prst="line">
            <a:avLst/>
          </a:prstGeom>
          <a:ln w="12700">
            <a:solidFill>
              <a:srgbClr val="8E9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851660" y="2057400"/>
            <a:ext cx="4247388" cy="3054096"/>
          </a:xfrm>
          <a:prstGeom prst="line">
            <a:avLst/>
          </a:prstGeom>
          <a:ln w="12700">
            <a:solidFill>
              <a:srgbClr val="8E9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622292" y="2057400"/>
            <a:ext cx="1476756" cy="3054096"/>
          </a:xfrm>
          <a:prstGeom prst="line">
            <a:avLst/>
          </a:prstGeom>
          <a:ln w="12700">
            <a:solidFill>
              <a:srgbClr val="8E9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9048" y="2057400"/>
            <a:ext cx="1293876" cy="3054096"/>
          </a:xfrm>
          <a:prstGeom prst="line">
            <a:avLst/>
          </a:prstGeom>
          <a:ln w="12700">
            <a:solidFill>
              <a:srgbClr val="8E9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4부 · 데이터/API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API 설계 개요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프레임워크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Python 3.11+ / FastAPI (온프레미스 자체 호스팅, 확정)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버전 관리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/api/v1 프리픽스, 리소스는 소유자(users) 하위로 중첩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표준 응답 포맷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성공: {data}, 목록: {data, pagination}, 에러: {error:{code,message,details}}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표준 에러 코드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VALIDATION_ERROR(400) · UNAUTHORIZED(401) · FORBIDDEN(403) · NOT_FOUND(404) · CONFLICT(409) · INTERNAL_ERROR(500)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필드 케이싱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서버 wire format은 snake_case 통일, 클라이언트는 각 스택 컨벤션으로 변환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인증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Keycloak SSO — GET /me로 로그인 세션→연결된 어르신 자동 해석(2026-09 신규)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UI/UX · 디자인시스템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실제 구현 화면 · BI 가이드 기반 토큰화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5부 ·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디자인 시스템 — 컬러 &amp; 타이포그래피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691640" cy="128016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242B"/>
                </a:solidFill>
                <a:latin typeface="맑은 고딕"/>
              </a:rPr>
              <a:t>Thread Teal</a:t>
            </a:r>
          </a:p>
          <a:p>
            <a:r>
              <a:rPr sz="1100">
                <a:solidFill>
                  <a:srgbClr val="5B6472"/>
                </a:solidFill>
                <a:latin typeface="맑은 고딕"/>
              </a:rPr>
              <a:t>#1E7A8C · Primary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463040"/>
            <a:ext cx="1691640" cy="1280160"/>
          </a:xfrm>
          <a:prstGeom prst="rect">
            <a:avLst/>
          </a:prstGeom>
          <a:solidFill>
            <a:srgbClr val="8E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788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242B"/>
                </a:solidFill>
                <a:latin typeface="맑은 고딕"/>
              </a:rPr>
              <a:t>Silver Mist</a:t>
            </a:r>
          </a:p>
          <a:p>
            <a:r>
              <a:rPr sz="1100">
                <a:solidFill>
                  <a:srgbClr val="5B6472"/>
                </a:solidFill>
                <a:latin typeface="맑은 고딕"/>
              </a:rPr>
              <a:t>#8E97A6 · Secondary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1691640" cy="128016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788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242B"/>
                </a:solidFill>
                <a:latin typeface="맑은 고딕"/>
              </a:rPr>
              <a:t>Heritage Gold</a:t>
            </a:r>
          </a:p>
          <a:p>
            <a:r>
              <a:rPr sz="1100">
                <a:solidFill>
                  <a:srgbClr val="5B6472"/>
                </a:solidFill>
                <a:latin typeface="맑은 고딕"/>
              </a:rPr>
              <a:t>#B8935A · Accent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1691640" cy="12801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788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242B"/>
                </a:solidFill>
                <a:latin typeface="맑은 고딕"/>
              </a:rPr>
              <a:t>Ink</a:t>
            </a:r>
          </a:p>
          <a:p>
            <a:r>
              <a:rPr sz="1100">
                <a:solidFill>
                  <a:srgbClr val="5B6472"/>
                </a:solidFill>
                <a:latin typeface="맑은 고딕"/>
              </a:rPr>
              <a:t>#20242B ·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463040"/>
            <a:ext cx="1691640" cy="128016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27889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0242B"/>
                </a:solidFill>
                <a:latin typeface="맑은 고딕"/>
              </a:rPr>
              <a:t>Paper Stone</a:t>
            </a:r>
          </a:p>
          <a:p>
            <a:r>
              <a:rPr sz="1100">
                <a:solidFill>
                  <a:srgbClr val="5B6472"/>
                </a:solidFill>
                <a:latin typeface="맑은 고딕"/>
              </a:rPr>
              <a:t>#F4F2EE ·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96723F"/>
                </a:solidFill>
                <a:latin typeface="맑은 고딕"/>
              </a:rPr>
              <a:t>타입 스케일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3657600"/>
          <a:ext cx="1091153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레벨</a:t>
                      </a:r>
                    </a:p>
                  </a:txBody>
                  <a:tcPr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크기/굵기</a:t>
                      </a:r>
                    </a:p>
                  </a:txBody>
                  <a:tcPr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서체</a:t>
                      </a:r>
                    </a:p>
                  </a:txBody>
                  <a:tcPr>
                    <a:solidFill>
                      <a:srgbClr val="20242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DISPLAY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34px / 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Noto Serif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H1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26px / 700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Noto Serif KR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20px / 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Noto Serif KR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BODY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16px / 400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Pretendard</a:t>
                      </a:r>
                    </a:p>
                  </a:txBody>
                  <a:tcPr>
                    <a:solidFill>
                      <a:srgbClr val="E4F0F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CAPTION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14px /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Pretendard(WCAG AA)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5부 ·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실제 구현 화면 미리보기 (Do 단계, 2026-09)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834640" cy="4892040"/>
          </a:xfrm>
          <a:prstGeom prst="roundRect">
            <a:avLst>
              <a:gd name="adj" fmla="val 12000"/>
            </a:avLst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481328"/>
            <a:ext cx="2615184" cy="4672584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1783080"/>
            <a:ext cx="822960" cy="82296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0242B"/>
                </a:solidFill>
                <a:latin typeface="맑은 고딕"/>
              </a:rPr>
              <a:t>은실이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3200400"/>
            <a:ext cx="2331720" cy="64008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5875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>
                <a:solidFill>
                  <a:srgbClr val="20242B"/>
                </a:solidFill>
                <a:latin typeface="맑은 고딕"/>
              </a:rPr>
              <a:t>오늘 날씨가 참 좋네요. 산책은 다녀오셨어요?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2" y="3950208"/>
            <a:ext cx="2331720" cy="640080"/>
          </a:xfrm>
          <a:prstGeom prst="roundRect">
            <a:avLst>
              <a:gd name="adj" fmla="val 28000"/>
            </a:avLst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>
                <a:solidFill>
                  <a:srgbClr val="FFFFFF"/>
                </a:solidFill>
                <a:latin typeface="맑은 고딕"/>
              </a:rPr>
              <a:t>응, 공원 한 바퀴 돌고 왔어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4700016"/>
            <a:ext cx="2331720" cy="64008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5875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>
                <a:solidFill>
                  <a:srgbClr val="20242B"/>
                </a:solidFill>
                <a:latin typeface="맑은 고딕"/>
              </a:rPr>
              <a:t>잘하셨어요! 그날 사진 한 장 보내주시면 제가 기억해둘게요 📷</a:t>
            </a:r>
          </a:p>
        </p:txBody>
      </p:sp>
      <p:sp>
        <p:nvSpPr>
          <p:cNvPr id="12" name="Oval 11"/>
          <p:cNvSpPr/>
          <p:nvPr/>
        </p:nvSpPr>
        <p:spPr>
          <a:xfrm>
            <a:off x="1874520" y="5486400"/>
            <a:ext cx="548640" cy="548640"/>
          </a:xfrm>
          <a:prstGeom prst="ellipse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367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5C6B"/>
                </a:solidFill>
                <a:latin typeface="맑은 고딕"/>
              </a:rPr>
              <a:t>모바일 · 은실이 대화 (통합 홈)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554480"/>
            <a:ext cx="379476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77639" y="1554480"/>
            <a:ext cx="3794760" cy="365760"/>
          </a:xfrm>
          <a:prstGeom prst="roundRect">
            <a:avLst>
              <a:gd name="adj" fmla="val 15000"/>
            </a:avLst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14799" y="1682496"/>
            <a:ext cx="109728" cy="109728"/>
          </a:xfrm>
          <a:prstGeom prst="ellipse">
            <a:avLst/>
          </a:prstGeom>
          <a:solidFill>
            <a:srgbClr val="B8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15967" y="1682496"/>
            <a:ext cx="109728" cy="109728"/>
          </a:xfrm>
          <a:prstGeom prst="ellipse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17135" y="1682496"/>
            <a:ext cx="109728" cy="10972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39" y="16276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096A0"/>
                </a:solidFill>
                <a:latin typeface="맑은 고딕"/>
              </a:rPr>
              <a:t>silveryarn.family/dashboard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39" y="205740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0242B"/>
                </a:solidFill>
                <a:latin typeface="맑은 고딕"/>
              </a:rPr>
              <a:t>오늘의 기억 리포트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39" y="2514600"/>
            <a:ext cx="1014984" cy="77724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3회</a:t>
            </a:r>
          </a:p>
          <a:p>
            <a:pPr algn="ctr"/>
            <a:r>
              <a:rPr sz="900">
                <a:solidFill>
                  <a:srgbClr val="5B6472"/>
                </a:solidFill>
                <a:latin typeface="맑은 고딕"/>
              </a:rPr>
              <a:t>오늘 대화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67527" y="2514600"/>
            <a:ext cx="1014984" cy="77724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55C6B"/>
                </a:solidFill>
                <a:latin typeface="맑은 고딕"/>
              </a:rPr>
              <a:t>1건</a:t>
            </a:r>
          </a:p>
          <a:p>
            <a:pPr algn="ctr"/>
            <a:r>
              <a:rPr sz="900">
                <a:solidFill>
                  <a:srgbClr val="5B6472"/>
                </a:solidFill>
                <a:latin typeface="맑은 고딕"/>
              </a:rPr>
              <a:t>오늘 새 회고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28815" y="2514600"/>
            <a:ext cx="1014984" cy="77724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9096A0"/>
                </a:solidFill>
                <a:latin typeface="맑은 고딕"/>
              </a:rPr>
              <a:t>준비 중</a:t>
            </a:r>
          </a:p>
          <a:p>
            <a:pPr algn="ctr"/>
            <a:r>
              <a:rPr sz="900">
                <a:solidFill>
                  <a:srgbClr val="5B6472"/>
                </a:solidFill>
                <a:latin typeface="맑은 고딕"/>
              </a:rPr>
              <a:t>정서 상태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39" y="3474720"/>
            <a:ext cx="333756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/>
            <a:r>
              <a:rPr sz="1000" b="1">
                <a:solidFill>
                  <a:srgbClr val="96723F"/>
                </a:solidFill>
                <a:latin typeface="맑은 고딕"/>
              </a:rPr>
              <a:t>AI 요약 · 주요 회고</a:t>
            </a:r>
          </a:p>
          <a:p>
            <a:r>
              <a:rPr sz="1050">
                <a:solidFill>
                  <a:srgbClr val="5B6472"/>
                </a:solidFill>
                <a:latin typeface="맑은 고딕"/>
              </a:rPr>
              <a:t>"국민학교 시절, 겨울이면 운동장에 물을 얼려 스케이트장을 만들곤 했지요…"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5788152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5C6B"/>
                </a:solidFill>
                <a:latin typeface="맑은 고딕"/>
              </a:rPr>
              <a:t>웹 · 가족 대시보드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554480"/>
            <a:ext cx="342900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EDA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1554480"/>
            <a:ext cx="3429000" cy="365760"/>
          </a:xfrm>
          <a:prstGeom prst="roundRect">
            <a:avLst>
              <a:gd name="adj" fmla="val 15000"/>
            </a:avLst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0" y="1682496"/>
            <a:ext cx="109728" cy="109728"/>
          </a:xfrm>
          <a:prstGeom prst="ellipse">
            <a:avLst/>
          </a:prstGeom>
          <a:solidFill>
            <a:srgbClr val="B84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30768" y="1682496"/>
            <a:ext cx="109728" cy="109728"/>
          </a:xfrm>
          <a:prstGeom prst="ellipse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31936" y="1682496"/>
            <a:ext cx="109728" cy="10972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162763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096A0"/>
                </a:solidFill>
                <a:latin typeface="맑은 고딕"/>
              </a:rPr>
              <a:t>silveryarn.family/photos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0574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0242B"/>
                </a:solidFill>
                <a:latin typeface="맑은 고딕"/>
              </a:rPr>
              <a:t>사진 갤러리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2560320"/>
            <a:ext cx="917448" cy="777240"/>
          </a:xfrm>
          <a:prstGeom prst="rect">
            <a:avLst/>
          </a:prstGeom>
          <a:solidFill>
            <a:srgbClr val="8E9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1972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48216" y="2560320"/>
            <a:ext cx="917448" cy="77724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1985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75392" y="2560320"/>
            <a:ext cx="917448" cy="77724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1998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3447288"/>
            <a:ext cx="917448" cy="7772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2005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48216" y="3447288"/>
            <a:ext cx="917448" cy="777240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2018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75392" y="3447288"/>
            <a:ext cx="917448" cy="777240"/>
          </a:xfrm>
          <a:prstGeom prst="rect">
            <a:avLst/>
          </a:prstGeom>
          <a:solidFill>
            <a:srgbClr val="967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7881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5C6B"/>
                </a:solidFill>
                <a:latin typeface="맑은 고딕"/>
              </a:rPr>
              <a:t>웹 · 사진 갤러리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096A0"/>
                </a:solidFill>
                <a:latin typeface="맑은 고딕"/>
              </a:rPr>
              <a:t>모바일은 하단 탭 없이 대화 하나로 통합(눌러서 시작 또는 실 VAD 자동 감지) · 웹은 Next.js Server Component + Keycloak 세션 기반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보안 · 기술스택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3중 스택 · RBAC · 온프레미스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6부 · 보안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보안 설계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DB 암호화(AES-256) 및 전송구간 암호화(TLS 1.3) — 온디바이스 로컬 캐시도 동일 수준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웹 콘솔 2FA, 역할별 차등 열람 권한(RBAC)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외부 연계 시 PII 마스킹 전처리 + 동의 로그 필수, 미동의 시 전량 온프레미스 경로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Wi-Fi 동기화는 등록된 신뢰 네트워크에서만 — SSID 등은 온디바이스 로컬 전용 저장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Device Owner Mode(COSU) 채택 — 단말 탈취·우회 방지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설치모드 판별 임계값(확정): RAM&lt;6GB 또는 Android≤11 → 키오스크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6부 · 기술스택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기술 스택 요약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976"/>
                <a:gridCol w="4900033"/>
                <a:gridCol w="4160405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스택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모바일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Android 네이티브(Kotlin), Device Owner Mode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 확정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서버 백엔드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Python 3.11+ / FastAPI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 확정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웹 콘솔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Next.js(App Router) + TypeScript + Tailwind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 확정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LLM 추론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자체 호스팅 vLLM · A100 GPU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 확정 — 외부 GPT-4o/Claude 미채택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Vector DB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Qdrant self-hosted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 확정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지식 그래프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Neo4j self-hosted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 확정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RDB / Storage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PostgreSQL+Alembic / 자체 MinIO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 확정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인증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Keycloak SSO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✅ 확정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온디바이스 SLM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Kanana-2, Qwen2.5-0.5B 벤치마크 후보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🔄 실기기 벤치마크 대기(#27)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의사결정 &amp; CTO팀 검토 하이라이트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확정 사항 요약 · 7개 관점 종합판정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7부 · 의사결정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확정된 주요 의사결정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설치모드 임계값: RAM&lt;6GB 또는 Android≤11 → 키오스크 / 구현: Device Owner Mode(COSU)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모바일: Android 네이티브(Kotlin) · 서버: FastAPI · 웹: Next.js · 인증: Keycloak SSO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법무·인프라·경영 미결 14건(Q1~Q6·I1~I5·경영3) 전부 확정 + 구현 완료 (decisions.md #52~#65)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모바일 UI 패러다임 전환 — 하단 탭 제거, '은실이' 대화 화면 하나로 통합 (decisions.md #66~#68)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55C6B"/>
                </a:solidFill>
                <a:latin typeface="맑은 고딕"/>
              </a:rPr>
              <a:t>▪  웹 실 인증 세션 연결 — GET /me 신규, ?userId= 임시 패턴 제거 (decisions.md #69)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남은 유일한 실측 대기 항목: 온디바이스 SLM 모델 선정 — 실기기 벤치마크 필요 (#27/#9/#31)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6723F"/>
                </a:solidFill>
                <a:latin typeface="맑은 고딕"/>
              </a:rPr>
              <a:t>상세 47건 전체 이력은 docs/01-plan/decisions/silveryarn-platform.decisions.md 참조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7부 · CTO팀 검토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CTO팀 검토 — 7개 관점 종합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관점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종합 판정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Enterprise Architect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Go with Conditions — 하이브리드 구조·동기화 계약 정비 후 착수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Infrastructure Architect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Go with Conditions — 온프레미스 GPU 클러스터 구성 확정 필요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Security Architect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Go with Conditions — PII 암호화·동의·보유기간·인가모델 5대 리스크 전부 해소 완료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Frontend Architect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Go with Conditions — WCAG AA 대비비 컬러 토큰 재조정 완료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Backend/API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Go with Conditions — 엔티티↔서비스 소유권 매핑 정비 완료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QA Strategist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Go with Conditions — 실기기 벤치마크 하니스 준비 완료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Product Manager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Go with Conditions — 스코프 우선순위 명확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7개 관점 전원 공통 판정: Go with Conditions — No-go 시사 관점 없음. Blocker 28건 전부 정책 확정 또는 구현 완료(cto-review-2026-09-05.md, 2026-09-05 착수 시점 스냅샷)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7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155C6B"/>
                </a:solidFill>
                <a:latin typeface="맑은 고딕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맑은 고딕"/>
              </a:rPr>
              <a:t>로드맵 &amp; Action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4F0F2"/>
                </a:solidFill>
                <a:latin typeface="맑은 고딕"/>
              </a:rPr>
              <a:t>Phase 1~3 · 파일럿 목표 · 다음 실행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단계별 개발 로드맵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33"/>
                <a:gridCol w="6827332"/>
                <a:gridCol w="256024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Phase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anchor="ctr" marT="50800" marB="50800">
                    <a:solidFill>
                      <a:srgbClr val="2024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Phase 1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온디바이스 오프라인 대화 + 온프레미스 배치 동기화 + 자서전/말벗돌봄/비서 3모드 + 출판 파이프라인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🔄 Do 단계 진행 중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Phase 2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정서 모니터링 파이프라인 활성화(법무 기준 확정 후), 외부 TTS 고급 연계 검토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⏳ 대기</a:t>
                      </a:r>
                    </a:p>
                  </a:txBody>
                  <a:tcPr anchor="ctr" marL="76200" marT="38100" marB="38100">
                    <a:solidFill>
                      <a:srgbClr val="E4F0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Phase 3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외부 클라우드 AI 선택적 연계(Opt-in, DPA 체결 후), 구독·결제 도메인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0242B"/>
                          </a:solidFill>
                          <a:latin typeface="맑은 고딕"/>
                        </a:rPr>
                        <a:t>⏳ 대기</a:t>
                      </a:r>
                    </a:p>
                  </a:txBody>
                  <a:tcPr anchor="ctr" marL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096A0"/>
                </a:solidFill>
                <a:latin typeface="맑은 고딕"/>
              </a:rPr>
              <a:t>3개월 내 소규모 파일럿을 1차 목표로 확정 (decisions.md #63)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8935A"/>
                </a:solidFill>
                <a:latin typeface="맑은 고딕"/>
              </a:rPr>
              <a:t>8부 ·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FFFFFF"/>
                </a:solidFill>
                <a:latin typeface="맑은 고딕"/>
              </a:rPr>
              <a:t>Action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96723F"/>
                </a:solidFill>
                <a:latin typeface="맑은 고딕"/>
              </a:rPr>
              <a:t>▪  온디바이스 SLM 모델 최종 선정 — 실기기 3종(S10급/A35급/S24급) 벤치마크 실행 (#27/#9/#31)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정서 모니터링 알림 임계치·수신대상 — 법무·윤리 검토 완료 후 피처플래그 ON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모바일 사진 화면 신규 — report.md '다음 사이클' 후보로 계속 검토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20242B"/>
                </a:solidFill>
                <a:latin typeface="맑은 고딕"/>
              </a:rPr>
              <a:t>▪  Phase 1~3 정식 예산·인력 — 경영진 최종 승인 대기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96723F"/>
                </a:solidFill>
                <a:latin typeface="맑은 고딕"/>
              </a:rPr>
              <a:t>세부 이력·근거는 docs/04-report/features/silveryarn-platform.report.md 및 decisions.md 참조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6A0"/>
                </a:solidFill>
                <a:latin typeface="맑은 고딕"/>
              </a:rPr>
              <a:t>은빛실타래 · SilverYarn · 설계발표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096A0"/>
                </a:solidFill>
                <a:latin typeface="맑은 고딕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02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89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4F0F2"/>
                </a:solidFill>
                <a:latin typeface="맑은 고딕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096A0"/>
                </a:solidFill>
                <a:latin typeface="맑은 고딕"/>
              </a:rPr>
              <a:t>은빛실타래 (SilverYarn) · NUBiz AX Initiative · 2026년 9월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