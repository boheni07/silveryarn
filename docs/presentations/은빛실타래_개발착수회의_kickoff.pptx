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02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1E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B89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9659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B8935A"/>
                </a:solidFill>
                <a:latin typeface="맑은 고딕"/>
              </a:rPr>
              <a:t>개발팀 착수회의 (Kickoff Meeting)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423160"/>
            <a:ext cx="10058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5400" b="1">
                <a:solidFill>
                  <a:srgbClr val="FFFFFF"/>
                </a:solidFill>
                <a:latin typeface="맑은 고딕"/>
              </a:rPr>
              <a:t>은빛실타래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2461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>
                <a:solidFill>
                  <a:srgbClr val="8E97A6"/>
                </a:solidFill>
                <a:latin typeface="맑은 고딕"/>
              </a:rPr>
              <a:t>SilverYarn — 어르신 자서전 제작 및 AI 말벗돌봄 플랫폼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7947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E4F0F2"/>
                </a:solidFill>
                <a:latin typeface="맑은 고딕"/>
              </a:rPr>
              <a:t>온디바이스(오프라인 우선) × 온프레미스 서버 하이브리드 아키텍처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989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9096A0"/>
                </a:solidFill>
                <a:latin typeface="맑은 고딕"/>
              </a:rPr>
              <a:t>2026년 9월 · NUBiz AX(AI Transformation) Initiative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2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02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858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B8935A"/>
                </a:solidFill>
                <a:latin typeface="맑은 고딕"/>
              </a:rP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FFFFFF"/>
                </a:solidFill>
                <a:latin typeface="맑은 고딕"/>
              </a:rPr>
              <a:t>목차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91153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900" b="0">
                <a:solidFill>
                  <a:srgbClr val="20242B"/>
                </a:solidFill>
                <a:latin typeface="맑은 고딕"/>
              </a:rPr>
              <a:t>▪  1부. 프로젝트 개요 — 배경 · 목적 · 대상 사용자 · 서비스 컨셉</a:t>
            </a:r>
          </a:p>
          <a:p>
            <a:pPr algn="l">
              <a:spcAft>
                <a:spcPts val="1000"/>
              </a:spcAft>
            </a:pPr>
            <a:r>
              <a:rPr sz="1900" b="0">
                <a:solidFill>
                  <a:srgbClr val="20242B"/>
                </a:solidFill>
                <a:latin typeface="맑은 고딕"/>
              </a:rPr>
              <a:t>▪  2부. 시스템 아키텍처 — 하이브리드 구조 · 온디바이스/온프레미스 · 설치모드</a:t>
            </a:r>
          </a:p>
          <a:p>
            <a:pPr algn="l">
              <a:spcAft>
                <a:spcPts val="1000"/>
              </a:spcAft>
            </a:pPr>
            <a:r>
              <a:rPr sz="1900" b="0">
                <a:solidFill>
                  <a:srgbClr val="20242B"/>
                </a:solidFill>
                <a:latin typeface="맑은 고딕"/>
              </a:rPr>
              <a:t>▪  3부. 핵심 기능 파이프라인 — 사진회고 · RAG · 정서모니터링 · 출판 · 온보딩</a:t>
            </a:r>
          </a:p>
          <a:p>
            <a:pPr algn="l">
              <a:spcAft>
                <a:spcPts val="1000"/>
              </a:spcAft>
            </a:pPr>
            <a:r>
              <a:rPr sz="1900" b="0">
                <a:solidFill>
                  <a:srgbClr val="20242B"/>
                </a:solidFill>
                <a:latin typeface="맑은 고딕"/>
              </a:rPr>
              <a:t>▪  4부. 데이터 모델 &amp; API 설계</a:t>
            </a:r>
          </a:p>
          <a:p>
            <a:pPr algn="l">
              <a:spcAft>
                <a:spcPts val="1000"/>
              </a:spcAft>
            </a:pPr>
            <a:r>
              <a:rPr sz="1900" b="0">
                <a:solidFill>
                  <a:srgbClr val="20242B"/>
                </a:solidFill>
                <a:latin typeface="맑은 고딕"/>
              </a:rPr>
              <a:t>▪  5부. UI/UX &amp; 디자인 시스템</a:t>
            </a:r>
          </a:p>
          <a:p>
            <a:pPr algn="l">
              <a:spcAft>
                <a:spcPts val="1000"/>
              </a:spcAft>
            </a:pPr>
            <a:r>
              <a:rPr sz="1900" b="0">
                <a:solidFill>
                  <a:srgbClr val="20242B"/>
                </a:solidFill>
                <a:latin typeface="맑은 고딕"/>
              </a:rPr>
              <a:t>▪  6부. 보안 · 컨벤션 · 기술스택</a:t>
            </a:r>
          </a:p>
          <a:p>
            <a:pPr algn="l">
              <a:spcAft>
                <a:spcPts val="1000"/>
              </a:spcAft>
            </a:pPr>
            <a:r>
              <a:rPr sz="1900" b="0">
                <a:solidFill>
                  <a:srgbClr val="20242B"/>
                </a:solidFill>
                <a:latin typeface="맑은 고딕"/>
              </a:rPr>
              <a:t>▪  7부. 의사결정 현황 &amp; 설계 검증 결과 (design-validator)</a:t>
            </a:r>
          </a:p>
          <a:p>
            <a:pPr algn="l">
              <a:spcAft>
                <a:spcPts val="1000"/>
              </a:spcAft>
            </a:pPr>
            <a:r>
              <a:rPr sz="1900" b="0">
                <a:solidFill>
                  <a:srgbClr val="20242B"/>
                </a:solidFill>
                <a:latin typeface="맑은 고딕"/>
              </a:rPr>
              <a:t>▪  8부. CTO팀 검토 의견</a:t>
            </a:r>
          </a:p>
          <a:p>
            <a:pPr algn="l">
              <a:spcAft>
                <a:spcPts val="1000"/>
              </a:spcAft>
            </a:pPr>
            <a:r>
              <a:rPr sz="1900" b="0">
                <a:solidFill>
                  <a:srgbClr val="20242B"/>
                </a:solidFill>
                <a:latin typeface="맑은 고딕"/>
              </a:rPr>
              <a:t>▪  9부. 로드맵 &amp; 착수 실행 계획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9096A0"/>
                </a:solidFill>
                <a:latin typeface="맑은 고딕"/>
              </a:rPr>
              <a:t>은빛실타래 · SilverYarn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096A0"/>
                </a:solidFill>
                <a:latin typeface="맑은 고딕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7A8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468880"/>
            <a:ext cx="3657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6000" b="1">
                <a:solidFill>
                  <a:srgbClr val="155C6B"/>
                </a:solidFill>
                <a:latin typeface="맑은 고딕"/>
              </a:rP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3832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1">
                <a:solidFill>
                  <a:srgbClr val="FFFFFF"/>
                </a:solidFill>
                <a:latin typeface="맑은 고딕"/>
              </a:rPr>
              <a:t>프로젝트 개요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E4F0F2"/>
                </a:solidFill>
                <a:latin typeface="맑은 고딕"/>
              </a:rPr>
              <a:t>배경 · 목적 · 대상 사용자 · 서비스 컨셉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9096A0"/>
                </a:solidFill>
                <a:latin typeface="맑은 고딕"/>
              </a:rPr>
              <a:t>은빛실타래 · SilverYarn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096A0"/>
                </a:solidFill>
                <a:latin typeface="맑은 고딕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2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02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858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B8935A"/>
                </a:solidFill>
                <a:latin typeface="맑은 고딕"/>
              </a:rPr>
              <a:t>1부 · 개요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FFFFFF"/>
                </a:solidFill>
                <a:latin typeface="맑은 고딕"/>
              </a:rPr>
              <a:t>Executive Summary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325880"/>
          <a:ext cx="11094415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8883"/>
                <a:gridCol w="8875532"/>
              </a:tblGrid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</a:rPr>
                        <a:t>관점</a:t>
                      </a:r>
                    </a:p>
                  </a:txBody>
                  <a:tcPr anchor="ctr" marT="50800" marB="50800">
                    <a:solidFill>
                      <a:srgbClr val="2024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</a:rPr>
                        <a:t>내용</a:t>
                      </a:r>
                    </a:p>
                  </a:txBody>
                  <a:tcPr anchor="ctr" marT="50800" marB="50800">
                    <a:solidFill>
                      <a:srgbClr val="20242B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20242B"/>
                          </a:solidFill>
                          <a:latin typeface="맑은 고딕"/>
                        </a:rPr>
                        <a:t>Problem</a:t>
                      </a:r>
                    </a:p>
                  </a:txBody>
                  <a:tcPr anchor="ctr" marL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20242B"/>
                          </a:solidFill>
                          <a:latin typeface="맑은 고딕"/>
                        </a:rPr>
                        <a:t>고령화로 어르신 삶의 기록이 소실되고, 독거·정서적 고립으로 돌봄 공백 확대. 저사양/재활용 단말·비상시 인터넷 환경 고려 필요</a:t>
                      </a:r>
                    </a:p>
                  </a:txBody>
                  <a:tcPr anchor="ctr" marL="76200" marT="38100" marB="381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20242B"/>
                          </a:solidFill>
                          <a:latin typeface="맑은 고딕"/>
                        </a:rPr>
                        <a:t>Solution</a:t>
                      </a:r>
                    </a:p>
                  </a:txBody>
                  <a:tcPr anchor="ctr" marL="76200" marT="38100" marB="38100">
                    <a:solidFill>
                      <a:srgbClr val="E4F0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20242B"/>
                          </a:solidFill>
                          <a:latin typeface="맑은 고딕"/>
                        </a:rPr>
                        <a:t>온디바이스 STT/SLM/TTS로 평소 대화를 오프라인 완결, 등록 Wi-Fi 접속 시에만 온프레미스 서버(LLM·RAG·VectorDB)와 배치 동기화</a:t>
                      </a:r>
                    </a:p>
                  </a:txBody>
                  <a:tcPr anchor="ctr" marL="76200" marT="38100" marB="38100">
                    <a:solidFill>
                      <a:srgbClr val="E4F0F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20242B"/>
                          </a:solidFill>
                          <a:latin typeface="맑은 고딕"/>
                        </a:rPr>
                        <a:t>Function/UX Effect</a:t>
                      </a:r>
                    </a:p>
                  </a:txBody>
                  <a:tcPr anchor="ctr" marL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20242B"/>
                          </a:solidFill>
                          <a:latin typeface="맑은 고딕"/>
                        </a:rPr>
                        <a:t>끊김 없는 대화 경험, 사진 기반 자동 회고로 자연스러운 콘텐츠 축적, 단말 사양별 키오스크/일반 자동 설치</a:t>
                      </a:r>
                    </a:p>
                  </a:txBody>
                  <a:tcPr anchor="ctr" marL="76200" marT="38100" marB="381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20242B"/>
                          </a:solidFill>
                          <a:latin typeface="맑은 고딕"/>
                        </a:rPr>
                        <a:t>Core Value</a:t>
                      </a:r>
                    </a:p>
                  </a:txBody>
                  <a:tcPr anchor="ctr" marL="76200" marT="38100" marB="38100">
                    <a:solidFill>
                      <a:srgbClr val="E4F0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20242B"/>
                          </a:solidFill>
                          <a:latin typeface="맑은 고딕"/>
                        </a:rPr>
                        <a:t>자서전 제작(입구)→말벗돌봄·비서(체류)로 이어지는 락인 라이프사이클, 초개인화 대화로 범용 챗봇 대비 높은 몰입도</a:t>
                      </a:r>
                    </a:p>
                  </a:txBody>
                  <a:tcPr anchor="ctr" marL="76200" marT="38100" marB="38100">
                    <a:solidFill>
                      <a:srgbClr val="E4F0F2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9096A0"/>
                </a:solidFill>
                <a:latin typeface="맑은 고딕"/>
              </a:rPr>
              <a:t>은빛실타래 · SilverYarn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096A0"/>
                </a:solidFill>
                <a:latin typeface="맑은 고딕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2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02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858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B8935A"/>
                </a:solidFill>
                <a:latin typeface="맑은 고딕"/>
              </a:rPr>
              <a:t>1부 · 개요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FFFFFF"/>
                </a:solidFill>
                <a:latin typeface="맑은 고딕"/>
              </a:rPr>
              <a:t>프로젝트 배경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91153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900" b="0">
                <a:solidFill>
                  <a:srgbClr val="20242B"/>
                </a:solidFill>
                <a:latin typeface="맑은 고딕"/>
              </a:rPr>
              <a:t>▪  고령화 심화로 어르신 삶의 기록이 보존되지 못한 채 소실되는 경우 증가</a:t>
            </a:r>
          </a:p>
          <a:p>
            <a:pPr algn="l">
              <a:spcAft>
                <a:spcPts val="1000"/>
              </a:spcAft>
            </a:pPr>
            <a:r>
              <a:rPr sz="1900" b="0">
                <a:solidFill>
                  <a:srgbClr val="20242B"/>
                </a:solidFill>
                <a:latin typeface="맑은 고딕"/>
              </a:rPr>
              <a:t>▪  독거 및 정서적 고립으로 인한 돌봄 공백 문제 심화</a:t>
            </a:r>
          </a:p>
          <a:p>
            <a:pPr algn="l">
              <a:spcAft>
                <a:spcPts val="1000"/>
              </a:spcAft>
            </a:pPr>
            <a:r>
              <a:rPr sz="1900" b="0">
                <a:solidFill>
                  <a:srgbClr val="20242B"/>
                </a:solidFill>
                <a:latin typeface="맑은 고딕"/>
              </a:rPr>
              <a:t>▪  재활용 스마트폰 등 저비용 단말 활용한 시니어 접근성 개선 요구 증가</a:t>
            </a:r>
          </a:p>
          <a:p>
            <a:pPr algn="l">
              <a:spcAft>
                <a:spcPts val="1000"/>
              </a:spcAft>
            </a:pPr>
            <a:r>
              <a:rPr sz="1900" b="0">
                <a:solidFill>
                  <a:srgbClr val="20242B"/>
                </a:solidFill>
                <a:latin typeface="맑은 고딕"/>
              </a:rPr>
              <a:t>▪  재활용·저사양 단말과 고사양 개인 단말은 하드웨어·사용맥락이 달라 설치방식 자동 분기 구조 필요</a:t>
            </a:r>
          </a:p>
          <a:p>
            <a:pPr algn="l">
              <a:spcAft>
                <a:spcPts val="1000"/>
              </a:spcAft>
            </a:pPr>
            <a:r>
              <a:rPr sz="1900" b="0">
                <a:solidFill>
                  <a:srgbClr val="20242B"/>
                </a:solidFill>
                <a:latin typeface="맑은 고딕"/>
              </a:rPr>
              <a:t>▪  시니어 생활 환경상 상시 인터넷 연결 기대 어려움 → 오프라인 완결 + 자택 등 Wi-Fi 동기화 구조 요구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9096A0"/>
                </a:solidFill>
                <a:latin typeface="맑은 고딕"/>
              </a:rPr>
              <a:t>은빛실타래 · SilverYarn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096A0"/>
                </a:solidFill>
                <a:latin typeface="맑은 고딕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2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02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858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B8935A"/>
                </a:solidFill>
                <a:latin typeface="맑은 고딕"/>
              </a:rPr>
              <a:t>1부 · 개요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FFFFFF"/>
                </a:solidFill>
                <a:latin typeface="맑은 고딕"/>
              </a:rPr>
              <a:t>프로젝트 목적 &amp; 핵심 차별점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91153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900" b="0">
                <a:solidFill>
                  <a:srgbClr val="20242B"/>
                </a:solidFill>
                <a:latin typeface="맑은 고딕"/>
              </a:rPr>
              <a:t>▪  목적: 온디바이스 음성 인터페이스(VAD·STT·SLM·TTS) + 중앙 서버 생성형 AI(LLM·RAG·VectorDB) 연계</a:t>
            </a:r>
          </a:p>
          <a:p>
            <a:pPr algn="l">
              <a:spcAft>
                <a:spcPts val="400"/>
              </a:spcAft>
            </a:pPr>
            <a:r>
              <a:t>     -  오프라인 우선(Offline-First): 평상시 대화는 인터넷 연결 없이 온디바이스에서 완결</a:t>
            </a:r>
          </a:p>
          <a:p>
            <a:pPr algn="l">
              <a:spcAft>
                <a:spcPts val="400"/>
              </a:spcAft>
            </a:pPr>
            <a:r>
              <a:t>     -  Wi-Fi 배치 동기화: 등록 Wi-Fi 접속 시에만 서버 고성능 엔진으로 최신화 후 재동기화</a:t>
            </a:r>
          </a:p>
          <a:p>
            <a:pPr algn="l">
              <a:spcAft>
                <a:spcPts val="400"/>
              </a:spcAft>
            </a:pPr>
            <a:r>
              <a:t>     -  사진 기반 자동 회고 트리거: 신규 사진을 AI가 먼저 제시하며 자연스러운 회고 유도</a:t>
            </a:r>
          </a:p>
          <a:p>
            <a:pPr algn="l">
              <a:spcAft>
                <a:spcPts val="400"/>
              </a:spcAft>
            </a:pPr>
            <a:r>
              <a:t>     -  디바이스 사양 기반 설치모드 자동 분기: 저사양은 키오스크, 고사양은 일반 앱 모드</a:t>
            </a:r>
          </a:p>
          <a:p>
            <a:pPr algn="l">
              <a:spcAft>
                <a:spcPts val="400"/>
              </a:spcAft>
            </a:pPr>
            <a:r>
              <a:t>     -  작가 모드 → 말벗돌봄 모드 → 비서 모드로 이어지는 3단계 라이프사이클 통합 제공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9096A0"/>
                </a:solidFill>
                <a:latin typeface="맑은 고딕"/>
              </a:rPr>
              <a:t>은빛실타래 · SilverYarn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096A0"/>
                </a:solidFill>
                <a:latin typeface="맑은 고딕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2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02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858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B8935A"/>
                </a:solidFill>
                <a:latin typeface="맑은 고딕"/>
              </a:rPr>
              <a:t>1부 · 개요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FFFFFF"/>
                </a:solidFill>
                <a:latin typeface="맑은 고딕"/>
              </a:rPr>
              <a:t>대상 사용자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325880"/>
          <a:ext cx="11094414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73603"/>
                <a:gridCol w="8320811"/>
              </a:tblGrid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</a:rPr>
                        <a:t>구분</a:t>
                      </a:r>
                    </a:p>
                  </a:txBody>
                  <a:tcPr anchor="ctr" marT="50800" marB="50800">
                    <a:solidFill>
                      <a:srgbClr val="2024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</a:rPr>
                        <a:t>설명</a:t>
                      </a:r>
                    </a:p>
                  </a:txBody>
                  <a:tcPr anchor="ctr" marT="50800" marB="50800">
                    <a:solidFill>
                      <a:srgbClr val="20242B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20242B"/>
                          </a:solidFill>
                          <a:latin typeface="맑은 고딕"/>
                        </a:rPr>
                        <a:t>1차 사용자</a:t>
                      </a:r>
                    </a:p>
                  </a:txBody>
                  <a:tcPr anchor="ctr" marL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20242B"/>
                          </a:solidFill>
                          <a:latin typeface="맑은 고딕"/>
                        </a:rPr>
                        <a:t>구술의 주체가 되는 어르신 본인</a:t>
                      </a:r>
                    </a:p>
                  </a:txBody>
                  <a:tcPr anchor="ctr" marL="76200" marT="38100" marB="381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20242B"/>
                          </a:solidFill>
                          <a:latin typeface="맑은 고딕"/>
                        </a:rPr>
                        <a:t>2차 사용자</a:t>
                      </a:r>
                    </a:p>
                  </a:txBody>
                  <a:tcPr anchor="ctr" marL="76200" marT="38100" marB="38100">
                    <a:solidFill>
                      <a:srgbClr val="E4F0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20242B"/>
                          </a:solidFill>
                          <a:latin typeface="맑은 고딕"/>
                        </a:rPr>
                        <a:t>자서전을 감수·열람하는 가족, 돌봄 연계가 필요한 요양보호사·복지사</a:t>
                      </a:r>
                    </a:p>
                  </a:txBody>
                  <a:tcPr anchor="ctr" marL="76200" marT="38100" marB="38100">
                    <a:solidFill>
                      <a:srgbClr val="E4F0F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20242B"/>
                          </a:solidFill>
                          <a:latin typeface="맑은 고딕"/>
                        </a:rPr>
                        <a:t>잠재 고객</a:t>
                      </a:r>
                    </a:p>
                  </a:txBody>
                  <a:tcPr anchor="ctr" marL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20242B"/>
                          </a:solidFill>
                          <a:latin typeface="맑은 고딕"/>
                        </a:rPr>
                        <a:t>복지관·요양기관·지자체 등 B2G/B2B 파일럿 운영 주체 (채널 전략: B2C/B2G 병행 추진 확정)</a:t>
                      </a:r>
                    </a:p>
                  </a:txBody>
                  <a:tcPr anchor="ctr" marL="76200" marT="38100" marB="381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9096A0"/>
                </a:solidFill>
                <a:latin typeface="맑은 고딕"/>
              </a:rPr>
              <a:t>은빛실타래 · SilverYarn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096A0"/>
                </a:solidFill>
                <a:latin typeface="맑은 고딕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2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02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858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B8935A"/>
                </a:solidFill>
                <a:latin typeface="맑은 고딕"/>
              </a:rPr>
              <a:t>1부 · 개요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FFFFFF"/>
                </a:solidFill>
                <a:latin typeface="맑은 고딕"/>
              </a:rPr>
              <a:t>서비스 컨셉 — 3대 운영 모드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325880"/>
          <a:ext cx="11094414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249"/>
                <a:gridCol w="3413666"/>
                <a:gridCol w="5120499"/>
              </a:tblGrid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</a:rPr>
                        <a:t>모드</a:t>
                      </a:r>
                    </a:p>
                  </a:txBody>
                  <a:tcPr anchor="ctr" marT="50800" marB="50800">
                    <a:solidFill>
                      <a:srgbClr val="2024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</a:rPr>
                        <a:t>목표</a:t>
                      </a:r>
                    </a:p>
                  </a:txBody>
                  <a:tcPr anchor="ctr" marT="50800" marB="50800">
                    <a:solidFill>
                      <a:srgbClr val="2024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</a:rPr>
                        <a:t>주요 기능</a:t>
                      </a:r>
                    </a:p>
                  </a:txBody>
                  <a:tcPr anchor="ctr" marT="50800" marB="50800">
                    <a:solidFill>
                      <a:srgbClr val="20242B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20242B"/>
                          </a:solidFill>
                          <a:latin typeface="맑은 고딕"/>
                        </a:rPr>
                        <a:t>① 자서전 작가 모드</a:t>
                      </a:r>
                    </a:p>
                  </a:txBody>
                  <a:tcPr anchor="ctr" marL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20242B"/>
                          </a:solidFill>
                          <a:latin typeface="맑은 고딕"/>
                        </a:rPr>
                        <a:t>연대기적 구술 발굴 및 문학적 초안 생성</a:t>
                      </a:r>
                    </a:p>
                  </a:txBody>
                  <a:tcPr anchor="ctr" marL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20242B"/>
                          </a:solidFill>
                          <a:latin typeface="맑은 고딕"/>
                        </a:rPr>
                        <a:t>질문 생성기 · 사진 기반 회고 질문 · 심층 인터뷰잉 · 구술체→문어체 정제·챕터 자동귀속</a:t>
                      </a:r>
                    </a:p>
                  </a:txBody>
                  <a:tcPr anchor="ctr" marL="76200" marT="38100" marB="381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20242B"/>
                          </a:solidFill>
                          <a:latin typeface="맑은 고딕"/>
                        </a:rPr>
                        <a:t>② 말벗돌봄 모드</a:t>
                      </a:r>
                    </a:p>
                  </a:txBody>
                  <a:tcPr anchor="ctr" marL="76200" marT="38100" marB="38100">
                    <a:solidFill>
                      <a:srgbClr val="E4F0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20242B"/>
                          </a:solidFill>
                          <a:latin typeface="맑은 고딕"/>
                        </a:rPr>
                        <a:t>초개인화 공감 대화 및 고독감 해소</a:t>
                      </a:r>
                    </a:p>
                  </a:txBody>
                  <a:tcPr anchor="ctr" marL="76200" marT="38100" marB="38100">
                    <a:solidFill>
                      <a:srgbClr val="E4F0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20242B"/>
                          </a:solidFill>
                          <a:latin typeface="맑은 고딕"/>
                        </a:rPr>
                        <a:t>RAG 기반 추억 회상 · 사진 기반 회고 대화 · 정서 모니터링 및 알림 연동</a:t>
                      </a:r>
                    </a:p>
                  </a:txBody>
                  <a:tcPr anchor="ctr" marL="76200" marT="38100" marB="38100">
                    <a:solidFill>
                      <a:srgbClr val="E4F0F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20242B"/>
                          </a:solidFill>
                          <a:latin typeface="맑은 고딕"/>
                        </a:rPr>
                        <a:t>③ 비서 모드</a:t>
                      </a:r>
                    </a:p>
                  </a:txBody>
                  <a:tcPr anchor="ctr" marL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20242B"/>
                          </a:solidFill>
                          <a:latin typeface="맑은 고딕"/>
                        </a:rPr>
                        <a:t>인지 기능 보조 및 일상 건강·일정 관리</a:t>
                      </a:r>
                    </a:p>
                  </a:txBody>
                  <a:tcPr anchor="ctr" marL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20242B"/>
                          </a:solidFill>
                          <a:latin typeface="맑은 고딕"/>
                        </a:rPr>
                        <a:t>일정·복약 엔티티 추출·등록 · 지정 시각 능동형 음성 브리핑</a:t>
                      </a:r>
                    </a:p>
                  </a:txBody>
                  <a:tcPr anchor="ctr" marL="76200" marT="38100" marB="381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6080760"/>
            <a:ext cx="110944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9096A0"/>
                </a:solidFill>
                <a:latin typeface="맑은 고딕"/>
              </a:rPr>
              <a:t>세 모드는 상호 배타적이지 않으며 의도 분류(Intent Classification)로 하나의 대화 흐름 안에서 전환됨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9096A0"/>
                </a:solidFill>
                <a:latin typeface="맑은 고딕"/>
              </a:rPr>
              <a:t>은빛실타래 · SilverYarn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096A0"/>
                </a:solidFill>
                <a:latin typeface="맑은 고딕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2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02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858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B8935A"/>
                </a:solidFill>
                <a:latin typeface="맑은 고딕"/>
              </a:rPr>
              <a:t>1부 · 개요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FFFFFF"/>
                </a:solidFill>
                <a:latin typeface="맑은 고딕"/>
              </a:rPr>
              <a:t>에이전트 페르소나 정의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91153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900" b="0">
                <a:solidFill>
                  <a:srgbClr val="20242B"/>
                </a:solidFill>
                <a:latin typeface="맑은 고딕"/>
              </a:rPr>
              <a:t>▪  AuthorAgent — 경청하는 인터뷰어 페르소나 (표시명 미정, 은빛이와 통일 여부 결정 필요)</a:t>
            </a:r>
          </a:p>
          <a:p>
            <a:pPr algn="l">
              <a:spcAft>
                <a:spcPts val="1000"/>
              </a:spcAft>
            </a:pPr>
            <a:r>
              <a:rPr sz="1900" b="0">
                <a:solidFill>
                  <a:srgbClr val="20242B"/>
                </a:solidFill>
                <a:latin typeface="맑은 고딕"/>
              </a:rPr>
              <a:t>▪  CareAgent — 사용자의 일생을 아는 친근한 오랜 벗 페르소나</a:t>
            </a:r>
          </a:p>
          <a:p>
            <a:pPr algn="l">
              <a:spcAft>
                <a:spcPts val="400"/>
              </a:spcAft>
            </a:pPr>
            <a:r>
              <a:t>     -  표시명 확정: '은빛이' (UI/UX 화면설계서 확정)</a:t>
            </a:r>
          </a:p>
          <a:p>
            <a:pPr algn="l">
              <a:spcAft>
                <a:spcPts val="1000"/>
              </a:spcAft>
            </a:pPr>
            <a:r>
              <a:rPr sz="1900" b="0">
                <a:solidFill>
                  <a:srgbClr val="20242B"/>
                </a:solidFill>
                <a:latin typeface="맑은 고딕"/>
              </a:rPr>
              <a:t>▪  ScheduleAgent — 정확한 확인형 비서 페르소나 (표시명 미정)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806440"/>
            <a:ext cx="1091153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96723F"/>
                </a:solidFill>
                <a:latin typeface="맑은 고딕"/>
              </a:rPr>
              <a:t>Design 문서 §2.10 — 페르소나 명칭 통일은 Do 단계 전 확정 권장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9096A0"/>
                </a:solidFill>
                <a:latin typeface="맑은 고딕"/>
              </a:rPr>
              <a:t>은빛실타래 · SilverYarn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096A0"/>
                </a:solidFill>
                <a:latin typeface="맑은 고딕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7A8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468880"/>
            <a:ext cx="3657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6000" b="1">
                <a:solidFill>
                  <a:srgbClr val="155C6B"/>
                </a:solidFill>
                <a:latin typeface="맑은 고딕"/>
              </a:rP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3832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1">
                <a:solidFill>
                  <a:srgbClr val="FFFFFF"/>
                </a:solidFill>
                <a:latin typeface="맑은 고딕"/>
              </a:rPr>
              <a:t>시스템 아키텍처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E4F0F2"/>
                </a:solidFill>
                <a:latin typeface="맑은 고딕"/>
              </a:rPr>
              <a:t>온디바이스-온프레미스 하이브리드 구조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9096A0"/>
                </a:solidFill>
                <a:latin typeface="맑은 고딕"/>
              </a:rPr>
              <a:t>은빛실타래 · SilverYarn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096A0"/>
                </a:solidFill>
                <a:latin typeface="맑은 고딕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2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02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858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B8935A"/>
                </a:solidFill>
                <a:latin typeface="맑은 고딕"/>
              </a:rPr>
              <a:t>2부 · 아키텍처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FFFFFF"/>
                </a:solidFill>
                <a:latin typeface="맑은 고딕"/>
              </a:rPr>
              <a:t>데이터·운영 4원칙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91153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900" b="0">
                <a:solidFill>
                  <a:srgbClr val="20242B"/>
                </a:solidFill>
                <a:latin typeface="맑은 고딕"/>
              </a:rPr>
              <a:t>▪  원칙 1 (오프라인 우선): 평상시 대화는 인터넷 연결 없이 온디바이스에서 완결, 서버 동기화는 등록 Wi-Fi 접속 시에만</a:t>
            </a:r>
          </a:p>
          <a:p>
            <a:pPr algn="l">
              <a:spcAft>
                <a:spcPts val="1000"/>
              </a:spcAft>
            </a:pPr>
            <a:r>
              <a:rPr sz="1900" b="0">
                <a:solidFill>
                  <a:srgbClr val="20242B"/>
                </a:solidFill>
                <a:latin typeface="맑은 고딕"/>
              </a:rPr>
              <a:t>▪  원칙 2 (전면 온프레미스): 원본 음성·자서전 원고·임베딩 벡터 등 PII 포함 데이터는 100% 자체 GPU 서버(vLLM·A100)·자체 DB에서만 처리</a:t>
            </a:r>
          </a:p>
          <a:p>
            <a:pPr algn="l">
              <a:spcAft>
                <a:spcPts val="1000"/>
              </a:spcAft>
            </a:pPr>
            <a:r>
              <a:rPr sz="1900" b="0">
                <a:solidFill>
                  <a:srgbClr val="20242B"/>
                </a:solidFill>
                <a:latin typeface="맑은 고딕"/>
              </a:rPr>
              <a:t>▪  원칙 3 (제한적·선택적 외부 연계): 외부 클라우드 AI는 비식별화 데이터에 한해, 사용자 명시적 동의(Opt-in) 하에만 연계</a:t>
            </a:r>
          </a:p>
          <a:p>
            <a:pPr algn="l">
              <a:spcAft>
                <a:spcPts val="1000"/>
              </a:spcAft>
            </a:pPr>
            <a:r>
              <a:rPr sz="1900" b="0">
                <a:solidFill>
                  <a:srgbClr val="20242B"/>
                </a:solidFill>
                <a:latin typeface="맑은 고딕"/>
              </a:rPr>
              <a:t>▪  원칙 4 (계약적 통제): 외부 연계 범위는 DPA 체결 및 내부 보안 검토를 통과한 항목으로 한정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806440"/>
            <a:ext cx="1091153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96723F"/>
                </a:solidFill>
                <a:latin typeface="맑은 고딕"/>
              </a:rPr>
              <a:t>Zero External Data Egress — bkit Enterprise 기본 AWS 템플릿은 적용하지 않음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9096A0"/>
                </a:solidFill>
                <a:latin typeface="맑은 고딕"/>
              </a:rPr>
              <a:t>은빛실타래 · SilverYarn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096A0"/>
                </a:solidFill>
                <a:latin typeface="맑은 고딕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2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02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858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B8935A"/>
                </a:solidFill>
                <a:latin typeface="맑은 고딕"/>
              </a:rPr>
              <a:t>2부 · 아키텍처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FFFFFF"/>
                </a:solidFill>
                <a:latin typeface="맑은 고딕"/>
              </a:rPr>
              <a:t>아키텍처 옵션 비교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325880"/>
          <a:ext cx="11094413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8883"/>
                <a:gridCol w="2662659"/>
                <a:gridCol w="3550212"/>
                <a:gridCol w="2662659"/>
              </a:tblGrid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</a:rPr>
                        <a:t>기준</a:t>
                      </a:r>
                    </a:p>
                  </a:txBody>
                  <a:tcPr anchor="ctr" marT="50800" marB="50800">
                    <a:solidFill>
                      <a:srgbClr val="2024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</a:rPr>
                        <a:t>A. 완전 클라우드</a:t>
                      </a:r>
                    </a:p>
                  </a:txBody>
                  <a:tcPr anchor="ctr" marT="50800" marB="50800">
                    <a:solidFill>
                      <a:srgbClr val="2024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</a:rPr>
                        <a:t>B. 하이브리드 (선정)</a:t>
                      </a:r>
                    </a:p>
                  </a:txBody>
                  <a:tcPr anchor="ctr" marT="50800" marB="50800">
                    <a:solidFill>
                      <a:srgbClr val="2024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</a:rPr>
                        <a:t>C. 완전 온디바이스</a:t>
                      </a:r>
                    </a:p>
                  </a:txBody>
                  <a:tcPr anchor="ctr" marT="50800" marB="50800">
                    <a:solidFill>
                      <a:srgbClr val="20242B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20242B"/>
                          </a:solidFill>
                          <a:latin typeface="맑은 고딕"/>
                        </a:rPr>
                        <a:t>오프라인 대응</a:t>
                      </a:r>
                    </a:p>
                  </a:txBody>
                  <a:tcPr anchor="ctr" marL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20242B"/>
                          </a:solidFill>
                          <a:latin typeface="맑은 고딕"/>
                        </a:rPr>
                        <a:t>불가</a:t>
                      </a:r>
                    </a:p>
                  </a:txBody>
                  <a:tcPr anchor="ctr" marL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20242B"/>
                          </a:solidFill>
                          <a:latin typeface="맑은 고딕"/>
                        </a:rPr>
                        <a:t>가능 (평소 대화 전량 오프라인)</a:t>
                      </a:r>
                    </a:p>
                  </a:txBody>
                  <a:tcPr anchor="ctr" marL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20242B"/>
                          </a:solidFill>
                          <a:latin typeface="맑은 고딕"/>
                        </a:rPr>
                        <a:t>가능하나 정교화 불가</a:t>
                      </a:r>
                    </a:p>
                  </a:txBody>
                  <a:tcPr anchor="ctr" marL="76200" marT="38100" marB="381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20242B"/>
                          </a:solidFill>
                          <a:latin typeface="맑은 고딕"/>
                        </a:rPr>
                        <a:t>데이터 주권</a:t>
                      </a:r>
                    </a:p>
                  </a:txBody>
                  <a:tcPr anchor="ctr" marL="76200" marT="38100" marB="38100">
                    <a:solidFill>
                      <a:srgbClr val="E4F0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20242B"/>
                          </a:solidFill>
                          <a:latin typeface="맑은 고딕"/>
                        </a:rPr>
                        <a:t>취약(상시 전송)</a:t>
                      </a:r>
                    </a:p>
                  </a:txBody>
                  <a:tcPr anchor="ctr" marL="76200" marT="38100" marB="38100">
                    <a:solidFill>
                      <a:srgbClr val="E4F0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20242B"/>
                          </a:solidFill>
                          <a:latin typeface="맑은 고딕"/>
                        </a:rPr>
                        <a:t>강함(PII 전량 온프레미스)</a:t>
                      </a:r>
                    </a:p>
                  </a:txBody>
                  <a:tcPr anchor="ctr" marL="76200" marT="38100" marB="38100">
                    <a:solidFill>
                      <a:srgbClr val="E4F0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20242B"/>
                          </a:solidFill>
                          <a:latin typeface="맑은 고딕"/>
                        </a:rPr>
                        <a:t>강함(단, 협업·감수 불가)</a:t>
                      </a:r>
                    </a:p>
                  </a:txBody>
                  <a:tcPr anchor="ctr" marL="76200" marT="38100" marB="38100">
                    <a:solidFill>
                      <a:srgbClr val="E4F0F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20242B"/>
                          </a:solidFill>
                          <a:latin typeface="맑은 고딕"/>
                        </a:rPr>
                        <a:t>정확도/개인화</a:t>
                      </a:r>
                    </a:p>
                  </a:txBody>
                  <a:tcPr anchor="ctr" marL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20242B"/>
                          </a:solidFill>
                          <a:latin typeface="맑은 고딕"/>
                        </a:rPr>
                        <a:t>높음(상시 최신)</a:t>
                      </a:r>
                    </a:p>
                  </a:txBody>
                  <a:tcPr anchor="ctr" marL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20242B"/>
                          </a:solidFill>
                          <a:latin typeface="맑은 고딕"/>
                        </a:rPr>
                        <a:t>높음(Wi-Fi 동기화 시 정교화)</a:t>
                      </a:r>
                    </a:p>
                  </a:txBody>
                  <a:tcPr anchor="ctr" marL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20242B"/>
                          </a:solidFill>
                          <a:latin typeface="맑은 고딕"/>
                        </a:rPr>
                        <a:t>낮음(저사양 SLM 한계)</a:t>
                      </a:r>
                    </a:p>
                  </a:txBody>
                  <a:tcPr anchor="ctr" marL="76200" marT="38100" marB="381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20242B"/>
                          </a:solidFill>
                          <a:latin typeface="맑은 고딕"/>
                        </a:rPr>
                        <a:t>가족 협업(웹콘솔)</a:t>
                      </a:r>
                    </a:p>
                  </a:txBody>
                  <a:tcPr anchor="ctr" marL="76200" marT="38100" marB="38100">
                    <a:solidFill>
                      <a:srgbClr val="E4F0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20242B"/>
                          </a:solidFill>
                          <a:latin typeface="맑은 고딕"/>
                        </a:rPr>
                        <a:t>가능</a:t>
                      </a:r>
                    </a:p>
                  </a:txBody>
                  <a:tcPr anchor="ctr" marL="76200" marT="38100" marB="38100">
                    <a:solidFill>
                      <a:srgbClr val="E4F0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20242B"/>
                          </a:solidFill>
                          <a:latin typeface="맑은 고딕"/>
                        </a:rPr>
                        <a:t>가능</a:t>
                      </a:r>
                    </a:p>
                  </a:txBody>
                  <a:tcPr anchor="ctr" marL="76200" marT="38100" marB="38100">
                    <a:solidFill>
                      <a:srgbClr val="E4F0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20242B"/>
                          </a:solidFill>
                          <a:latin typeface="맑은 고딕"/>
                        </a:rPr>
                        <a:t>불가</a:t>
                      </a:r>
                    </a:p>
                  </a:txBody>
                  <a:tcPr anchor="ctr" marL="76200" marT="38100" marB="38100">
                    <a:solidFill>
                      <a:srgbClr val="E4F0F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20242B"/>
                          </a:solidFill>
                          <a:latin typeface="맑은 고딕"/>
                        </a:rPr>
                        <a:t>결론</a:t>
                      </a:r>
                    </a:p>
                  </a:txBody>
                  <a:tcPr anchor="ctr" marL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20242B"/>
                          </a:solidFill>
                          <a:latin typeface="맑은 고딕"/>
                        </a:rPr>
                        <a:t>시니어 오프라인 환경 부적합</a:t>
                      </a:r>
                    </a:p>
                  </a:txBody>
                  <a:tcPr anchor="ctr" marL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20242B"/>
                          </a:solidFill>
                          <a:latin typeface="맑은 고딕"/>
                        </a:rPr>
                        <a:t>★ 선정 — 오프라인+데이터주권+협업 모두 충족</a:t>
                      </a:r>
                    </a:p>
                  </a:txBody>
                  <a:tcPr anchor="ctr" marL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20242B"/>
                          </a:solidFill>
                          <a:latin typeface="맑은 고딕"/>
                        </a:rPr>
                        <a:t>협업·정교화 기능 상실</a:t>
                      </a:r>
                    </a:p>
                  </a:txBody>
                  <a:tcPr anchor="ctr" marL="76200" marT="38100" marB="381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9096A0"/>
                </a:solidFill>
                <a:latin typeface="맑은 고딕"/>
              </a:rPr>
              <a:t>은빛실타래 · SilverYarn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096A0"/>
                </a:solidFill>
                <a:latin typeface="맑은 고딕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2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02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858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B8935A"/>
                </a:solidFill>
                <a:latin typeface="맑은 고딕"/>
              </a:rPr>
              <a:t>2부 · 아키텍처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FFFFFF"/>
                </a:solidFill>
                <a:latin typeface="맑은 고딕"/>
              </a:rPr>
              <a:t>전체 컴포넌트 다이어그램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63040"/>
            <a:ext cx="3657600" cy="1737360"/>
          </a:xfrm>
          <a:prstGeom prst="rect">
            <a:avLst/>
          </a:prstGeom>
          <a:solidFill>
            <a:srgbClr val="E4F0F2"/>
          </a:solidFill>
          <a:ln w="12700">
            <a:solidFill>
              <a:srgbClr val="DEDA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20242B"/>
                </a:solidFill>
                <a:latin typeface="맑은 고딕"/>
              </a:rPr>
              <a:t>📱 모바일앱</a:t>
            </a:r>
          </a:p>
          <a:p>
            <a:pPr algn="ctr"/>
            <a:r>
              <a:rPr sz="1300" b="0">
                <a:solidFill>
                  <a:srgbClr val="20242B"/>
                </a:solidFill>
                <a:latin typeface="맑은 고딕"/>
              </a:rPr>
              <a:t>온디바이스 (오프라인 우선)</a:t>
            </a:r>
          </a:p>
          <a:p>
            <a:pPr algn="ctr"/>
            <a:r>
              <a:rPr sz="1300" b="0">
                <a:solidFill>
                  <a:srgbClr val="20242B"/>
                </a:solidFill>
                <a:latin typeface="맑은 고딕"/>
              </a:rPr>
              <a:t>VAD·STT·SLM·TTS</a:t>
            </a:r>
          </a:p>
          <a:p>
            <a:pPr algn="ctr"/>
            <a:r>
              <a:rPr sz="1300" b="0">
                <a:solidFill>
                  <a:srgbClr val="20242B"/>
                </a:solidFill>
                <a:latin typeface="맑은 고딕"/>
              </a:rPr>
              <a:t>로컬캐시(최근5일·자서전·FTS5 RAG)</a:t>
            </a:r>
          </a:p>
        </p:txBody>
      </p:sp>
      <p:sp>
        <p:nvSpPr>
          <p:cNvPr id="6" name="Rectangle 5"/>
          <p:cNvSpPr/>
          <p:nvPr/>
        </p:nvSpPr>
        <p:spPr>
          <a:xfrm>
            <a:off x="4663440" y="1463040"/>
            <a:ext cx="3840480" cy="1737360"/>
          </a:xfrm>
          <a:prstGeom prst="rect">
            <a:avLst/>
          </a:prstGeom>
          <a:solidFill>
            <a:srgbClr val="F4F2EE"/>
          </a:solidFill>
          <a:ln w="12700">
            <a:solidFill>
              <a:srgbClr val="1E7A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20242B"/>
                </a:solidFill>
                <a:latin typeface="맑은 고딕"/>
              </a:rPr>
              <a:t>🖥️ 서버</a:t>
            </a:r>
          </a:p>
          <a:p>
            <a:pPr algn="ctr"/>
            <a:r>
              <a:rPr sz="1200" b="0">
                <a:solidFill>
                  <a:srgbClr val="20242B"/>
                </a:solidFill>
                <a:latin typeface="맑은 고딕"/>
              </a:rPr>
              <a:t>전량 온프레미스 (FastAPI)</a:t>
            </a:r>
          </a:p>
          <a:p>
            <a:pPr algn="ctr"/>
            <a:r>
              <a:rPr sz="1200" b="0">
                <a:solidFill>
                  <a:srgbClr val="20242B"/>
                </a:solidFill>
                <a:latin typeface="맑은 고딕"/>
              </a:rPr>
              <a:t>작가·말벗돌봄·비서 엔진</a:t>
            </a:r>
          </a:p>
          <a:p>
            <a:pPr algn="ctr"/>
            <a:r>
              <a:rPr sz="1200" b="0">
                <a:solidFill>
                  <a:srgbClr val="20242B"/>
                </a:solidFill>
                <a:latin typeface="맑은 고딕"/>
              </a:rPr>
              <a:t>vLLM·A100 · Qdrant · Neo4j · PG · MinIO</a:t>
            </a:r>
          </a:p>
        </p:txBody>
      </p:sp>
      <p:sp>
        <p:nvSpPr>
          <p:cNvPr id="7" name="Rectangle 6"/>
          <p:cNvSpPr/>
          <p:nvPr/>
        </p:nvSpPr>
        <p:spPr>
          <a:xfrm>
            <a:off x="8869680" y="1463040"/>
            <a:ext cx="2651760" cy="1737360"/>
          </a:xfrm>
          <a:prstGeom prst="rect">
            <a:avLst/>
          </a:prstGeom>
          <a:solidFill>
            <a:srgbClr val="ECE8E1"/>
          </a:solidFill>
          <a:ln w="12700">
            <a:solidFill>
              <a:srgbClr val="DEDA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20242B"/>
                </a:solidFill>
                <a:latin typeface="맑은 고딕"/>
              </a:rPr>
              <a:t>🖊️ 웹 콘솔</a:t>
            </a:r>
          </a:p>
          <a:p>
            <a:pPr algn="ctr"/>
            <a:r>
              <a:rPr sz="1300" b="0">
                <a:solidFill>
                  <a:srgbClr val="20242B"/>
                </a:solidFill>
                <a:latin typeface="맑은 고딕"/>
              </a:rPr>
              <a:t>(Next.js)</a:t>
            </a:r>
          </a:p>
          <a:p>
            <a:pPr algn="ctr"/>
            <a:r>
              <a:rPr sz="1300" b="0">
                <a:solidFill>
                  <a:srgbClr val="20242B"/>
                </a:solidFill>
                <a:latin typeface="맑은 고딕"/>
              </a:rPr>
              <a:t>자서전/가족/관리자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566160"/>
            <a:ext cx="3657600" cy="914400"/>
          </a:xfrm>
          <a:prstGeom prst="rect">
            <a:avLst/>
          </a:prstGeom>
          <a:solidFill>
            <a:srgbClr val="F3E9D8"/>
          </a:solidFill>
          <a:ln w="12700">
            <a:solidFill>
              <a:srgbClr val="DEDA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20242B"/>
                </a:solidFill>
                <a:latin typeface="맑은 고딕"/>
              </a:rPr>
              <a:t>Wi-Fi 접속 시</a:t>
            </a:r>
          </a:p>
          <a:p>
            <a:pPr algn="ctr"/>
            <a:r>
              <a:rPr sz="1200" b="0">
                <a:solidFill>
                  <a:srgbClr val="20242B"/>
                </a:solidFill>
                <a:latin typeface="맑은 고딕"/>
              </a:rPr>
              <a:t>자동 업/다운로드</a:t>
            </a:r>
          </a:p>
        </p:txBody>
      </p:sp>
      <p:sp>
        <p:nvSpPr>
          <p:cNvPr id="9" name="Rectangle 8"/>
          <p:cNvSpPr/>
          <p:nvPr/>
        </p:nvSpPr>
        <p:spPr>
          <a:xfrm>
            <a:off x="4663440" y="3566160"/>
            <a:ext cx="3840480" cy="914400"/>
          </a:xfrm>
          <a:prstGeom prst="rect">
            <a:avLst/>
          </a:prstGeom>
          <a:solidFill>
            <a:srgbClr val="F3E9D8"/>
          </a:solidFill>
          <a:ln w="12700">
            <a:solidFill>
              <a:srgbClr val="DEDA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20242B"/>
                </a:solidFill>
                <a:latin typeface="맑은 고딕"/>
              </a:rPr>
              <a:t>인증: Keycloak SSO</a:t>
            </a:r>
          </a:p>
          <a:p>
            <a:pPr algn="ctr"/>
            <a:r>
              <a:rPr sz="1200" b="0">
                <a:solidFill>
                  <a:srgbClr val="20242B"/>
                </a:solidFill>
                <a:latin typeface="맑은 고딕"/>
              </a:rPr>
              <a:t>API: /api/v1, snake_case</a:t>
            </a:r>
          </a:p>
        </p:txBody>
      </p:sp>
      <p:sp>
        <p:nvSpPr>
          <p:cNvPr id="10" name="Rectangle 9"/>
          <p:cNvSpPr/>
          <p:nvPr/>
        </p:nvSpPr>
        <p:spPr>
          <a:xfrm>
            <a:off x="8869680" y="3566160"/>
            <a:ext cx="2651760" cy="914400"/>
          </a:xfrm>
          <a:prstGeom prst="rect">
            <a:avLst/>
          </a:prstGeom>
          <a:solidFill>
            <a:srgbClr val="ECE8E1"/>
          </a:solidFill>
          <a:ln w="12700">
            <a:solidFill>
              <a:srgbClr val="DEDA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20242B"/>
                </a:solidFill>
                <a:latin typeface="맑은 고딕"/>
              </a:rPr>
              <a:t>선택·Opt-in</a:t>
            </a:r>
          </a:p>
          <a:p>
            <a:pPr algn="ctr"/>
            <a:r>
              <a:rPr sz="1100" b="0">
                <a:solidFill>
                  <a:srgbClr val="20242B"/>
                </a:solidFill>
                <a:latin typeface="맑은 고딕"/>
              </a:rPr>
              <a:t>외부 고품질 TTS</a:t>
            </a:r>
          </a:p>
          <a:p>
            <a:pPr algn="ctr"/>
            <a:r>
              <a:rPr sz="1100" b="0">
                <a:solidFill>
                  <a:srgbClr val="20242B"/>
                </a:solidFill>
                <a:latin typeface="맑은 고딕"/>
              </a:rPr>
              <a:t>(Phase 3)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4846320"/>
            <a:ext cx="10881360" cy="822960"/>
          </a:xfrm>
          <a:prstGeom prst="rect">
            <a:avLst/>
          </a:prstGeom>
          <a:solidFill>
            <a:srgbClr val="20242B"/>
          </a:solidFill>
          <a:ln w="12700">
            <a:solidFill>
              <a:srgbClr val="DEDA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핵심 원칙: 오프라인 우선 + 전면 온프레미스(Zero External Data Egress) + 제한적 선택적 외부연계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9096A0"/>
                </a:solidFill>
                <a:latin typeface="맑은 고딕"/>
              </a:rPr>
              <a:t>은빛실타래 · SilverYarn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94415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096A0"/>
                </a:solidFill>
                <a:latin typeface="맑은 고딕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2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02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858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B8935A"/>
                </a:solidFill>
                <a:latin typeface="맑은 고딕"/>
              </a:rPr>
              <a:t>2부 · 아키텍처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FFFFFF"/>
                </a:solidFill>
                <a:latin typeface="맑은 고딕"/>
              </a:rPr>
              <a:t>Closed-Loop Architecture — Edge-Cloud 피드백 루프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34440"/>
            <a:ext cx="11094415" cy="365760"/>
          </a:xfrm>
          <a:prstGeom prst="rect">
            <a:avLst/>
          </a:prstGeom>
          <a:solidFill>
            <a:srgbClr val="1E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34440"/>
            <a:ext cx="1109441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맑은 고딕"/>
              </a:rPr>
              <a:t>📱 EDGE TIER — 온디바이스 (Low-Latency)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783080"/>
            <a:ext cx="1926275" cy="777240"/>
          </a:xfrm>
          <a:prstGeom prst="rect">
            <a:avLst/>
          </a:prstGeom>
          <a:solidFill>
            <a:srgbClr val="E4F0F2"/>
          </a:solidFill>
          <a:ln w="12700">
            <a:solidFill>
              <a:srgbClr val="1E7A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55C6B"/>
                </a:solidFill>
                <a:latin typeface="맑은 고딕"/>
              </a:rPr>
              <a:t>VAD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474915" y="2011680"/>
            <a:ext cx="320040" cy="182880"/>
          </a:xfrm>
          <a:prstGeom prst="rightArrow">
            <a:avLst/>
          </a:prstGeom>
          <a:solidFill>
            <a:srgbClr val="B89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840675" y="1783080"/>
            <a:ext cx="1926275" cy="777240"/>
          </a:xfrm>
          <a:prstGeom prst="rect">
            <a:avLst/>
          </a:prstGeom>
          <a:solidFill>
            <a:srgbClr val="E4F0F2"/>
          </a:solidFill>
          <a:ln w="12700">
            <a:solidFill>
              <a:srgbClr val="1E7A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55C6B"/>
                </a:solidFill>
                <a:latin typeface="맑은 고딕"/>
              </a:rPr>
              <a:t>경량 STT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766950" y="2011680"/>
            <a:ext cx="320040" cy="182880"/>
          </a:xfrm>
          <a:prstGeom prst="rightArrow">
            <a:avLst/>
          </a:prstGeom>
          <a:solidFill>
            <a:srgbClr val="B89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132710" y="1783080"/>
            <a:ext cx="1926275" cy="777240"/>
          </a:xfrm>
          <a:prstGeom prst="rect">
            <a:avLst/>
          </a:prstGeom>
          <a:solidFill>
            <a:srgbClr val="E4F0F2"/>
          </a:solidFill>
          <a:ln w="12700">
            <a:solidFill>
              <a:srgbClr val="1E7A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55C6B"/>
                </a:solidFill>
                <a:latin typeface="맑은 고딕"/>
              </a:rPr>
              <a:t>FTS5 RAG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7058985" y="2011680"/>
            <a:ext cx="320040" cy="182880"/>
          </a:xfrm>
          <a:prstGeom prst="rightArrow">
            <a:avLst/>
          </a:prstGeom>
          <a:solidFill>
            <a:srgbClr val="B89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424745" y="1783080"/>
            <a:ext cx="1926275" cy="777240"/>
          </a:xfrm>
          <a:prstGeom prst="rect">
            <a:avLst/>
          </a:prstGeom>
          <a:solidFill>
            <a:srgbClr val="E4F0F2"/>
          </a:solidFill>
          <a:ln w="12700">
            <a:solidFill>
              <a:srgbClr val="1E7A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55C6B"/>
                </a:solidFill>
                <a:latin typeface="맑은 고딕"/>
              </a:rPr>
              <a:t>SLM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9351020" y="2011680"/>
            <a:ext cx="320040" cy="182880"/>
          </a:xfrm>
          <a:prstGeom prst="rightArrow">
            <a:avLst/>
          </a:prstGeom>
          <a:solidFill>
            <a:srgbClr val="B89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716780" y="1783080"/>
            <a:ext cx="1926275" cy="777240"/>
          </a:xfrm>
          <a:prstGeom prst="rect">
            <a:avLst/>
          </a:prstGeom>
          <a:solidFill>
            <a:srgbClr val="E4F0F2"/>
          </a:solidFill>
          <a:ln w="12700">
            <a:solidFill>
              <a:srgbClr val="1E7A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55C6B"/>
                </a:solidFill>
                <a:latin typeface="맑은 고딕"/>
              </a:rPr>
              <a:t>Native TTS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2651760"/>
            <a:ext cx="110944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>
                <a:solidFill>
                  <a:srgbClr val="5B6472"/>
                </a:solidFill>
                <a:latin typeface="맑은 고딕"/>
              </a:rPr>
              <a:t>로컬 영속화: Opus(16kbps) 압축 음성 + 대화턴 DB(conversations)</a:t>
            </a:r>
          </a:p>
        </p:txBody>
      </p:sp>
      <p:sp>
        <p:nvSpPr>
          <p:cNvPr id="17" name="Down Arrow 16"/>
          <p:cNvSpPr/>
          <p:nvPr/>
        </p:nvSpPr>
        <p:spPr>
          <a:xfrm>
            <a:off x="3017520" y="3063240"/>
            <a:ext cx="914400" cy="457200"/>
          </a:xfrm>
          <a:prstGeom prst="downArrow">
            <a:avLst/>
          </a:prstGeom>
          <a:solidFill>
            <a:srgbClr val="B89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023360" y="306324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96723F"/>
                </a:solidFill>
                <a:latin typeface="맑은 고딕"/>
              </a:rPr>
              <a:t>▲ 상향: Opus 음성 + 로컬 STT 텍스트</a:t>
            </a:r>
          </a:p>
        </p:txBody>
      </p:sp>
      <p:sp>
        <p:nvSpPr>
          <p:cNvPr id="19" name="Up Arrow 18"/>
          <p:cNvSpPr/>
          <p:nvPr/>
        </p:nvSpPr>
        <p:spPr>
          <a:xfrm>
            <a:off x="7863840" y="3063240"/>
            <a:ext cx="914400" cy="457200"/>
          </a:xfrm>
          <a:prstGeom prst="upArrow">
            <a:avLst/>
          </a:prstGeom>
          <a:solidFill>
            <a:srgbClr val="1E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023360" y="352044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155C6B"/>
                </a:solidFill>
                <a:latin typeface="맑은 고딕"/>
              </a:rPr>
              <a:t>▼ 하향: 정제지식·프롬프트·질문셋·일정룰 (Wi-Fi 접속 시)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4114800"/>
            <a:ext cx="11094415" cy="365760"/>
          </a:xfrm>
          <a:prstGeom prst="rect">
            <a:avLst/>
          </a:prstGeom>
          <a:solidFill>
            <a:srgbClr val="202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4114800"/>
            <a:ext cx="1109441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맑은 고딕"/>
              </a:rPr>
              <a:t>🖥️ CLOUD TIER — 온프레미스 서버 (Deep Processing)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4663440"/>
            <a:ext cx="3454298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EDA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55C6B"/>
                </a:solidFill>
                <a:latin typeface="맑은 고딕"/>
              </a:rPr>
              <a:t>1. 검증·교정</a:t>
            </a:r>
          </a:p>
          <a:p>
            <a:pPr algn="ctr"/>
            <a:r>
              <a:rPr sz="1100">
                <a:solidFill>
                  <a:srgbClr val="5B6472"/>
                </a:solidFill>
                <a:latin typeface="맑은 고딕"/>
              </a:rPr>
              <a:t>Whisper Large-v3</a:t>
            </a:r>
          </a:p>
          <a:p>
            <a:pPr algn="ctr"/>
            <a:r>
              <a:rPr sz="1100">
                <a:solidFill>
                  <a:srgbClr val="5B6472"/>
                </a:solidFill>
                <a:latin typeface="맑은 고딕"/>
              </a:rPr>
              <a:t>정밀 재전사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4002938" y="4983480"/>
            <a:ext cx="320040" cy="182880"/>
          </a:xfrm>
          <a:prstGeom prst="rightArrow">
            <a:avLst/>
          </a:prstGeom>
          <a:solidFill>
            <a:srgbClr val="B89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368698" y="4663440"/>
            <a:ext cx="3454298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EDA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55C6B"/>
                </a:solidFill>
                <a:latin typeface="맑은 고딕"/>
              </a:rPr>
              <a:t>2. 지식화</a:t>
            </a:r>
          </a:p>
          <a:p>
            <a:pPr algn="ctr"/>
            <a:r>
              <a:rPr sz="1100">
                <a:solidFill>
                  <a:srgbClr val="5B6472"/>
                </a:solidFill>
                <a:latin typeface="맑은 고딕"/>
              </a:rPr>
              <a:t>Neo4j 그래프 +</a:t>
            </a:r>
          </a:p>
          <a:p>
            <a:pPr algn="ctr"/>
            <a:r>
              <a:rPr sz="1100">
                <a:solidFill>
                  <a:srgbClr val="5B6472"/>
                </a:solidFill>
                <a:latin typeface="맑은 고딕"/>
              </a:rPr>
              <a:t>Qdrant 벡터색인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7822996" y="4983480"/>
            <a:ext cx="320040" cy="182880"/>
          </a:xfrm>
          <a:prstGeom prst="rightArrow">
            <a:avLst/>
          </a:prstGeom>
          <a:solidFill>
            <a:srgbClr val="B89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188756" y="4663440"/>
            <a:ext cx="3454298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EDA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55C6B"/>
                </a:solidFill>
                <a:latin typeface="맑은 고딕"/>
              </a:rPr>
              <a:t>3. 생성·감수</a:t>
            </a:r>
          </a:p>
          <a:p>
            <a:pPr algn="ctr"/>
            <a:r>
              <a:rPr sz="1100">
                <a:solidFill>
                  <a:srgbClr val="5B6472"/>
                </a:solidFill>
                <a:latin typeface="맑은 고딕"/>
              </a:rPr>
              <a:t>온프레미스 vLLM 윤문</a:t>
            </a:r>
          </a:p>
          <a:p>
            <a:pPr algn="ctr"/>
            <a:r>
              <a:rPr sz="1100">
                <a:solidFill>
                  <a:srgbClr val="5B6472"/>
                </a:solidFill>
                <a:latin typeface="맑은 고딕"/>
              </a:rPr>
              <a:t>+ Critic Agent Gap분석</a:t>
            </a:r>
          </a:p>
        </p:txBody>
      </p:sp>
      <p:sp>
        <p:nvSpPr>
          <p:cNvPr id="28" name="Down Arrow 27"/>
          <p:cNvSpPr/>
          <p:nvPr/>
        </p:nvSpPr>
        <p:spPr>
          <a:xfrm>
            <a:off x="5760720" y="5623560"/>
            <a:ext cx="640080" cy="274320"/>
          </a:xfrm>
          <a:prstGeom prst="downArrow">
            <a:avLst/>
          </a:prstGeom>
          <a:solidFill>
            <a:srgbClr val="B89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48640" y="5943600"/>
            <a:ext cx="11094415" cy="502920"/>
          </a:xfrm>
          <a:prstGeom prst="rect">
            <a:avLst/>
          </a:prstGeom>
          <a:solidFill>
            <a:srgbClr val="F3E9D8"/>
          </a:solidFill>
          <a:ln w="12700">
            <a:solidFill>
              <a:srgbClr val="B893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96723F"/>
                </a:solidFill>
                <a:latin typeface="맑은 고딕"/>
              </a:rPr>
              <a:t>4. Compaction Engine — 자서전 요약 FTS5 차분 + 압축 프롬프트 + 우선순위 질문 → 온디바이스 패키징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9096A0"/>
                </a:solidFill>
                <a:latin typeface="맑은 고딕"/>
              </a:rPr>
              <a:t>은빛실타래 · SilverYarn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094415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096A0"/>
                </a:solidFill>
                <a:latin typeface="맑은 고딕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2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02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858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B8935A"/>
                </a:solidFill>
                <a:latin typeface="맑은 고딕"/>
              </a:rPr>
              <a:t>2부 · 아키텍처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FFFFFF"/>
                </a:solidFill>
                <a:latin typeface="맑은 고딕"/>
              </a:rPr>
              <a:t>데이터 흐름 — 오프라인 구술 → 동기화 → 챕터 반영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371600"/>
            <a:ext cx="10362895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EDA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85800"/>
          <a:lstStyle/>
          <a:p>
            <a:pPr algn="ctr"/>
            <a:r>
              <a:rPr sz="1500">
                <a:solidFill>
                  <a:srgbClr val="20242B"/>
                </a:solidFill>
                <a:latin typeface="맑은 고딕"/>
              </a:rPr>
              <a:t>[오프라인] 구술 발화 → On-Device STT/SLM 즉시 응답, 원본음성+1차전사 로컬 저장(최근 5일 잠정)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1371600"/>
            <a:ext cx="502920" cy="658368"/>
          </a:xfrm>
          <a:prstGeom prst="rect">
            <a:avLst/>
          </a:prstGeom>
          <a:solidFill>
            <a:srgbClr val="1E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7" name="Down Arrow 6"/>
          <p:cNvSpPr/>
          <p:nvPr/>
        </p:nvSpPr>
        <p:spPr>
          <a:xfrm>
            <a:off x="6013551" y="2028139"/>
            <a:ext cx="164592" cy="164592"/>
          </a:xfrm>
          <a:prstGeom prst="downArrow">
            <a:avLst/>
          </a:prstGeom>
          <a:solidFill>
            <a:srgbClr val="B89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14400" y="2190902"/>
            <a:ext cx="10362895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EDA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85800"/>
          <a:lstStyle/>
          <a:p>
            <a:pPr algn="ctr"/>
            <a:r>
              <a:rPr sz="1500">
                <a:solidFill>
                  <a:srgbClr val="20242B"/>
                </a:solidFill>
                <a:latin typeface="맑은 고딕"/>
              </a:rPr>
              <a:t>[Wi-Fi 접속 감지] 자동 업로드(음성+전사+신규사진)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2190902"/>
            <a:ext cx="502920" cy="658368"/>
          </a:xfrm>
          <a:prstGeom prst="rect">
            <a:avLst/>
          </a:prstGeom>
          <a:solidFill>
            <a:srgbClr val="1E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10" name="Down Arrow 9"/>
          <p:cNvSpPr/>
          <p:nvPr/>
        </p:nvSpPr>
        <p:spPr>
          <a:xfrm>
            <a:off x="6013551" y="2847441"/>
            <a:ext cx="164592" cy="164592"/>
          </a:xfrm>
          <a:prstGeom prst="downArrow">
            <a:avLst/>
          </a:prstGeom>
          <a:solidFill>
            <a:srgbClr val="B89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14400" y="3010204"/>
            <a:ext cx="10362895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EDA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85800"/>
          <a:lstStyle/>
          <a:p>
            <a:pPr algn="ctr"/>
            <a:r>
              <a:rPr sz="1500">
                <a:solidFill>
                  <a:srgbClr val="20242B"/>
                </a:solidFill>
                <a:latin typeface="맑은 고딕"/>
              </a:rPr>
              <a:t>서버: 고정밀 STT 재전사 → 기존 청크와 Diff 비교(멱등성) → 신규분만 처리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3010204"/>
            <a:ext cx="502920" cy="658368"/>
          </a:xfrm>
          <a:prstGeom prst="rect">
            <a:avLst/>
          </a:prstGeom>
          <a:solidFill>
            <a:srgbClr val="1E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13" name="Down Arrow 12"/>
          <p:cNvSpPr/>
          <p:nvPr/>
        </p:nvSpPr>
        <p:spPr>
          <a:xfrm>
            <a:off x="6013551" y="3666743"/>
            <a:ext cx="164592" cy="164592"/>
          </a:xfrm>
          <a:prstGeom prst="downArrow">
            <a:avLst/>
          </a:prstGeom>
          <a:solidFill>
            <a:srgbClr val="B89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14400" y="3829506"/>
            <a:ext cx="10362895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EDA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85800"/>
          <a:lstStyle/>
          <a:p>
            <a:pPr algn="ctr"/>
            <a:r>
              <a:rPr sz="1500">
                <a:solidFill>
                  <a:srgbClr val="20242B"/>
                </a:solidFill>
                <a:latin typeface="맑은 고딕"/>
              </a:rPr>
              <a:t>청킹/메타태깅 → 임베딩 → Vector DB Upsert → LLM 챕터 초안 생성/갱신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0" y="3829506"/>
            <a:ext cx="502920" cy="658368"/>
          </a:xfrm>
          <a:prstGeom prst="rect">
            <a:avLst/>
          </a:prstGeom>
          <a:solidFill>
            <a:srgbClr val="1E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6013551" y="4486045"/>
            <a:ext cx="164592" cy="164592"/>
          </a:xfrm>
          <a:prstGeom prst="downArrow">
            <a:avLst/>
          </a:prstGeom>
          <a:solidFill>
            <a:srgbClr val="B89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14400" y="4648808"/>
            <a:ext cx="10362895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EDA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85800"/>
          <a:lstStyle/>
          <a:p>
            <a:pPr algn="ctr"/>
            <a:r>
              <a:rPr sz="1500">
                <a:solidFill>
                  <a:srgbClr val="20242B"/>
                </a:solidFill>
                <a:latin typeface="맑은 고딕"/>
              </a:rPr>
              <a:t>가족 웹 감수 대기열 등록 → (승인) 챕터 확정 &amp; 이력 기록 / (반려) 재생성 루프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4400" y="4648808"/>
            <a:ext cx="502920" cy="658368"/>
          </a:xfrm>
          <a:prstGeom prst="rect">
            <a:avLst/>
          </a:prstGeom>
          <a:solidFill>
            <a:srgbClr val="1E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맑은 고딕"/>
              </a:rPr>
              <a:t>5</a:t>
            </a:r>
          </a:p>
        </p:txBody>
      </p:sp>
      <p:sp>
        <p:nvSpPr>
          <p:cNvPr id="19" name="Down Arrow 18"/>
          <p:cNvSpPr/>
          <p:nvPr/>
        </p:nvSpPr>
        <p:spPr>
          <a:xfrm>
            <a:off x="6013551" y="5305347"/>
            <a:ext cx="164592" cy="164592"/>
          </a:xfrm>
          <a:prstGeom prst="downArrow">
            <a:avLst/>
          </a:prstGeom>
          <a:solidFill>
            <a:srgbClr val="B89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14400" y="5468110"/>
            <a:ext cx="10362895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EDA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85800"/>
          <a:lstStyle/>
          <a:p>
            <a:pPr algn="ctr"/>
            <a:r>
              <a:rPr sz="1500">
                <a:solidFill>
                  <a:srgbClr val="20242B"/>
                </a:solidFill>
                <a:latin typeface="맑은 고딕"/>
              </a:rPr>
              <a:t>자동 다운로드(최신 자서전·RAG스냅샷·사진·질문목록) → 로컬 캐시 갱신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4400" y="5468110"/>
            <a:ext cx="502920" cy="658368"/>
          </a:xfrm>
          <a:prstGeom prst="rect">
            <a:avLst/>
          </a:prstGeom>
          <a:solidFill>
            <a:srgbClr val="1E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맑은 고딕"/>
              </a:rPr>
              <a:t>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9096A0"/>
                </a:solidFill>
                <a:latin typeface="맑은 고딕"/>
              </a:rPr>
              <a:t>은빛실타래 · SilverYarn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94415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096A0"/>
                </a:solidFill>
                <a:latin typeface="맑은 고딕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2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02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858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B8935A"/>
                </a:solidFill>
                <a:latin typeface="맑은 고딕"/>
              </a:rPr>
              <a:t>2부 · 아키텍처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FFFFFF"/>
                </a:solidFill>
                <a:latin typeface="맑은 고딕"/>
              </a:rPr>
              <a:t>온디바이스 오프라인 아키텍처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325880"/>
          <a:ext cx="11094414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98138"/>
                <a:gridCol w="7396276"/>
              </a:tblGrid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</a:rPr>
                        <a:t>구성요소</a:t>
                      </a:r>
                    </a:p>
                  </a:txBody>
                  <a:tcPr anchor="ctr" marT="50800" marB="50800">
                    <a:solidFill>
                      <a:srgbClr val="2024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</a:rPr>
                        <a:t>내용</a:t>
                      </a:r>
                    </a:p>
                  </a:txBody>
                  <a:tcPr anchor="ctr" marT="50800" marB="50800">
                    <a:solidFill>
                      <a:srgbClr val="20242B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20242B"/>
                          </a:solidFill>
                          <a:latin typeface="맑은 고딕"/>
                        </a:rPr>
                        <a:t>On-Device STT/SLM/TTS</a:t>
                      </a:r>
                    </a:p>
                  </a:txBody>
                  <a:tcPr anchor="ctr" marL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20242B"/>
                          </a:solidFill>
                          <a:latin typeface="맑은 고딕"/>
                        </a:rPr>
                        <a:t>경량 모델로 즉각 응답하는 오프라인 대화 엔진</a:t>
                      </a:r>
                    </a:p>
                  </a:txBody>
                  <a:tcPr anchor="ctr" marL="76200" marT="38100" marB="381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20242B"/>
                          </a:solidFill>
                          <a:latin typeface="맑은 고딕"/>
                        </a:rPr>
                        <a:t>최근 5일 대화 캐시</a:t>
                      </a:r>
                    </a:p>
                  </a:txBody>
                  <a:tcPr anchor="ctr" marL="76200" marT="38100" marB="38100">
                    <a:solidFill>
                      <a:srgbClr val="E4F0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20242B"/>
                          </a:solidFill>
                          <a:latin typeface="맑은 고딕"/>
                        </a:rPr>
                        <a:t>최근 5일간 원본 음성 + 전사 텍스트 로컬 보관 (잠정값, 벤치마크 후 재확정)</a:t>
                      </a:r>
                    </a:p>
                  </a:txBody>
                  <a:tcPr anchor="ctr" marL="76200" marT="38100" marB="38100">
                    <a:solidFill>
                      <a:srgbClr val="E4F0F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20242B"/>
                          </a:solidFill>
                          <a:latin typeface="맑은 고딕"/>
                        </a:rPr>
                        <a:t>자서전 로컬 캐시</a:t>
                      </a:r>
                    </a:p>
                  </a:txBody>
                  <a:tcPr anchor="ctr" marL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20242B"/>
                          </a:solidFill>
                          <a:latin typeface="맑은 고딕"/>
                        </a:rPr>
                        <a:t>최신 동기화 시점 기준 자서전 전체 콘텐츠 사본</a:t>
                      </a:r>
                    </a:p>
                  </a:txBody>
                  <a:tcPr anchor="ctr" marL="76200" marT="38100" marB="381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20242B"/>
                          </a:solidFill>
                          <a:latin typeface="맑은 고딕"/>
                        </a:rPr>
                        <a:t>경량 RAG Vector Store</a:t>
                      </a:r>
                    </a:p>
                  </a:txBody>
                  <a:tcPr anchor="ctr" marL="76200" marT="38100" marB="38100">
                    <a:solidFill>
                      <a:srgbClr val="E4F0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20242B"/>
                          </a:solidFill>
                          <a:latin typeface="맑은 고딕"/>
                        </a:rPr>
                        <a:t>서버 Vector DB 서브셋을 경량화한 스냅샷 (오프라인 회상 대화용)</a:t>
                      </a:r>
                    </a:p>
                  </a:txBody>
                  <a:tcPr anchor="ctr" marL="76200" marT="38100" marB="38100">
                    <a:solidFill>
                      <a:srgbClr val="E4F0F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20242B"/>
                          </a:solidFill>
                          <a:latin typeface="맑은 고딕"/>
                        </a:rPr>
                        <a:t>미회고 사진 큐</a:t>
                      </a:r>
                    </a:p>
                  </a:txBody>
                  <a:tcPr anchor="ctr" marL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20242B"/>
                          </a:solidFill>
                          <a:latin typeface="맑은 고딕"/>
                        </a:rPr>
                        <a:t>아직 대화로 다루지 않은 신규 사진 목록 — 대화 세션 진입 시 우선 제시</a:t>
                      </a:r>
                    </a:p>
                  </a:txBody>
                  <a:tcPr anchor="ctr" marL="76200" marT="38100" marB="381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20242B"/>
                          </a:solidFill>
                          <a:latin typeface="맑은 고딕"/>
                        </a:rPr>
                        <a:t>질문 목록 캐시</a:t>
                      </a:r>
                    </a:p>
                  </a:txBody>
                  <a:tcPr anchor="ctr" marL="76200" marT="38100" marB="38100">
                    <a:solidFill>
                      <a:srgbClr val="E4F0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20242B"/>
                          </a:solidFill>
                          <a:latin typeface="맑은 고딕"/>
                        </a:rPr>
                        <a:t>서버가 정비한 미중복 회고 질문 큐</a:t>
                      </a:r>
                    </a:p>
                  </a:txBody>
                  <a:tcPr anchor="ctr" marL="76200" marT="38100" marB="38100">
                    <a:solidFill>
                      <a:srgbClr val="E4F0F2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9096A0"/>
                </a:solidFill>
                <a:latin typeface="맑은 고딕"/>
              </a:rPr>
              <a:t>은빛실타래 · SilverYarn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096A0"/>
                </a:solidFill>
                <a:latin typeface="맑은 고딕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2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02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858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B8935A"/>
                </a:solidFill>
                <a:latin typeface="맑은 고딕"/>
              </a:rPr>
              <a:t>2부 · 아키텍처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FFFFFF"/>
                </a:solidFill>
                <a:latin typeface="맑은 고딕"/>
              </a:rPr>
              <a:t>온프레미스 서버 아키텍처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325880"/>
          <a:ext cx="11094414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73603"/>
                <a:gridCol w="8320811"/>
              </a:tblGrid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</a:rPr>
                        <a:t>영역</a:t>
                      </a:r>
                    </a:p>
                  </a:txBody>
                  <a:tcPr anchor="ctr" marT="50800" marB="50800">
                    <a:solidFill>
                      <a:srgbClr val="2024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</a:rPr>
                        <a:t>구성</a:t>
                      </a:r>
                    </a:p>
                  </a:txBody>
                  <a:tcPr anchor="ctr" marT="50800" marB="50800">
                    <a:solidFill>
                      <a:srgbClr val="20242B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20242B"/>
                          </a:solidFill>
                          <a:latin typeface="맑은 고딕"/>
                        </a:rPr>
                        <a:t>LLM 추론</a:t>
                      </a:r>
                    </a:p>
                  </a:txBody>
                  <a:tcPr anchor="ctr" marL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20242B"/>
                          </a:solidFill>
                          <a:latin typeface="맑은 고딕"/>
                        </a:rPr>
                        <a:t>자체 호스팅 vLLM · A100 서버 — 3개 엔진 전체 처리</a:t>
                      </a:r>
                    </a:p>
                  </a:txBody>
                  <a:tcPr anchor="ctr" marL="76200" marT="38100" marB="381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20242B"/>
                          </a:solidFill>
                          <a:latin typeface="맑은 고딕"/>
                        </a:rPr>
                        <a:t>STT</a:t>
                      </a:r>
                    </a:p>
                  </a:txBody>
                  <a:tcPr anchor="ctr" marL="76200" marT="38100" marB="38100">
                    <a:solidFill>
                      <a:srgbClr val="E4F0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20242B"/>
                          </a:solidFill>
                          <a:latin typeface="맑은 고딕"/>
                        </a:rPr>
                        <a:t>온프레미스 고정밀 STT(Whisper 계열)로 온디바이스 1차 전사분 재전사·오류 보정</a:t>
                      </a:r>
                    </a:p>
                  </a:txBody>
                  <a:tcPr anchor="ctr" marL="76200" marT="38100" marB="38100">
                    <a:solidFill>
                      <a:srgbClr val="E4F0F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20242B"/>
                          </a:solidFill>
                          <a:latin typeface="맑은 고딕"/>
                        </a:rPr>
                        <a:t>Vector DB</a:t>
                      </a:r>
                    </a:p>
                  </a:txBody>
                  <a:tcPr anchor="ctr" marL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20242B"/>
                          </a:solidFill>
                          <a:latin typeface="맑은 고딕"/>
                        </a:rPr>
                        <a:t>Qdrant self-hosted — 하이브리드 서치(BM25 + Dense)</a:t>
                      </a:r>
                    </a:p>
                  </a:txBody>
                  <a:tcPr anchor="ctr" marL="76200" marT="38100" marB="381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20242B"/>
                          </a:solidFill>
                          <a:latin typeface="맑은 고딕"/>
                        </a:rPr>
                        <a:t>RDB</a:t>
                      </a:r>
                    </a:p>
                  </a:txBody>
                  <a:tcPr anchor="ctr" marL="76200" marT="38100" marB="38100">
                    <a:solidFill>
                      <a:srgbClr val="E4F0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20242B"/>
                          </a:solidFill>
                          <a:latin typeface="맑은 고딕"/>
                        </a:rPr>
                        <a:t>PostgreSQL — 사용자·일정·복약·원고 이력 등 17개 엔티티</a:t>
                      </a:r>
                    </a:p>
                  </a:txBody>
                  <a:tcPr anchor="ctr" marL="76200" marT="38100" marB="38100">
                    <a:solidFill>
                      <a:srgbClr val="E4F0F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20242B"/>
                          </a:solidFill>
                          <a:latin typeface="맑은 고딕"/>
                        </a:rPr>
                        <a:t>Object Storage</a:t>
                      </a:r>
                    </a:p>
                  </a:txBody>
                  <a:tcPr anchor="ctr" marL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20242B"/>
                          </a:solidFill>
                          <a:latin typeface="맑은 고딕"/>
                        </a:rPr>
                        <a:t>자체 MinIO — 원본 음성, 완성 PDF/ePub</a:t>
                      </a:r>
                    </a:p>
                  </a:txBody>
                  <a:tcPr anchor="ctr" marL="76200" marT="38100" marB="381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20242B"/>
                          </a:solidFill>
                          <a:latin typeface="맑은 고딕"/>
                        </a:rPr>
                        <a:t>임베딩 모델</a:t>
                      </a:r>
                    </a:p>
                  </a:txBody>
                  <a:tcPr anchor="ctr" marL="76200" marT="38100" marB="38100">
                    <a:solidFill>
                      <a:srgbClr val="E4F0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20242B"/>
                          </a:solidFill>
                          <a:latin typeface="맑은 고딕"/>
                        </a:rPr>
                        <a:t>BGE-M3 계열 (한국어 다국어 임베딩)</a:t>
                      </a:r>
                    </a:p>
                  </a:txBody>
                  <a:tcPr anchor="ctr" marL="76200" marT="38100" marB="38100">
                    <a:solidFill>
                      <a:srgbClr val="E4F0F2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9096A0"/>
                </a:solidFill>
                <a:latin typeface="맑은 고딕"/>
              </a:rPr>
              <a:t>은빛실타래 · SilverYarn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096A0"/>
                </a:solidFill>
                <a:latin typeface="맑은 고딕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2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02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858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B8935A"/>
                </a:solidFill>
                <a:latin typeface="맑은 고딕"/>
              </a:rPr>
              <a:t>2부 · 아키텍처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FFFFFF"/>
                </a:solidFill>
                <a:latin typeface="맑은 고딕"/>
              </a:rPr>
              <a:t>설치모드 자동 분기 — 키오스크 / 일반 앱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325880"/>
          <a:ext cx="11094415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98138"/>
                <a:gridCol w="3698138"/>
                <a:gridCol w="3698139"/>
              </a:tblGrid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</a:rPr>
                        <a:t>구분</a:t>
                      </a:r>
                    </a:p>
                  </a:txBody>
                  <a:tcPr anchor="ctr" marT="50800" marB="50800">
                    <a:solidFill>
                      <a:srgbClr val="2024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</a:rPr>
                        <a:t>키오스크 모드</a:t>
                      </a:r>
                    </a:p>
                  </a:txBody>
                  <a:tcPr anchor="ctr" marT="50800" marB="50800">
                    <a:solidFill>
                      <a:srgbClr val="2024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</a:rPr>
                        <a:t>일반 앱 모드</a:t>
                      </a:r>
                    </a:p>
                  </a:txBody>
                  <a:tcPr anchor="ctr" marT="50800" marB="50800">
                    <a:solidFill>
                      <a:srgbClr val="20242B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20242B"/>
                          </a:solidFill>
                          <a:latin typeface="맑은 고딕"/>
                        </a:rPr>
                        <a:t>대상 단말</a:t>
                      </a:r>
                    </a:p>
                  </a:txBody>
                  <a:tcPr anchor="ctr" marL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20242B"/>
                          </a:solidFill>
                          <a:latin typeface="맑은 고딕"/>
                        </a:rPr>
                        <a:t>저사양·재활용 단말</a:t>
                      </a:r>
                    </a:p>
                  </a:txBody>
                  <a:tcPr anchor="ctr" marL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20242B"/>
                          </a:solidFill>
                          <a:latin typeface="맑은 고딕"/>
                        </a:rPr>
                        <a:t>고사양 개인 단말</a:t>
                      </a:r>
                    </a:p>
                  </a:txBody>
                  <a:tcPr anchor="ctr" marL="76200" marT="38100" marB="381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20242B"/>
                          </a:solidFill>
                          <a:latin typeface="맑은 고딕"/>
                        </a:rPr>
                        <a:t>설치 방식</a:t>
                      </a:r>
                    </a:p>
                  </a:txBody>
                  <a:tcPr anchor="ctr" marL="76200" marT="38100" marB="38100">
                    <a:solidFill>
                      <a:srgbClr val="E4F0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20242B"/>
                          </a:solidFill>
                          <a:latin typeface="맑은 고딕"/>
                        </a:rPr>
                        <a:t>Device Owner Mode(COSU)로 단일 실행 잠금 ★확정</a:t>
                      </a:r>
                    </a:p>
                  </a:txBody>
                  <a:tcPr anchor="ctr" marL="76200" marT="38100" marB="38100">
                    <a:solidFill>
                      <a:srgbClr val="E4F0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20242B"/>
                          </a:solidFill>
                          <a:latin typeface="맑은 고딕"/>
                        </a:rPr>
                        <a:t>여러 앱 중 하나로 아이콘 설치</a:t>
                      </a:r>
                    </a:p>
                  </a:txBody>
                  <a:tcPr anchor="ctr" marL="76200" marT="38100" marB="38100">
                    <a:solidFill>
                      <a:srgbClr val="E4F0F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20242B"/>
                          </a:solidFill>
                          <a:latin typeface="맑은 고딕"/>
                        </a:rPr>
                        <a:t>실행 방식</a:t>
                      </a:r>
                    </a:p>
                  </a:txBody>
                  <a:tcPr anchor="ctr" marL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20242B"/>
                          </a:solidFill>
                          <a:latin typeface="맑은 고딕"/>
                        </a:rPr>
                        <a:t>부팅 시 자동 실행, 다른 앱 접근 차단</a:t>
                      </a:r>
                    </a:p>
                  </a:txBody>
                  <a:tcPr anchor="ctr" marL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20242B"/>
                          </a:solidFill>
                          <a:latin typeface="맑은 고딕"/>
                        </a:rPr>
                        <a:t>사용자가 직접 실행, 자유 전환</a:t>
                      </a:r>
                    </a:p>
                  </a:txBody>
                  <a:tcPr anchor="ctr" marL="76200" marT="38100" marB="381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20242B"/>
                          </a:solidFill>
                          <a:latin typeface="맑은 고딕"/>
                        </a:rPr>
                        <a:t>앱 기능(3대 모드 등)</a:t>
                      </a:r>
                    </a:p>
                  </a:txBody>
                  <a:tcPr anchor="ctr" marL="76200" marT="38100" marB="38100">
                    <a:solidFill>
                      <a:srgbClr val="E4F0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20242B"/>
                          </a:solidFill>
                          <a:latin typeface="맑은 고딕"/>
                        </a:rPr>
                        <a:t>완전히 동일</a:t>
                      </a:r>
                    </a:p>
                  </a:txBody>
                  <a:tcPr anchor="ctr" marL="76200" marT="38100" marB="38100">
                    <a:solidFill>
                      <a:srgbClr val="E4F0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20242B"/>
                          </a:solidFill>
                          <a:latin typeface="맑은 고딕"/>
                        </a:rPr>
                        <a:t>완전히 동일</a:t>
                      </a:r>
                    </a:p>
                  </a:txBody>
                  <a:tcPr anchor="ctr" marL="76200" marT="38100" marB="38100">
                    <a:solidFill>
                      <a:srgbClr val="E4F0F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20242B"/>
                          </a:solidFill>
                          <a:latin typeface="맑은 고딕"/>
                        </a:rPr>
                        <a:t>모드 결정 시점</a:t>
                      </a:r>
                    </a:p>
                  </a:txBody>
                  <a:tcPr anchor="ctr" marL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20242B"/>
                          </a:solidFill>
                          <a:latin typeface="맑은 고딕"/>
                        </a:rPr>
                        <a:t>설치 시 1회 자동 판별, 재설치 전까지 고정 — 서버 원격 전환 없음</a:t>
                      </a:r>
                    </a:p>
                  </a:txBody>
                  <a:tcPr anchor="ctr" marL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20242B"/>
                          </a:solidFill>
                          <a:latin typeface="맑은 고딕"/>
                        </a:rPr>
                        <a:t>좌동</a:t>
                      </a:r>
                    </a:p>
                  </a:txBody>
                  <a:tcPr anchor="ctr" marL="76200" marT="38100" marB="381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9096A0"/>
                </a:solidFill>
                <a:latin typeface="맑은 고딕"/>
              </a:rPr>
              <a:t>은빛실타래 · SilverYarn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096A0"/>
                </a:solidFill>
                <a:latin typeface="맑은 고딕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2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02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858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B8935A"/>
                </a:solidFill>
                <a:latin typeface="맑은 고딕"/>
              </a:rPr>
              <a:t>2부 · 아키텍처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FFFFFF"/>
                </a:solidFill>
                <a:latin typeface="맑은 고딕"/>
              </a:rPr>
              <a:t>설치모드 판별 기준 (확정)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91153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900" b="1">
                <a:solidFill>
                  <a:srgbClr val="155C6B"/>
                </a:solidFill>
                <a:latin typeface="맑은 고딕"/>
              </a:rPr>
              <a:t>▪  판별 로직: RAM 6GB 미만 또는 Android 11(API 30) 이하 → 키오스크 모드 (둘 중 하나라도 미달 시 보수적 판정)</a:t>
            </a:r>
          </a:p>
          <a:p>
            <a:pPr algn="l">
              <a:spcAft>
                <a:spcPts val="1000"/>
              </a:spcAft>
            </a:pPr>
            <a:r>
              <a:rPr sz="1900" b="0">
                <a:solidFill>
                  <a:srgbClr val="20242B"/>
                </a:solidFill>
                <a:latin typeface="맑은 고딕"/>
              </a:rPr>
              <a:t>▪  근거: 2B급 SLM+STT+TTS 동시구동 최소 RAM 6GB, 구형 모델(S10/노트10)은 RAM 충분해도 보안업데이트 종료 → OS버전 병행 필요</a:t>
            </a:r>
          </a:p>
          <a:p>
            <a:pPr algn="l">
              <a:spcAft>
                <a:spcPts val="400"/>
              </a:spcAft>
            </a:pPr>
            <a:r>
              <a:t>     -  실기기 매핑 예시 — 키오스크 대상: 갤럭시 S9/S10/A10~A30, J시리즈</a:t>
            </a:r>
          </a:p>
          <a:p>
            <a:pPr algn="l">
              <a:spcAft>
                <a:spcPts val="400"/>
              </a:spcAft>
            </a:pPr>
            <a:r>
              <a:t>     -  실기기 매핑 예시 — 일반 앱 대상: 갤럭시 A35/A55/A56, S23/S24/S25</a:t>
            </a:r>
          </a:p>
          <a:p>
            <a:pPr algn="l">
              <a:spcAft>
                <a:spcPts val="400"/>
              </a:spcAft>
            </a:pPr>
            <a:r>
              <a:t>     -  보조지표: AP/NPU 성능(TOPS) — 향후 임계값 재조정 시 참고</a:t>
            </a:r>
          </a:p>
          <a:p>
            <a:pPr algn="l">
              <a:spcAft>
                <a:spcPts val="1000"/>
              </a:spcAft>
            </a:pPr>
            <a:r>
              <a:rPr sz="1900" b="1">
                <a:solidFill>
                  <a:srgbClr val="155C6B"/>
                </a:solidFill>
                <a:latin typeface="맑은 고딕"/>
              </a:rPr>
              <a:t>▪  키오스크 구현 방식: Android Device Owner Mode(COSU) 채택, Screen Pinning 미채택 (사용자 자체 해제 가능해 탈락)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9096A0"/>
                </a:solidFill>
                <a:latin typeface="맑은 고딕"/>
              </a:rPr>
              <a:t>은빛실타래 · SilverYarn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096A0"/>
                </a:solidFill>
                <a:latin typeface="맑은 고딕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7A8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468880"/>
            <a:ext cx="3657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6000" b="1">
                <a:solidFill>
                  <a:srgbClr val="155C6B"/>
                </a:solidFill>
                <a:latin typeface="맑은 고딕"/>
              </a:rP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3832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1">
                <a:solidFill>
                  <a:srgbClr val="FFFFFF"/>
                </a:solidFill>
                <a:latin typeface="맑은 고딕"/>
              </a:rPr>
              <a:t>핵심 기능 파이프라인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E4F0F2"/>
                </a:solidFill>
                <a:latin typeface="맑은 고딕"/>
              </a:rPr>
              <a:t>사진회고 · RAG · 정서모니터링 · 출판 · 온보딩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9096A0"/>
                </a:solidFill>
                <a:latin typeface="맑은 고딕"/>
              </a:rPr>
              <a:t>은빛실타래 · SilverYarn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096A0"/>
                </a:solidFill>
                <a:latin typeface="맑은 고딕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2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02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858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B8935A"/>
                </a:solidFill>
                <a:latin typeface="맑은 고딕"/>
              </a:rPr>
              <a:t>3부 · 파이프라인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FFFFFF"/>
                </a:solidFill>
                <a:latin typeface="맑은 고딕"/>
              </a:rPr>
              <a:t>사진 기반 회고 → 챕터 인라인 편입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371600"/>
            <a:ext cx="10362895" cy="569540"/>
          </a:xfrm>
          <a:prstGeom prst="rect">
            <a:avLst/>
          </a:prstGeom>
          <a:solidFill>
            <a:srgbClr val="FFFFFF"/>
          </a:solidFill>
          <a:ln w="12700">
            <a:solidFill>
              <a:srgbClr val="DEDA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85800"/>
          <a:lstStyle/>
          <a:p>
            <a:pPr algn="ctr"/>
            <a:r>
              <a:rPr sz="1500">
                <a:solidFill>
                  <a:srgbClr val="20242B"/>
                </a:solidFill>
                <a:latin typeface="맑은 고딕"/>
              </a:rPr>
              <a:t>가족(웹) 또는 당사자(모바일)가 사진 업로드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1371600"/>
            <a:ext cx="502920" cy="569540"/>
          </a:xfrm>
          <a:prstGeom prst="rect">
            <a:avLst/>
          </a:prstGeom>
          <a:solidFill>
            <a:srgbClr val="1E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7" name="Down Arrow 6"/>
          <p:cNvSpPr/>
          <p:nvPr/>
        </p:nvSpPr>
        <p:spPr>
          <a:xfrm>
            <a:off x="6013551" y="1922852"/>
            <a:ext cx="164592" cy="164592"/>
          </a:xfrm>
          <a:prstGeom prst="downArrow">
            <a:avLst/>
          </a:prstGeom>
          <a:solidFill>
            <a:srgbClr val="B89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14400" y="2069156"/>
            <a:ext cx="10362895" cy="569540"/>
          </a:xfrm>
          <a:prstGeom prst="rect">
            <a:avLst/>
          </a:prstGeom>
          <a:solidFill>
            <a:srgbClr val="FFFFFF"/>
          </a:solidFill>
          <a:ln w="12700">
            <a:solidFill>
              <a:srgbClr val="DEDA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85800"/>
          <a:lstStyle/>
          <a:p>
            <a:pPr algn="ctr"/>
            <a:r>
              <a:rPr sz="1500">
                <a:solidFill>
                  <a:srgbClr val="20242B"/>
                </a:solidFill>
                <a:latin typeface="맑은 고딕"/>
              </a:rPr>
              <a:t>미회고 사진 큐 등록 (연도 태그 기반 예상 챕터 매핑)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2069156"/>
            <a:ext cx="502920" cy="569540"/>
          </a:xfrm>
          <a:prstGeom prst="rect">
            <a:avLst/>
          </a:prstGeom>
          <a:solidFill>
            <a:srgbClr val="1E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10" name="Down Arrow 9"/>
          <p:cNvSpPr/>
          <p:nvPr/>
        </p:nvSpPr>
        <p:spPr>
          <a:xfrm>
            <a:off x="6013551" y="2620408"/>
            <a:ext cx="164592" cy="164592"/>
          </a:xfrm>
          <a:prstGeom prst="downArrow">
            <a:avLst/>
          </a:prstGeom>
          <a:solidFill>
            <a:srgbClr val="B89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14400" y="2766712"/>
            <a:ext cx="10362895" cy="569540"/>
          </a:xfrm>
          <a:prstGeom prst="rect">
            <a:avLst/>
          </a:prstGeom>
          <a:solidFill>
            <a:srgbClr val="FFFFFF"/>
          </a:solidFill>
          <a:ln w="12700">
            <a:solidFill>
              <a:srgbClr val="DEDA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85800"/>
          <a:lstStyle/>
          <a:p>
            <a:pPr algn="ctr"/>
            <a:r>
              <a:rPr sz="1500">
                <a:solidFill>
                  <a:srgbClr val="20242B"/>
                </a:solidFill>
                <a:latin typeface="맑은 고딕"/>
              </a:rPr>
              <a:t>다음 Wi-Fi 동기화 시 미회고 큐 스마트폰 동기화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2766712"/>
            <a:ext cx="502920" cy="569540"/>
          </a:xfrm>
          <a:prstGeom prst="rect">
            <a:avLst/>
          </a:prstGeom>
          <a:solidFill>
            <a:srgbClr val="1E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13" name="Down Arrow 12"/>
          <p:cNvSpPr/>
          <p:nvPr/>
        </p:nvSpPr>
        <p:spPr>
          <a:xfrm>
            <a:off x="6013551" y="3317964"/>
            <a:ext cx="164592" cy="164592"/>
          </a:xfrm>
          <a:prstGeom prst="downArrow">
            <a:avLst/>
          </a:prstGeom>
          <a:solidFill>
            <a:srgbClr val="B89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14400" y="3464268"/>
            <a:ext cx="10362895" cy="569540"/>
          </a:xfrm>
          <a:prstGeom prst="rect">
            <a:avLst/>
          </a:prstGeom>
          <a:solidFill>
            <a:srgbClr val="FFFFFF"/>
          </a:solidFill>
          <a:ln w="12700">
            <a:solidFill>
              <a:srgbClr val="DEDA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85800"/>
          <a:lstStyle/>
          <a:p>
            <a:pPr algn="ctr"/>
            <a:r>
              <a:rPr sz="1500">
                <a:solidFill>
                  <a:srgbClr val="20242B"/>
                </a:solidFill>
                <a:latin typeface="맑은 고딕"/>
              </a:rPr>
              <a:t>다음 대화 세션 시작 시 사진 우선 제시 (작가/말벗돌봄 모드 무관)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0" y="3464268"/>
            <a:ext cx="502920" cy="569540"/>
          </a:xfrm>
          <a:prstGeom prst="rect">
            <a:avLst/>
          </a:prstGeom>
          <a:solidFill>
            <a:srgbClr val="1E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6013551" y="4015520"/>
            <a:ext cx="164592" cy="164592"/>
          </a:xfrm>
          <a:prstGeom prst="downArrow">
            <a:avLst/>
          </a:prstGeom>
          <a:solidFill>
            <a:srgbClr val="B89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14400" y="4161824"/>
            <a:ext cx="10362895" cy="569540"/>
          </a:xfrm>
          <a:prstGeom prst="rect">
            <a:avLst/>
          </a:prstGeom>
          <a:solidFill>
            <a:srgbClr val="FFFFFF"/>
          </a:solidFill>
          <a:ln w="12700">
            <a:solidFill>
              <a:srgbClr val="DEDA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85800"/>
          <a:lstStyle/>
          <a:p>
            <a:pPr algn="ctr"/>
            <a:r>
              <a:rPr sz="1500">
                <a:solidFill>
                  <a:srgbClr val="20242B"/>
                </a:solidFill>
                <a:latin typeface="맑은 고딕"/>
              </a:rPr>
              <a:t>음성 답변 수집 → 사진ID+회고 텍스트 연결, 미회고 큐에서 제거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4400" y="4161824"/>
            <a:ext cx="502920" cy="569540"/>
          </a:xfrm>
          <a:prstGeom prst="rect">
            <a:avLst/>
          </a:prstGeom>
          <a:solidFill>
            <a:srgbClr val="1E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맑은 고딕"/>
              </a:rPr>
              <a:t>5</a:t>
            </a:r>
          </a:p>
        </p:txBody>
      </p:sp>
      <p:sp>
        <p:nvSpPr>
          <p:cNvPr id="19" name="Down Arrow 18"/>
          <p:cNvSpPr/>
          <p:nvPr/>
        </p:nvSpPr>
        <p:spPr>
          <a:xfrm>
            <a:off x="6013551" y="4713076"/>
            <a:ext cx="164592" cy="164592"/>
          </a:xfrm>
          <a:prstGeom prst="downArrow">
            <a:avLst/>
          </a:prstGeom>
          <a:solidFill>
            <a:srgbClr val="B89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14400" y="4859380"/>
            <a:ext cx="10362895" cy="569540"/>
          </a:xfrm>
          <a:prstGeom prst="rect">
            <a:avLst/>
          </a:prstGeom>
          <a:solidFill>
            <a:srgbClr val="FFFFFF"/>
          </a:solidFill>
          <a:ln w="12700">
            <a:solidFill>
              <a:srgbClr val="DEDA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85800"/>
          <a:lstStyle/>
          <a:p>
            <a:pPr algn="ctr"/>
            <a:r>
              <a:rPr sz="1500">
                <a:solidFill>
                  <a:srgbClr val="20242B"/>
                </a:solidFill>
                <a:latin typeface="맑은 고딕"/>
              </a:rPr>
              <a:t>서버 처리 → 해당 시기 챕터 본문에 자동 인라인 삽입 (placement_status='proposed')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4400" y="4859380"/>
            <a:ext cx="502920" cy="569540"/>
          </a:xfrm>
          <a:prstGeom prst="rect">
            <a:avLst/>
          </a:prstGeom>
          <a:solidFill>
            <a:srgbClr val="1E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맑은 고딕"/>
              </a:rPr>
              <a:t>6</a:t>
            </a:r>
          </a:p>
        </p:txBody>
      </p:sp>
      <p:sp>
        <p:nvSpPr>
          <p:cNvPr id="22" name="Down Arrow 21"/>
          <p:cNvSpPr/>
          <p:nvPr/>
        </p:nvSpPr>
        <p:spPr>
          <a:xfrm>
            <a:off x="6013551" y="5410632"/>
            <a:ext cx="164592" cy="164592"/>
          </a:xfrm>
          <a:prstGeom prst="downArrow">
            <a:avLst/>
          </a:prstGeom>
          <a:solidFill>
            <a:srgbClr val="B89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14400" y="5556936"/>
            <a:ext cx="10362895" cy="569540"/>
          </a:xfrm>
          <a:prstGeom prst="rect">
            <a:avLst/>
          </a:prstGeom>
          <a:solidFill>
            <a:srgbClr val="FFFFFF"/>
          </a:solidFill>
          <a:ln w="12700">
            <a:solidFill>
              <a:srgbClr val="DEDA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85800"/>
          <a:lstStyle/>
          <a:p>
            <a:pPr algn="ctr"/>
            <a:r>
              <a:rPr sz="1500">
                <a:solidFill>
                  <a:srgbClr val="20242B"/>
                </a:solidFill>
                <a:latin typeface="맑은 고딕"/>
              </a:rPr>
              <a:t>가족 웹 감수 대기열 등록 → 위치·설명 확정 시 'confirmed'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14400" y="5556936"/>
            <a:ext cx="502920" cy="569540"/>
          </a:xfrm>
          <a:prstGeom prst="rect">
            <a:avLst/>
          </a:prstGeom>
          <a:solidFill>
            <a:srgbClr val="1E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맑은 고딕"/>
              </a:rPr>
              <a:t>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9096A0"/>
                </a:solidFill>
                <a:latin typeface="맑은 고딕"/>
              </a:rPr>
              <a:t>은빛실타래 · SilverYarn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94415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096A0"/>
                </a:solidFill>
                <a:latin typeface="맑은 고딕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2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02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858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B8935A"/>
                </a:solidFill>
                <a:latin typeface="맑은 고딕"/>
              </a:rPr>
              <a:t>3부 · 파이프라인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FFFFFF"/>
                </a:solidFill>
                <a:latin typeface="맑은 고딕"/>
              </a:rPr>
              <a:t>RAG 검색(Retrieval) 파이프라인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371600"/>
            <a:ext cx="10362895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EDA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85800"/>
          <a:lstStyle/>
          <a:p>
            <a:pPr algn="ctr"/>
            <a:r>
              <a:rPr sz="1500">
                <a:solidFill>
                  <a:srgbClr val="20242B"/>
                </a:solidFill>
                <a:latin typeface="맑은 고딕"/>
              </a:rPr>
              <a:t>사용자 발화 → Query 임베딩(BGE-M3)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1371600"/>
            <a:ext cx="502920" cy="658368"/>
          </a:xfrm>
          <a:prstGeom prst="rect">
            <a:avLst/>
          </a:prstGeom>
          <a:solidFill>
            <a:srgbClr val="1E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7" name="Down Arrow 6"/>
          <p:cNvSpPr/>
          <p:nvPr/>
        </p:nvSpPr>
        <p:spPr>
          <a:xfrm>
            <a:off x="6013551" y="2130552"/>
            <a:ext cx="164592" cy="164592"/>
          </a:xfrm>
          <a:prstGeom prst="downArrow">
            <a:avLst/>
          </a:prstGeom>
          <a:solidFill>
            <a:srgbClr val="B89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14400" y="2395728"/>
            <a:ext cx="10362895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EDA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85800"/>
          <a:lstStyle/>
          <a:p>
            <a:pPr algn="ctr"/>
            <a:r>
              <a:rPr sz="1500">
                <a:solidFill>
                  <a:srgbClr val="20242B"/>
                </a:solidFill>
                <a:latin typeface="맑은 고딕"/>
              </a:rPr>
              <a:t>하이브리드 서치(BM25 + Dense, Qdrant)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2395728"/>
            <a:ext cx="502920" cy="658368"/>
          </a:xfrm>
          <a:prstGeom prst="rect">
            <a:avLst/>
          </a:prstGeom>
          <a:solidFill>
            <a:srgbClr val="1E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10" name="Down Arrow 9"/>
          <p:cNvSpPr/>
          <p:nvPr/>
        </p:nvSpPr>
        <p:spPr>
          <a:xfrm>
            <a:off x="6013551" y="3154680"/>
            <a:ext cx="164592" cy="164592"/>
          </a:xfrm>
          <a:prstGeom prst="downArrow">
            <a:avLst/>
          </a:prstGeom>
          <a:solidFill>
            <a:srgbClr val="B89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14400" y="3419856"/>
            <a:ext cx="10362895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EDA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85800"/>
          <a:lstStyle/>
          <a:p>
            <a:pPr algn="ctr"/>
            <a:r>
              <a:rPr sz="1500">
                <a:solidFill>
                  <a:srgbClr val="20242B"/>
                </a:solidFill>
                <a:latin typeface="맑은 고딕"/>
              </a:rPr>
              <a:t>메타 필터(시기·인물)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3419856"/>
            <a:ext cx="502920" cy="658368"/>
          </a:xfrm>
          <a:prstGeom prst="rect">
            <a:avLst/>
          </a:prstGeom>
          <a:solidFill>
            <a:srgbClr val="1E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13" name="Down Arrow 12"/>
          <p:cNvSpPr/>
          <p:nvPr/>
        </p:nvSpPr>
        <p:spPr>
          <a:xfrm>
            <a:off x="6013551" y="4178808"/>
            <a:ext cx="164592" cy="164592"/>
          </a:xfrm>
          <a:prstGeom prst="downArrow">
            <a:avLst/>
          </a:prstGeom>
          <a:solidFill>
            <a:srgbClr val="B89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14400" y="4443984"/>
            <a:ext cx="10362895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EDA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85800"/>
          <a:lstStyle/>
          <a:p>
            <a:pPr algn="ctr"/>
            <a:r>
              <a:rPr sz="1500">
                <a:solidFill>
                  <a:srgbClr val="20242B"/>
                </a:solidFill>
                <a:latin typeface="맑은 고딕"/>
              </a:rPr>
              <a:t>Top-K 청크 추출 → Re-rank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0" y="4443984"/>
            <a:ext cx="502920" cy="658368"/>
          </a:xfrm>
          <a:prstGeom prst="rect">
            <a:avLst/>
          </a:prstGeom>
          <a:solidFill>
            <a:srgbClr val="1E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6013551" y="5202936"/>
            <a:ext cx="164592" cy="164592"/>
          </a:xfrm>
          <a:prstGeom prst="downArrow">
            <a:avLst/>
          </a:prstGeom>
          <a:solidFill>
            <a:srgbClr val="B89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14400" y="5468112"/>
            <a:ext cx="10362895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EDA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85800"/>
          <a:lstStyle/>
          <a:p>
            <a:pPr algn="ctr"/>
            <a:r>
              <a:rPr sz="1500">
                <a:solidFill>
                  <a:srgbClr val="20242B"/>
                </a:solidFill>
                <a:latin typeface="맑은 고딕"/>
              </a:rPr>
              <a:t>LLM Context 구성 → 응답 생성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4400" y="5468112"/>
            <a:ext cx="502920" cy="658368"/>
          </a:xfrm>
          <a:prstGeom prst="rect">
            <a:avLst/>
          </a:prstGeom>
          <a:solidFill>
            <a:srgbClr val="1E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맑은 고딕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9096A0"/>
                </a:solidFill>
                <a:latin typeface="맑은 고딕"/>
              </a:rPr>
              <a:t>은빛실타래 · SilverYarn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94415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096A0"/>
                </a:solidFill>
                <a:latin typeface="맑은 고딕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2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02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858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B8935A"/>
                </a:solidFill>
                <a:latin typeface="맑은 고딕"/>
              </a:rPr>
              <a:t>3부 · 파이프라인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FFFFFF"/>
                </a:solidFill>
                <a:latin typeface="맑은 고딕"/>
              </a:rPr>
              <a:t>정서 모니터링 처리 흐름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371600"/>
            <a:ext cx="10362895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EDA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85800"/>
          <a:lstStyle/>
          <a:p>
            <a:pPr algn="ctr"/>
            <a:r>
              <a:rPr sz="1500">
                <a:solidFill>
                  <a:srgbClr val="20242B"/>
                </a:solidFill>
                <a:latin typeface="맑은 고딕"/>
              </a:rPr>
              <a:t>말벗돌봄 대화 → 발화 톤 + 부정 어휘 빈도 분석 → 정서 점수 산출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1371600"/>
            <a:ext cx="502920" cy="658368"/>
          </a:xfrm>
          <a:prstGeom prst="rect">
            <a:avLst/>
          </a:prstGeom>
          <a:solidFill>
            <a:srgbClr val="1E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7" name="Down Arrow 6"/>
          <p:cNvSpPr/>
          <p:nvPr/>
        </p:nvSpPr>
        <p:spPr>
          <a:xfrm>
            <a:off x="6013551" y="2301240"/>
            <a:ext cx="164592" cy="164592"/>
          </a:xfrm>
          <a:prstGeom prst="downArrow">
            <a:avLst/>
          </a:prstGeom>
          <a:solidFill>
            <a:srgbClr val="B89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14400" y="2737104"/>
            <a:ext cx="10362895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EDA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85800"/>
          <a:lstStyle/>
          <a:p>
            <a:pPr algn="ctr"/>
            <a:r>
              <a:rPr sz="1500">
                <a:solidFill>
                  <a:srgbClr val="20242B"/>
                </a:solidFill>
                <a:latin typeface="맑은 고딕"/>
              </a:rPr>
              <a:t>emotion_scores에 일별 1건 기록 (임계치 초과 여부와 무관하게 항상 수행)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2737104"/>
            <a:ext cx="502920" cy="658368"/>
          </a:xfrm>
          <a:prstGeom prst="rect">
            <a:avLst/>
          </a:prstGeom>
          <a:solidFill>
            <a:srgbClr val="1E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10" name="Down Arrow 9"/>
          <p:cNvSpPr/>
          <p:nvPr/>
        </p:nvSpPr>
        <p:spPr>
          <a:xfrm>
            <a:off x="6013551" y="3666744"/>
            <a:ext cx="164592" cy="164592"/>
          </a:xfrm>
          <a:prstGeom prst="downArrow">
            <a:avLst/>
          </a:prstGeom>
          <a:solidFill>
            <a:srgbClr val="B89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14400" y="4102608"/>
            <a:ext cx="10362895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EDA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85800"/>
          <a:lstStyle/>
          <a:p>
            <a:pPr algn="ctr"/>
            <a:r>
              <a:rPr sz="1500">
                <a:solidFill>
                  <a:srgbClr val="20242B"/>
                </a:solidFill>
                <a:latin typeface="맑은 고딕"/>
              </a:rPr>
              <a:t>임계치 초과 시 emotion_alerts 생성 → notification_settings 조회 → 설정 채널로 알림 발송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4102608"/>
            <a:ext cx="502920" cy="658368"/>
          </a:xfrm>
          <a:prstGeom prst="rect">
            <a:avLst/>
          </a:prstGeom>
          <a:solidFill>
            <a:srgbClr val="1E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13" name="Down Arrow 12"/>
          <p:cNvSpPr/>
          <p:nvPr/>
        </p:nvSpPr>
        <p:spPr>
          <a:xfrm>
            <a:off x="6013551" y="5032248"/>
            <a:ext cx="164592" cy="164592"/>
          </a:xfrm>
          <a:prstGeom prst="downArrow">
            <a:avLst/>
          </a:prstGeom>
          <a:solidFill>
            <a:srgbClr val="B89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14400" y="5468112"/>
            <a:ext cx="10362895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EDA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85800"/>
          <a:lstStyle/>
          <a:p>
            <a:pPr algn="ctr"/>
            <a:r>
              <a:rPr sz="1500">
                <a:solidFill>
                  <a:srgbClr val="20242B"/>
                </a:solidFill>
                <a:latin typeface="맑은 고딕"/>
              </a:rPr>
              <a:t>확인 응답 없으면(N분 경과) 재알림(에스컬레이션), 확인되면 케이스 종료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0" y="5468112"/>
            <a:ext cx="502920" cy="658368"/>
          </a:xfrm>
          <a:prstGeom prst="rect">
            <a:avLst/>
          </a:prstGeom>
          <a:solidFill>
            <a:srgbClr val="1E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080760"/>
            <a:ext cx="110944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9096A0"/>
                </a:solidFill>
                <a:latin typeface="맑은 고딕"/>
              </a:rPr>
              <a:t>⚠️ '언제 알릴지(임계치)'는 법무·윤리 검토 대기 중 — '누가·어떤 채널로 받을지'만 지금 구현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9096A0"/>
                </a:solidFill>
                <a:latin typeface="맑은 고딕"/>
              </a:rPr>
              <a:t>은빛실타래 · SilverYarn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94415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096A0"/>
                </a:solidFill>
                <a:latin typeface="맑은 고딕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2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02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858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B8935A"/>
                </a:solidFill>
                <a:latin typeface="맑은 고딕"/>
              </a:rPr>
              <a:t>3부 · 파이프라인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FFFFFF"/>
                </a:solidFill>
                <a:latin typeface="맑은 고딕"/>
              </a:rPr>
              <a:t>출판/인쇄 파이프라인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371600"/>
            <a:ext cx="10362895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EDA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85800"/>
          <a:lstStyle/>
          <a:p>
            <a:pPr algn="ctr"/>
            <a:r>
              <a:rPr sz="1500">
                <a:solidFill>
                  <a:srgbClr val="20242B"/>
                </a:solidFill>
                <a:latin typeface="맑은 고딕"/>
              </a:rPr>
              <a:t>전체 챕터 confirmed 상태 도달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1371600"/>
            <a:ext cx="502920" cy="658368"/>
          </a:xfrm>
          <a:prstGeom prst="rect">
            <a:avLst/>
          </a:prstGeom>
          <a:solidFill>
            <a:srgbClr val="1E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7" name="Down Arrow 6"/>
          <p:cNvSpPr/>
          <p:nvPr/>
        </p:nvSpPr>
        <p:spPr>
          <a:xfrm>
            <a:off x="6013551" y="2301240"/>
            <a:ext cx="164592" cy="164592"/>
          </a:xfrm>
          <a:prstGeom prst="downArrow">
            <a:avLst/>
          </a:prstGeom>
          <a:solidFill>
            <a:srgbClr val="B89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14400" y="2737104"/>
            <a:ext cx="10362895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EDA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85800"/>
          <a:lstStyle/>
          <a:p>
            <a:pPr algn="ctr"/>
            <a:r>
              <a:rPr sz="1500">
                <a:solidFill>
                  <a:srgbClr val="20242B"/>
                </a:solidFill>
                <a:latin typeface="맑은 고딕"/>
              </a:rPr>
              <a:t>사용자/가족이 출판 요청 (publications.status='requested')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2737104"/>
            <a:ext cx="502920" cy="658368"/>
          </a:xfrm>
          <a:prstGeom prst="rect">
            <a:avLst/>
          </a:prstGeom>
          <a:solidFill>
            <a:srgbClr val="1E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10" name="Down Arrow 9"/>
          <p:cNvSpPr/>
          <p:nvPr/>
        </p:nvSpPr>
        <p:spPr>
          <a:xfrm>
            <a:off x="6013551" y="3666744"/>
            <a:ext cx="164592" cy="164592"/>
          </a:xfrm>
          <a:prstGeom prst="downArrow">
            <a:avLst/>
          </a:prstGeom>
          <a:solidFill>
            <a:srgbClr val="B89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14400" y="4102608"/>
            <a:ext cx="10362895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EDA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85800"/>
          <a:lstStyle/>
          <a:p>
            <a:pPr algn="ctr"/>
            <a:r>
              <a:rPr sz="1500">
                <a:solidFill>
                  <a:srgbClr val="20242B"/>
                </a:solidFill>
                <a:latin typeface="맑은 고딕"/>
              </a:rPr>
              <a:t>조판 엔진: 하드커버 PDF(CMYK 300DPI) 또는 ePub 생성 → MinIO 저장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4102608"/>
            <a:ext cx="502920" cy="658368"/>
          </a:xfrm>
          <a:prstGeom prst="rect">
            <a:avLst/>
          </a:prstGeom>
          <a:solidFill>
            <a:srgbClr val="1E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13" name="Down Arrow 12"/>
          <p:cNvSpPr/>
          <p:nvPr/>
        </p:nvSpPr>
        <p:spPr>
          <a:xfrm>
            <a:off x="6013551" y="5032248"/>
            <a:ext cx="164592" cy="164592"/>
          </a:xfrm>
          <a:prstGeom prst="downArrow">
            <a:avLst/>
          </a:prstGeom>
          <a:solidFill>
            <a:srgbClr val="B89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14400" y="5468112"/>
            <a:ext cx="10362895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EDA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85800"/>
          <a:lstStyle/>
          <a:p>
            <a:pPr algn="ctr"/>
            <a:r>
              <a:rPr sz="1500">
                <a:solidFill>
                  <a:srgbClr val="20242B"/>
                </a:solidFill>
                <a:latin typeface="맑은 고딕"/>
              </a:rPr>
              <a:t>완료 알림 → (하드커버) 인쇄 발주 / (ePub) 다운로드 링크 제공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0" y="5468112"/>
            <a:ext cx="502920" cy="658368"/>
          </a:xfrm>
          <a:prstGeom prst="rect">
            <a:avLst/>
          </a:prstGeom>
          <a:solidFill>
            <a:srgbClr val="1E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9096A0"/>
                </a:solidFill>
                <a:latin typeface="맑은 고딕"/>
              </a:rPr>
              <a:t>은빛실타래 · SilverYarn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94415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096A0"/>
                </a:solidFill>
                <a:latin typeface="맑은 고딕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2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02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858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B8935A"/>
                </a:solidFill>
                <a:latin typeface="맑은 고딕"/>
              </a:rPr>
              <a:t>3부 · 파이프라인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FFFFFF"/>
                </a:solidFill>
                <a:latin typeface="맑은 고딕"/>
              </a:rPr>
              <a:t>온보딩 · 가족 페어링 흐름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371600"/>
            <a:ext cx="10362895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EDA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85800"/>
          <a:lstStyle/>
          <a:p>
            <a:pPr algn="ctr"/>
            <a:r>
              <a:rPr sz="1500">
                <a:solidFill>
                  <a:srgbClr val="20242B"/>
                </a:solidFill>
                <a:latin typeface="맑은 고딕"/>
              </a:rPr>
              <a:t>스마트폰 최초 수령 → 설치모드 자동분기 → 초기설정(이름·Wi-Fi 등록)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1371600"/>
            <a:ext cx="502920" cy="658368"/>
          </a:xfrm>
          <a:prstGeom prst="rect">
            <a:avLst/>
          </a:prstGeom>
          <a:solidFill>
            <a:srgbClr val="1E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7" name="Down Arrow 6"/>
          <p:cNvSpPr/>
          <p:nvPr/>
        </p:nvSpPr>
        <p:spPr>
          <a:xfrm>
            <a:off x="6013551" y="2301240"/>
            <a:ext cx="164592" cy="164592"/>
          </a:xfrm>
          <a:prstGeom prst="downArrow">
            <a:avLst/>
          </a:prstGeom>
          <a:solidFill>
            <a:srgbClr val="B89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14400" y="2737104"/>
            <a:ext cx="10362895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EDA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85800"/>
          <a:lstStyle/>
          <a:p>
            <a:pPr algn="ctr"/>
            <a:r>
              <a:rPr sz="1500">
                <a:solidFill>
                  <a:srgbClr val="20242B"/>
                </a:solidFill>
                <a:latin typeface="맑은 고딕"/>
              </a:rPr>
              <a:t>개인정보 수집 동의(consent_logs)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2737104"/>
            <a:ext cx="502920" cy="658368"/>
          </a:xfrm>
          <a:prstGeom prst="rect">
            <a:avLst/>
          </a:prstGeom>
          <a:solidFill>
            <a:srgbClr val="1E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10" name="Down Arrow 9"/>
          <p:cNvSpPr/>
          <p:nvPr/>
        </p:nvSpPr>
        <p:spPr>
          <a:xfrm>
            <a:off x="6013551" y="3666744"/>
            <a:ext cx="164592" cy="164592"/>
          </a:xfrm>
          <a:prstGeom prst="downArrow">
            <a:avLst/>
          </a:prstGeom>
          <a:solidFill>
            <a:srgbClr val="B89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14400" y="4102608"/>
            <a:ext cx="10362895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EDA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85800"/>
          <a:lstStyle/>
          <a:p>
            <a:pPr algn="ctr"/>
            <a:r>
              <a:rPr sz="1500">
                <a:solidFill>
                  <a:srgbClr val="20242B"/>
                </a:solidFill>
                <a:latin typeface="맑은 고딕"/>
              </a:rPr>
              <a:t>가족 계정 웹 콘솔 초대(invitations 생성·토큰 발송)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4102608"/>
            <a:ext cx="502920" cy="658368"/>
          </a:xfrm>
          <a:prstGeom prst="rect">
            <a:avLst/>
          </a:prstGeom>
          <a:solidFill>
            <a:srgbClr val="1E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13" name="Down Arrow 12"/>
          <p:cNvSpPr/>
          <p:nvPr/>
        </p:nvSpPr>
        <p:spPr>
          <a:xfrm>
            <a:off x="6013551" y="5032248"/>
            <a:ext cx="164592" cy="164592"/>
          </a:xfrm>
          <a:prstGeom prst="downArrow">
            <a:avLst/>
          </a:prstGeom>
          <a:solidFill>
            <a:srgbClr val="B89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14400" y="5468112"/>
            <a:ext cx="10362895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EDA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85800"/>
          <a:lstStyle/>
          <a:p>
            <a:pPr algn="ctr"/>
            <a:r>
              <a:rPr sz="1500">
                <a:solidFill>
                  <a:srgbClr val="20242B"/>
                </a:solidFill>
                <a:latin typeface="맑은 고딕"/>
              </a:rPr>
              <a:t>가족이 초대 수락 → 최초 Wi-Fi 동기화 → 첫 구술 인터뷰 시작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0" y="5468112"/>
            <a:ext cx="502920" cy="658368"/>
          </a:xfrm>
          <a:prstGeom prst="rect">
            <a:avLst/>
          </a:prstGeom>
          <a:solidFill>
            <a:srgbClr val="1E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9096A0"/>
                </a:solidFill>
                <a:latin typeface="맑은 고딕"/>
              </a:rPr>
              <a:t>은빛실타래 · SilverYarn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94415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096A0"/>
                </a:solidFill>
                <a:latin typeface="맑은 고딕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2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02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858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B8935A"/>
                </a:solidFill>
                <a:latin typeface="맑은 고딕"/>
              </a:rPr>
              <a:t>3부 · 파이프라인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FFFFFF"/>
                </a:solidFill>
                <a:latin typeface="맑은 고딕"/>
              </a:rPr>
              <a:t>말벗돌봄 실시간 대화 파이프라인 (저사양 단말 최적화, 8단계)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371600"/>
            <a:ext cx="10362895" cy="484632"/>
          </a:xfrm>
          <a:prstGeom prst="rect">
            <a:avLst/>
          </a:prstGeom>
          <a:solidFill>
            <a:srgbClr val="FFFFFF"/>
          </a:solidFill>
          <a:ln w="12700">
            <a:solidFill>
              <a:srgbClr val="DEDA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85800"/>
          <a:lstStyle/>
          <a:p>
            <a:pPr algn="ctr"/>
            <a:r>
              <a:rPr sz="1500">
                <a:solidFill>
                  <a:srgbClr val="20242B"/>
                </a:solidFill>
                <a:latin typeface="맑은 고딕"/>
              </a:rPr>
              <a:t>① VAD 감지(WebRTC VAD) — 800ms 묵음판정으로 발화종료 확정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1371600"/>
            <a:ext cx="502920" cy="484632"/>
          </a:xfrm>
          <a:prstGeom prst="rect">
            <a:avLst/>
          </a:prstGeom>
          <a:solidFill>
            <a:srgbClr val="1E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7" name="Down Arrow 6"/>
          <p:cNvSpPr/>
          <p:nvPr/>
        </p:nvSpPr>
        <p:spPr>
          <a:xfrm>
            <a:off x="6013551" y="1836637"/>
            <a:ext cx="164592" cy="164592"/>
          </a:xfrm>
          <a:prstGeom prst="downArrow">
            <a:avLst/>
          </a:prstGeom>
          <a:solidFill>
            <a:srgbClr val="B89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14400" y="1981635"/>
            <a:ext cx="10362895" cy="484632"/>
          </a:xfrm>
          <a:prstGeom prst="rect">
            <a:avLst/>
          </a:prstGeom>
          <a:solidFill>
            <a:srgbClr val="FFFFFF"/>
          </a:solidFill>
          <a:ln w="12700">
            <a:solidFill>
              <a:srgbClr val="DEDA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85800"/>
          <a:lstStyle/>
          <a:p>
            <a:pPr algn="ctr"/>
            <a:r>
              <a:rPr sz="1500">
                <a:solidFill>
                  <a:srgbClr val="20242B"/>
                </a:solidFill>
                <a:latin typeface="맑은 고딕"/>
              </a:rPr>
              <a:t>② 온디바이스 STT 스트리밍 디코딩 — 청크 단위 누적 처리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1981635"/>
            <a:ext cx="502920" cy="484632"/>
          </a:xfrm>
          <a:prstGeom prst="rect">
            <a:avLst/>
          </a:prstGeom>
          <a:solidFill>
            <a:srgbClr val="1E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10" name="Down Arrow 9"/>
          <p:cNvSpPr/>
          <p:nvPr/>
        </p:nvSpPr>
        <p:spPr>
          <a:xfrm>
            <a:off x="6013551" y="2446672"/>
            <a:ext cx="164592" cy="164592"/>
          </a:xfrm>
          <a:prstGeom prst="downArrow">
            <a:avLst/>
          </a:prstGeom>
          <a:solidFill>
            <a:srgbClr val="B89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14400" y="2591670"/>
            <a:ext cx="10362895" cy="484632"/>
          </a:xfrm>
          <a:prstGeom prst="rect">
            <a:avLst/>
          </a:prstGeom>
          <a:solidFill>
            <a:srgbClr val="FFFFFF"/>
          </a:solidFill>
          <a:ln w="12700">
            <a:solidFill>
              <a:srgbClr val="DEDA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85800"/>
          <a:lstStyle/>
          <a:p>
            <a:pPr algn="ctr"/>
            <a:r>
              <a:rPr sz="1500">
                <a:solidFill>
                  <a:srgbClr val="20242B"/>
                </a:solidFill>
                <a:latin typeface="맑은 고딕"/>
              </a:rPr>
              <a:t>③ 키워드 추출 &amp; 의도분류 — 경량 룰/정규식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2591670"/>
            <a:ext cx="502920" cy="484632"/>
          </a:xfrm>
          <a:prstGeom prst="rect">
            <a:avLst/>
          </a:prstGeom>
          <a:solidFill>
            <a:srgbClr val="1E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13" name="Down Arrow 12"/>
          <p:cNvSpPr/>
          <p:nvPr/>
        </p:nvSpPr>
        <p:spPr>
          <a:xfrm>
            <a:off x="6013551" y="3056707"/>
            <a:ext cx="164592" cy="164592"/>
          </a:xfrm>
          <a:prstGeom prst="downArrow">
            <a:avLst/>
          </a:prstGeom>
          <a:solidFill>
            <a:srgbClr val="B89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14400" y="3201705"/>
            <a:ext cx="10362895" cy="484632"/>
          </a:xfrm>
          <a:prstGeom prst="rect">
            <a:avLst/>
          </a:prstGeom>
          <a:solidFill>
            <a:srgbClr val="FFFFFF"/>
          </a:solidFill>
          <a:ln w="12700">
            <a:solidFill>
              <a:srgbClr val="DEDA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85800"/>
          <a:lstStyle/>
          <a:p>
            <a:pPr algn="ctr"/>
            <a:r>
              <a:rPr sz="1500">
                <a:solidFill>
                  <a:srgbClr val="20242B"/>
                </a:solidFill>
                <a:latin typeface="맑은 고딕"/>
              </a:rPr>
              <a:t>④ SQLite FTS5(BM25) 키워드 검색 — Zero-Neural RAG, 임베딩 연산 없이 자서전 청크 인출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0" y="3201705"/>
            <a:ext cx="502920" cy="484632"/>
          </a:xfrm>
          <a:prstGeom prst="rect">
            <a:avLst/>
          </a:prstGeom>
          <a:solidFill>
            <a:srgbClr val="1E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6013551" y="3666742"/>
            <a:ext cx="164592" cy="164592"/>
          </a:xfrm>
          <a:prstGeom prst="downArrow">
            <a:avLst/>
          </a:prstGeom>
          <a:solidFill>
            <a:srgbClr val="B89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14400" y="3811740"/>
            <a:ext cx="10362895" cy="484632"/>
          </a:xfrm>
          <a:prstGeom prst="rect">
            <a:avLst/>
          </a:prstGeom>
          <a:solidFill>
            <a:srgbClr val="FFFFFF"/>
          </a:solidFill>
          <a:ln w="12700">
            <a:solidFill>
              <a:srgbClr val="DEDA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85800"/>
          <a:lstStyle/>
          <a:p>
            <a:pPr algn="ctr"/>
            <a:r>
              <a:rPr sz="1500">
                <a:solidFill>
                  <a:srgbClr val="20242B"/>
                </a:solidFill>
                <a:latin typeface="맑은 고딕"/>
              </a:rPr>
              <a:t>⑤ 동적 프롬프트 합성 — 페르소나+회상기억+발화, Context 1,024 토큰 제한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4400" y="3811740"/>
            <a:ext cx="502920" cy="484632"/>
          </a:xfrm>
          <a:prstGeom prst="rect">
            <a:avLst/>
          </a:prstGeom>
          <a:solidFill>
            <a:srgbClr val="1E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맑은 고딕"/>
              </a:rPr>
              <a:t>5</a:t>
            </a:r>
          </a:p>
        </p:txBody>
      </p:sp>
      <p:sp>
        <p:nvSpPr>
          <p:cNvPr id="19" name="Down Arrow 18"/>
          <p:cNvSpPr/>
          <p:nvPr/>
        </p:nvSpPr>
        <p:spPr>
          <a:xfrm>
            <a:off x="6013551" y="4276777"/>
            <a:ext cx="164592" cy="164592"/>
          </a:xfrm>
          <a:prstGeom prst="downArrow">
            <a:avLst/>
          </a:prstGeom>
          <a:solidFill>
            <a:srgbClr val="B89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14400" y="4421775"/>
            <a:ext cx="10362895" cy="484632"/>
          </a:xfrm>
          <a:prstGeom prst="rect">
            <a:avLst/>
          </a:prstGeom>
          <a:solidFill>
            <a:srgbClr val="FFFFFF"/>
          </a:solidFill>
          <a:ln w="12700">
            <a:solidFill>
              <a:srgbClr val="DEDA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85800"/>
          <a:lstStyle/>
          <a:p>
            <a:pPr algn="ctr"/>
            <a:r>
              <a:rPr sz="1500">
                <a:solidFill>
                  <a:srgbClr val="20242B"/>
                </a:solidFill>
                <a:latin typeface="맑은 고딕"/>
              </a:rPr>
              <a:t>⑥ SLM 스트리밍 추론 — 문장 종결부호 감지 시 즉시 문장 단위 분할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4400" y="4421775"/>
            <a:ext cx="502920" cy="484632"/>
          </a:xfrm>
          <a:prstGeom prst="rect">
            <a:avLst/>
          </a:prstGeom>
          <a:solidFill>
            <a:srgbClr val="1E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맑은 고딕"/>
              </a:rPr>
              <a:t>6</a:t>
            </a:r>
          </a:p>
        </p:txBody>
      </p:sp>
      <p:sp>
        <p:nvSpPr>
          <p:cNvPr id="22" name="Down Arrow 21"/>
          <p:cNvSpPr/>
          <p:nvPr/>
        </p:nvSpPr>
        <p:spPr>
          <a:xfrm>
            <a:off x="6013551" y="4886812"/>
            <a:ext cx="164592" cy="164592"/>
          </a:xfrm>
          <a:prstGeom prst="downArrow">
            <a:avLst/>
          </a:prstGeom>
          <a:solidFill>
            <a:srgbClr val="B89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14400" y="5031810"/>
            <a:ext cx="10362895" cy="484632"/>
          </a:xfrm>
          <a:prstGeom prst="rect">
            <a:avLst/>
          </a:prstGeom>
          <a:solidFill>
            <a:srgbClr val="FFFFFF"/>
          </a:solidFill>
          <a:ln w="12700">
            <a:solidFill>
              <a:srgbClr val="DEDA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85800"/>
          <a:lstStyle/>
          <a:p>
            <a:pPr algn="ctr"/>
            <a:r>
              <a:rPr sz="1500">
                <a:solidFill>
                  <a:srgbClr val="20242B"/>
                </a:solidFill>
                <a:latin typeface="맑은 고딕"/>
              </a:rPr>
              <a:t>⑦ 문장 단위 TTS 파이프라이닝 — 전체 응답 대기 없이 첫 문장 즉시 합성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14400" y="5031810"/>
            <a:ext cx="502920" cy="484632"/>
          </a:xfrm>
          <a:prstGeom prst="rect">
            <a:avLst/>
          </a:prstGeom>
          <a:solidFill>
            <a:srgbClr val="1E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맑은 고딕"/>
              </a:rPr>
              <a:t>7</a:t>
            </a:r>
          </a:p>
        </p:txBody>
      </p:sp>
      <p:sp>
        <p:nvSpPr>
          <p:cNvPr id="25" name="Down Arrow 24"/>
          <p:cNvSpPr/>
          <p:nvPr/>
        </p:nvSpPr>
        <p:spPr>
          <a:xfrm>
            <a:off x="6013551" y="5496847"/>
            <a:ext cx="164592" cy="164592"/>
          </a:xfrm>
          <a:prstGeom prst="downArrow">
            <a:avLst/>
          </a:prstGeom>
          <a:solidFill>
            <a:srgbClr val="B89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14400" y="5641845"/>
            <a:ext cx="10362895" cy="484632"/>
          </a:xfrm>
          <a:prstGeom prst="rect">
            <a:avLst/>
          </a:prstGeom>
          <a:solidFill>
            <a:srgbClr val="FFFFFF"/>
          </a:solidFill>
          <a:ln w="12700">
            <a:solidFill>
              <a:srgbClr val="DEDA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85800"/>
          <a:lstStyle/>
          <a:p>
            <a:pPr algn="ctr"/>
            <a:r>
              <a:rPr sz="1500">
                <a:solidFill>
                  <a:srgbClr val="20242B"/>
                </a:solidFill>
                <a:latin typeface="맑은 고딕"/>
              </a:rPr>
              <a:t>⑧ 로컬 DB 영속화 — 발화·참조챕터ID·응답소요시간 기록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14400" y="5641845"/>
            <a:ext cx="502920" cy="484632"/>
          </a:xfrm>
          <a:prstGeom prst="rect">
            <a:avLst/>
          </a:prstGeom>
          <a:solidFill>
            <a:srgbClr val="1E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맑은 고딕"/>
              </a:rPr>
              <a:t>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6080760"/>
            <a:ext cx="110944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9096A0"/>
                </a:solidFill>
                <a:latin typeface="맑은 고딕"/>
              </a:rPr>
              <a:t>핵심 최적화: 임베딩모델 미상주(RAM 절감) + 문장단위 스트리밍(체감속도 단축) — decisions.md #31,#32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9096A0"/>
                </a:solidFill>
                <a:latin typeface="맑은 고딕"/>
              </a:rPr>
              <a:t>은빛실타래 · SilverYarn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094415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096A0"/>
                </a:solidFill>
                <a:latin typeface="맑은 고딕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2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02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858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B8935A"/>
                </a:solidFill>
                <a:latin typeface="맑은 고딕"/>
              </a:rPr>
              <a:t>3부 · 파이프라인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FFFFFF"/>
                </a:solidFill>
                <a:latin typeface="맑은 고딕"/>
              </a:rPr>
              <a:t>메모리 예산 목표치 (RAM 4GB급 단말 기준)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325880"/>
          <a:ext cx="11094413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67082"/>
                <a:gridCol w="2560249"/>
                <a:gridCol w="4267082"/>
              </a:tblGrid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</a:rPr>
                        <a:t>모듈</a:t>
                      </a:r>
                    </a:p>
                  </a:txBody>
                  <a:tcPr anchor="ctr" marT="50800" marB="50800">
                    <a:solidFill>
                      <a:srgbClr val="2024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</a:rPr>
                        <a:t>목표 RAM</a:t>
                      </a:r>
                    </a:p>
                  </a:txBody>
                  <a:tcPr anchor="ctr" marT="50800" marB="50800">
                    <a:solidFill>
                      <a:srgbClr val="2024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</a:rPr>
                        <a:t>비고</a:t>
                      </a:r>
                    </a:p>
                  </a:txBody>
                  <a:tcPr anchor="ctr" marT="50800" marB="50800">
                    <a:solidFill>
                      <a:srgbClr val="20242B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20242B"/>
                          </a:solidFill>
                          <a:latin typeface="맑은 고딕"/>
                        </a:rPr>
                        <a:t>VAD (WebRTC VAD)</a:t>
                      </a:r>
                    </a:p>
                  </a:txBody>
                  <a:tcPr anchor="ctr" marL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20242B"/>
                          </a:solidFill>
                          <a:latin typeface="맑은 고딕"/>
                        </a:rPr>
                        <a:t>&lt; 1MB</a:t>
                      </a:r>
                    </a:p>
                  </a:txBody>
                  <a:tcPr anchor="ctr" marL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20242B"/>
                          </a:solidFill>
                          <a:latin typeface="맑은 고딕"/>
                        </a:rPr>
                        <a:t>후보</a:t>
                      </a:r>
                    </a:p>
                  </a:txBody>
                  <a:tcPr anchor="ctr" marL="76200" marT="38100" marB="381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20242B"/>
                          </a:solidFill>
                          <a:latin typeface="맑은 고딕"/>
                        </a:rPr>
                        <a:t>STT (Sherpa-ONNX 등 후보, INT8)</a:t>
                      </a:r>
                    </a:p>
                  </a:txBody>
                  <a:tcPr anchor="ctr" marL="76200" marT="38100" marB="38100">
                    <a:solidFill>
                      <a:srgbClr val="E4F0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20242B"/>
                          </a:solidFill>
                          <a:latin typeface="맑은 고딕"/>
                        </a:rPr>
                        <a:t>~95MB</a:t>
                      </a:r>
                    </a:p>
                  </a:txBody>
                  <a:tcPr anchor="ctr" marL="76200" marT="38100" marB="38100">
                    <a:solidFill>
                      <a:srgbClr val="E4F0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20242B"/>
                          </a:solidFill>
                          <a:latin typeface="맑은 고딕"/>
                        </a:rPr>
                        <a:t>후보</a:t>
                      </a:r>
                    </a:p>
                  </a:txBody>
                  <a:tcPr anchor="ctr" marL="76200" marT="38100" marB="38100">
                    <a:solidFill>
                      <a:srgbClr val="E4F0F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20242B"/>
                          </a:solidFill>
                          <a:latin typeface="맑은 고딕"/>
                        </a:rPr>
                        <a:t>로컬 RAG (SQLite FTS5)</a:t>
                      </a:r>
                    </a:p>
                  </a:txBody>
                  <a:tcPr anchor="ctr" marL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20242B"/>
                          </a:solidFill>
                          <a:latin typeface="맑은 고딕"/>
                        </a:rPr>
                        <a:t>~0MB</a:t>
                      </a:r>
                    </a:p>
                  </a:txBody>
                  <a:tcPr anchor="ctr" marL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20242B"/>
                          </a:solidFill>
                          <a:latin typeface="맑은 고딕"/>
                        </a:rPr>
                        <a:t>OS 파일 캐시 공유</a:t>
                      </a:r>
                    </a:p>
                  </a:txBody>
                  <a:tcPr anchor="ctr" marL="76200" marT="38100" marB="381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20242B"/>
                          </a:solidFill>
                          <a:latin typeface="맑은 고딕"/>
                        </a:rPr>
                        <a:t>SLM (Qwen2.5-0.5B 등 후보, Q4 양자화)</a:t>
                      </a:r>
                    </a:p>
                  </a:txBody>
                  <a:tcPr anchor="ctr" marL="76200" marT="38100" marB="38100">
                    <a:solidFill>
                      <a:srgbClr val="E4F0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20242B"/>
                          </a:solidFill>
                          <a:latin typeface="맑은 고딕"/>
                        </a:rPr>
                        <a:t>~680MB</a:t>
                      </a:r>
                    </a:p>
                  </a:txBody>
                  <a:tcPr anchor="ctr" marL="76200" marT="38100" marB="38100">
                    <a:solidFill>
                      <a:srgbClr val="E4F0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20242B"/>
                          </a:solidFill>
                          <a:latin typeface="맑은 고딕"/>
                        </a:rPr>
                        <a:t>Context+KV캐시 포함</a:t>
                      </a:r>
                    </a:p>
                  </a:txBody>
                  <a:tcPr anchor="ctr" marL="76200" marT="38100" marB="38100">
                    <a:solidFill>
                      <a:srgbClr val="E4F0F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20242B"/>
                          </a:solidFill>
                          <a:latin typeface="맑은 고딕"/>
                        </a:rPr>
                        <a:t>TTS (Android 네이티브)</a:t>
                      </a:r>
                    </a:p>
                  </a:txBody>
                  <a:tcPr anchor="ctr" marL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20242B"/>
                          </a:solidFill>
                          <a:latin typeface="맑은 고딕"/>
                        </a:rPr>
                        <a:t>~0MB</a:t>
                      </a:r>
                    </a:p>
                  </a:txBody>
                  <a:tcPr anchor="ctr" marL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20242B"/>
                          </a:solidFill>
                          <a:latin typeface="맑은 고딕"/>
                        </a:rPr>
                        <a:t>시스템 서비스</a:t>
                      </a:r>
                    </a:p>
                  </a:txBody>
                  <a:tcPr anchor="ctr" marL="76200" marT="38100" marB="381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20242B"/>
                          </a:solidFill>
                          <a:latin typeface="맑은 고딕"/>
                        </a:rPr>
                        <a:t>앱 런타임(UI·Room·코루틴)</a:t>
                      </a:r>
                    </a:p>
                  </a:txBody>
                  <a:tcPr anchor="ctr" marL="76200" marT="38100" marB="38100">
                    <a:solidFill>
                      <a:srgbClr val="E4F0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20242B"/>
                          </a:solidFill>
                          <a:latin typeface="맑은 고딕"/>
                        </a:rPr>
                        <a:t>~75MB</a:t>
                      </a:r>
                    </a:p>
                  </a:txBody>
                  <a:tcPr anchor="ctr" marL="76200" marT="38100" marB="38100">
                    <a:solidFill>
                      <a:srgbClr val="E4F0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20242B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anchor="ctr" marL="76200" marT="38100" marB="38100">
                    <a:solidFill>
                      <a:srgbClr val="E4F0F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20242B"/>
                          </a:solidFill>
                          <a:latin typeface="맑은 고딕"/>
                        </a:rPr>
                        <a:t>합계(목표)</a:t>
                      </a:r>
                    </a:p>
                  </a:txBody>
                  <a:tcPr anchor="ctr" marL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20242B"/>
                          </a:solidFill>
                          <a:latin typeface="맑은 고딕"/>
                        </a:rPr>
                        <a:t>~850MB</a:t>
                      </a:r>
                    </a:p>
                  </a:txBody>
                  <a:tcPr anchor="ctr" marL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20242B"/>
                          </a:solidFill>
                          <a:latin typeface="맑은 고딕"/>
                        </a:rPr>
                        <a:t>4GB 단말 대비 안전마진 확보 목표</a:t>
                      </a:r>
                    </a:p>
                  </a:txBody>
                  <a:tcPr anchor="ctr" marL="76200" marT="38100" marB="381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6080760"/>
            <a:ext cx="110944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9096A0"/>
                </a:solidFill>
                <a:latin typeface="맑은 고딕"/>
              </a:rPr>
              <a:t>⚠️ 제안자 설계 목표치 — 구체 라이브러리·수치는 실기기 벤치마크(decisions.md #27) 전까지 미검증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9096A0"/>
                </a:solidFill>
                <a:latin typeface="맑은 고딕"/>
              </a:rPr>
              <a:t>은빛실타래 · SilverYarn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096A0"/>
                </a:solidFill>
                <a:latin typeface="맑은 고딕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02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02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858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B8935A"/>
                </a:solidFill>
                <a:latin typeface="맑은 고딕"/>
              </a:rPr>
              <a:t>3부 · 파이프라인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FFFFFF"/>
                </a:solidFill>
                <a:latin typeface="맑은 고딕"/>
              </a:rPr>
              <a:t>Wi-Fi 하향 동기화 페이로드 예시 (GET /api/v1/sync/download)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371600"/>
            <a:ext cx="10911535" cy="4937760"/>
          </a:xfrm>
          <a:prstGeom prst="rect">
            <a:avLst/>
          </a:prstGeom>
          <a:solidFill>
            <a:srgbClr val="1518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28600"/>
          <a:lstStyle/>
          <a:p>
            <a:pPr algn="ctr">
              <a:spcAft>
                <a:spcPts val="200"/>
              </a:spcAft>
            </a:pPr>
            <a:r>
              <a:rPr sz="1300">
                <a:solidFill>
                  <a:srgbClr val="E4F0F2"/>
                </a:solidFill>
                <a:latin typeface="Consolas"/>
              </a:rPr>
              <a:t>{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E4F0F2"/>
                </a:solidFill>
                <a:latin typeface="Consolas"/>
              </a:rPr>
              <a:t>  "data": {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E4F0F2"/>
                </a:solidFill>
                <a:latin typeface="Consolas"/>
              </a:rPr>
              <a:t>    "sync_version": "sync_v20260906_02",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E4F0F2"/>
                </a:solidFill>
                <a:latin typeface="Consolas"/>
              </a:rPr>
              <a:t>    "chapter_updates": [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E4F0F2"/>
                </a:solidFill>
                <a:latin typeface="Consolas"/>
              </a:rPr>
              <a:t>      {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E4F0F2"/>
                </a:solidFill>
                <a:latin typeface="Consolas"/>
              </a:rPr>
              <a:t>        "chapter_id": "b3f1...-uuid",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E4F0F2"/>
                </a:solidFill>
                <a:latin typeface="Consolas"/>
              </a:rPr>
              <a:t>        "chapter_no": 2,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E4F0F2"/>
                </a:solidFill>
                <a:latin typeface="Consolas"/>
              </a:rPr>
              <a:t>        "period": "youth",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E4F0F2"/>
                </a:solidFill>
                <a:latin typeface="Consolas"/>
              </a:rPr>
              <a:t>        "keywords": ["1978년", "인천공장", "김반장", "월급"],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E4F0F2"/>
                </a:solidFill>
                <a:latin typeface="Consolas"/>
              </a:rPr>
              <a:t>        "summary": "1978년 인천 기계공장 근무 시절 김 반장과의 갈등 및 극복기"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E4F0F2"/>
                </a:solidFill>
                <a:latin typeface="Consolas"/>
              </a:rPr>
              <a:t>      }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E4F0F2"/>
                </a:solidFill>
                <a:latin typeface="Consolas"/>
              </a:rPr>
              <a:t>    ],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E4F0F2"/>
                </a:solidFill>
                <a:latin typeface="Consolas"/>
              </a:rPr>
              <a:t>    "priority_questions": [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E4F0F2"/>
                </a:solidFill>
                <a:latin typeface="Consolas"/>
              </a:rPr>
              <a:t>      { "question_id": "q_...-uuid",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E4F0F2"/>
                </a:solidFill>
                <a:latin typeface="Consolas"/>
              </a:rPr>
              <a:t>        "text": "인천 공장 계실 때 첫 월급 타서 사모님께 어떤 선물을 하셨는지 기억나세요?",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E4F0F2"/>
                </a:solidFill>
                <a:latin typeface="Consolas"/>
              </a:rPr>
              <a:t>        "type": "follow_up" }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E4F0F2"/>
                </a:solidFill>
                <a:latin typeface="Consolas"/>
              </a:rPr>
              <a:t>    ],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E4F0F2"/>
                </a:solidFill>
                <a:latin typeface="Consolas"/>
              </a:rPr>
              <a:t>    "schedule_items": [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E4F0F2"/>
                </a:solidFill>
                <a:latin typeface="Consolas"/>
              </a:rPr>
              <a:t>      { "id": "s_...-uuid", "kind": "medication",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E4F0F2"/>
                </a:solidFill>
                <a:latin typeface="Consolas"/>
              </a:rPr>
              <a:t>        "due_at": "2026-09-07T08:30:00+09:00", "description": "혈압약" }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E4F0F2"/>
                </a:solidFill>
                <a:latin typeface="Consolas"/>
              </a:rPr>
              <a:t>    ]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E4F0F2"/>
                </a:solidFill>
                <a:latin typeface="Consolas"/>
              </a:rPr>
              <a:t>  }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E4F0F2"/>
                </a:solidFill>
                <a:latin typeface="Consolas"/>
              </a:rPr>
              <a:t>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355080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B8935A"/>
                </a:solidFill>
                <a:latin typeface="맑은 고딕"/>
              </a:rPr>
              <a:t>필드 케이싱: 서버 wire format은 snake_case 확정 (decisions.md #20) — Design 문서 §4.3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9096A0"/>
                </a:solidFill>
                <a:latin typeface="맑은 고딕"/>
              </a:rPr>
              <a:t>은빛실타래 · SilverYarn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096A0"/>
                </a:solidFill>
                <a:latin typeface="맑은 고딕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2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02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858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B8935A"/>
                </a:solidFill>
                <a:latin typeface="맑은 고딕"/>
              </a:rPr>
              <a:t>3부 · 파이프라인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FFFFFF"/>
                </a:solidFill>
                <a:latin typeface="맑은 고딕"/>
              </a:rPr>
              <a:t>온디바이스 로컬 스키마 (mobile-schema.md, 신규)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325880"/>
          <a:ext cx="11094414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13666"/>
                <a:gridCol w="7680748"/>
              </a:tblGrid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</a:rPr>
                        <a:t>테이블</a:t>
                      </a:r>
                    </a:p>
                  </a:txBody>
                  <a:tcPr anchor="ctr" marT="50800" marB="50800">
                    <a:solidFill>
                      <a:srgbClr val="2024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</a:rPr>
                        <a:t>역할</a:t>
                      </a:r>
                    </a:p>
                  </a:txBody>
                  <a:tcPr anchor="ctr" marT="50800" marB="50800">
                    <a:solidFill>
                      <a:srgbClr val="20242B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20242B"/>
                          </a:solidFill>
                          <a:latin typeface="맑은 고딕"/>
                        </a:rPr>
                        <a:t>conversations</a:t>
                      </a:r>
                    </a:p>
                  </a:txBody>
                  <a:tcPr anchor="ctr" marL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20242B"/>
                          </a:solidFill>
                          <a:latin typeface="맑은 고딕"/>
                        </a:rPr>
                        <a:t>구술/대화 턴 로컬 버퍼 — 업로드 성공 시 오디오만 삭제, 텍스트는 5일 유지</a:t>
                      </a:r>
                    </a:p>
                  </a:txBody>
                  <a:tcPr anchor="ctr" marL="76200" marT="38100" marB="381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20242B"/>
                          </a:solidFill>
                          <a:latin typeface="맑은 고딕"/>
                        </a:rPr>
                        <a:t>autobiography_fts</a:t>
                      </a:r>
                    </a:p>
                  </a:txBody>
                  <a:tcPr anchor="ctr" marL="76200" marT="38100" marB="38100">
                    <a:solidFill>
                      <a:srgbClr val="E4F0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20242B"/>
                          </a:solidFill>
                          <a:latin typeface="맑은 고딕"/>
                        </a:rPr>
                        <a:t>자서전 로컬 검색 인덱스 (FTS5 가상테이블, Zero-Neural RAG 핵심)</a:t>
                      </a:r>
                    </a:p>
                  </a:txBody>
                  <a:tcPr anchor="ctr" marL="76200" marT="38100" marB="38100">
                    <a:solidFill>
                      <a:srgbClr val="E4F0F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20242B"/>
                          </a:solidFill>
                          <a:latin typeface="맑은 고딕"/>
                        </a:rPr>
                        <a:t>questions_cache</a:t>
                      </a:r>
                    </a:p>
                  </a:txBody>
                  <a:tcPr anchor="ctr" marL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20242B"/>
                          </a:solidFill>
                          <a:latin typeface="맑은 고딕"/>
                        </a:rPr>
                        <a:t>회고 질문 큐 로컬 캐시</a:t>
                      </a:r>
                    </a:p>
                  </a:txBody>
                  <a:tcPr anchor="ctr" marL="76200" marT="38100" marB="381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20242B"/>
                          </a:solidFill>
                          <a:latin typeface="맑은 고딕"/>
                        </a:rPr>
                        <a:t>unrecalled_photos</a:t>
                      </a:r>
                    </a:p>
                  </a:txBody>
                  <a:tcPr anchor="ctr" marL="76200" marT="38100" marB="38100">
                    <a:solidFill>
                      <a:srgbClr val="E4F0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20242B"/>
                          </a:solidFill>
                          <a:latin typeface="맑은 고딕"/>
                        </a:rPr>
                        <a:t>미회고 사진 큐 로컬 캐시 — 대화 세션 시작 시 최우선 제시</a:t>
                      </a:r>
                    </a:p>
                  </a:txBody>
                  <a:tcPr anchor="ctr" marL="76200" marT="38100" marB="38100">
                    <a:solidFill>
                      <a:srgbClr val="E4F0F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20242B"/>
                          </a:solidFill>
                          <a:latin typeface="맑은 고딕"/>
                        </a:rPr>
                        <a:t>schedule_cache</a:t>
                      </a:r>
                    </a:p>
                  </a:txBody>
                  <a:tcPr anchor="ctr" marL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20242B"/>
                          </a:solidFill>
                          <a:latin typeface="맑은 고딕"/>
                        </a:rPr>
                        <a:t>일정·복약 로컬 캐시 (오프라인 등록분 포함)</a:t>
                      </a:r>
                    </a:p>
                  </a:txBody>
                  <a:tcPr anchor="ctr" marL="76200" marT="38100" marB="381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20242B"/>
                          </a:solidFill>
                          <a:latin typeface="맑은 고딕"/>
                        </a:rPr>
                        <a:t>device_state</a:t>
                      </a:r>
                    </a:p>
                  </a:txBody>
                  <a:tcPr anchor="ctr" marL="76200" marT="38100" marB="38100">
                    <a:solidFill>
                      <a:srgbClr val="E4F0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20242B"/>
                          </a:solidFill>
                          <a:latin typeface="맑은 고딕"/>
                        </a:rPr>
                        <a:t>설치모드·Wi-Fi 등록정보(로컬 전용)·SLM/프롬프트팩 버전</a:t>
                      </a:r>
                    </a:p>
                  </a:txBody>
                  <a:tcPr anchor="ctr" marL="76200" marT="38100" marB="38100">
                    <a:solidFill>
                      <a:srgbClr val="E4F0F2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9096A0"/>
                </a:solidFill>
                <a:latin typeface="맑은 고딕"/>
              </a:rPr>
              <a:t>은빛실타래 · SilverYarn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096A0"/>
                </a:solidFill>
                <a:latin typeface="맑은 고딕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7A8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468880"/>
            <a:ext cx="3657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6000" b="1">
                <a:solidFill>
                  <a:srgbClr val="155C6B"/>
                </a:solidFill>
                <a:latin typeface="맑은 고딕"/>
              </a:rP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3832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1">
                <a:solidFill>
                  <a:srgbClr val="FFFFFF"/>
                </a:solidFill>
                <a:latin typeface="맑은 고딕"/>
              </a:rPr>
              <a:t>데이터 모델 &amp; API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E4F0F2"/>
                </a:solidFill>
                <a:latin typeface="맑은 고딕"/>
              </a:rPr>
              <a:t>17개 엔티티 · 표준 API 설계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9096A0"/>
                </a:solidFill>
                <a:latin typeface="맑은 고딕"/>
              </a:rPr>
              <a:t>은빛실타래 · SilverYarn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096A0"/>
                </a:solidFill>
                <a:latin typeface="맑은 고딕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2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02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858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B8935A"/>
                </a:solidFill>
                <a:latin typeface="맑은 고딕"/>
              </a:rPr>
              <a:t>4부 · 데이터/API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FFFFFF"/>
                </a:solidFill>
                <a:latin typeface="맑은 고딕"/>
              </a:rPr>
              <a:t>데이터 모델 개요 — 17개 엔티티 (schema.md v1.1)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91153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900" b="0">
                <a:solidFill>
                  <a:srgbClr val="20242B"/>
                </a:solidFill>
                <a:latin typeface="맑은 고딕"/>
              </a:rPr>
              <a:t>▪  핵심: users · family_members · devices · chapters · chapter_revisions</a:t>
            </a:r>
          </a:p>
          <a:p>
            <a:pPr algn="l">
              <a:spcAft>
                <a:spcPts val="1000"/>
              </a:spcAft>
            </a:pPr>
            <a:r>
              <a:rPr sz="1900" b="0">
                <a:solidFill>
                  <a:srgbClr val="20242B"/>
                </a:solidFill>
                <a:latin typeface="맑은 고딕"/>
              </a:rPr>
              <a:t>▪  사진/구술: photos · photo_requests · conversation_chunks · questions</a:t>
            </a:r>
          </a:p>
          <a:p>
            <a:pPr algn="l">
              <a:spcAft>
                <a:spcPts val="1000"/>
              </a:spcAft>
            </a:pPr>
            <a:r>
              <a:rPr sz="1900" b="0">
                <a:solidFill>
                  <a:srgbClr val="20242B"/>
                </a:solidFill>
                <a:latin typeface="맑은 고딕"/>
              </a:rPr>
              <a:t>▪  비서/정서: schedule_items · emotion_alerts · emotion_scores</a:t>
            </a:r>
          </a:p>
          <a:p>
            <a:pPr algn="l">
              <a:spcAft>
                <a:spcPts val="1000"/>
              </a:spcAft>
            </a:pPr>
            <a:r>
              <a:rPr sz="1900" b="0">
                <a:solidFill>
                  <a:srgbClr val="20242B"/>
                </a:solidFill>
                <a:latin typeface="맑은 고딕"/>
              </a:rPr>
              <a:t>▪  운영/거버넌스: sync_sessions · consent_logs · notification_settings · invitations · publications</a:t>
            </a:r>
          </a:p>
          <a:p>
            <a:pPr algn="l">
              <a:spcAft>
                <a:spcPts val="1000"/>
              </a:spcAft>
            </a:pPr>
            <a:r>
              <a:rPr sz="1900" b="1">
                <a:solidFill>
                  <a:srgbClr val="155C6B"/>
                </a:solidFill>
                <a:latin typeface="맑은 고딕"/>
              </a:rPr>
              <a:t>▪  설계 원칙: DB enum은 영문 통일(표시명은 별도 매핑), API는 snake_case, 구독·결제 도메인은 Phase 1 스코프 아웃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9096A0"/>
                </a:solidFill>
                <a:latin typeface="맑은 고딕"/>
              </a:rPr>
              <a:t>은빛실타래 · SilverYarn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096A0"/>
                </a:solidFill>
                <a:latin typeface="맑은 고딕"/>
              </a:rP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2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02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858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B8935A"/>
                </a:solidFill>
                <a:latin typeface="맑은 고딕"/>
              </a:rPr>
              <a:t>4부 · 데이터/API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FFFFFF"/>
                </a:solidFill>
                <a:latin typeface="맑은 고딕"/>
              </a:rPr>
              <a:t>핵심 엔티티 관계 (요약 ERD)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2377440" cy="731520"/>
          </a:xfrm>
          <a:prstGeom prst="rect">
            <a:avLst/>
          </a:prstGeom>
          <a:solidFill>
            <a:srgbClr val="1E7A8C"/>
          </a:solidFill>
          <a:ln w="12700">
            <a:solidFill>
              <a:srgbClr val="DEDA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</a:rPr>
              <a:t>users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3291840" y="1371600"/>
            <a:ext cx="237744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1E7A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20242B"/>
                </a:solidFill>
                <a:latin typeface="맑은 고딕"/>
              </a:rPr>
              <a:t>family_members</a:t>
            </a:r>
          </a:p>
        </p:txBody>
      </p:sp>
      <p:sp>
        <p:nvSpPr>
          <p:cNvPr id="7" name="Rectangle 6"/>
          <p:cNvSpPr/>
          <p:nvPr/>
        </p:nvSpPr>
        <p:spPr>
          <a:xfrm>
            <a:off x="6035040" y="1371600"/>
            <a:ext cx="237744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1E7A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20242B"/>
                </a:solidFill>
                <a:latin typeface="맑은 고딕"/>
              </a:rPr>
              <a:t>devices → sync_sessions</a:t>
            </a:r>
          </a:p>
        </p:txBody>
      </p:sp>
      <p:sp>
        <p:nvSpPr>
          <p:cNvPr id="8" name="Rectangle 7"/>
          <p:cNvSpPr/>
          <p:nvPr/>
        </p:nvSpPr>
        <p:spPr>
          <a:xfrm>
            <a:off x="8778240" y="1371600"/>
            <a:ext cx="274320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1E7A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20242B"/>
                </a:solidFill>
                <a:latin typeface="맑은 고딕"/>
              </a:rPr>
              <a:t>invitations / notification_settings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468880"/>
            <a:ext cx="237744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B893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20242B"/>
                </a:solidFill>
                <a:latin typeface="맑은 고딕"/>
              </a:rPr>
              <a:t>chapters → chapter_revisions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91840" y="2468880"/>
            <a:ext cx="237744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B893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20242B"/>
                </a:solidFill>
                <a:latin typeface="맑은 고딕"/>
              </a:rPr>
              <a:t>photos ↔ conversation_chunks</a:t>
            </a:r>
          </a:p>
          <a:p>
            <a:pPr algn="ctr"/>
            <a:r>
              <a:rPr sz="1100" b="0">
                <a:solidFill>
                  <a:srgbClr val="20242B"/>
                </a:solidFill>
                <a:latin typeface="맑은 고딕"/>
              </a:rPr>
              <a:t>(+ graph_node_ref → Neo4j)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35040" y="2468880"/>
            <a:ext cx="237744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B893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20242B"/>
                </a:solidFill>
                <a:latin typeface="맑은 고딕"/>
              </a:rPr>
              <a:t>photo_requests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778240" y="2468880"/>
            <a:ext cx="274320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B893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20242B"/>
                </a:solidFill>
                <a:latin typeface="맑은 고딕"/>
              </a:rPr>
              <a:t>questions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566160"/>
            <a:ext cx="237744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8E97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20242B"/>
                </a:solidFill>
                <a:latin typeface="맑은 고딕"/>
              </a:rPr>
              <a:t>schedule_items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91840" y="3566160"/>
            <a:ext cx="237744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8E97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20242B"/>
                </a:solidFill>
                <a:latin typeface="맑은 고딕"/>
              </a:rPr>
              <a:t>emotion_alerts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35040" y="3566160"/>
            <a:ext cx="237744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8E97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20242B"/>
                </a:solidFill>
                <a:latin typeface="맑은 고딕"/>
              </a:rPr>
              <a:t>emotion_scores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778240" y="3566160"/>
            <a:ext cx="274320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8E97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20242B"/>
                </a:solidFill>
                <a:latin typeface="맑은 고딕"/>
              </a:rPr>
              <a:t>consent_logs / publications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4663440"/>
            <a:ext cx="10972800" cy="640080"/>
          </a:xfrm>
          <a:prstGeom prst="rect">
            <a:avLst/>
          </a:prstGeom>
          <a:solidFill>
            <a:srgbClr val="20242B"/>
          </a:solidFill>
          <a:ln w="12700">
            <a:solidFill>
              <a:srgbClr val="DEDA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FFFFFF"/>
                </a:solidFill>
                <a:latin typeface="맑은 고딕"/>
              </a:rPr>
              <a:t>모든 엔티티는 users를 루트로 하는 1:N 소유 구조 — 상세 DDL은 schema.md §5 참조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9096A0"/>
                </a:solidFill>
                <a:latin typeface="맑은 고딕"/>
              </a:rPr>
              <a:t>은빛실타래 · SilverYarn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94415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096A0"/>
                </a:solidFill>
                <a:latin typeface="맑은 고딕"/>
              </a:rP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2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02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858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B8935A"/>
                </a:solidFill>
                <a:latin typeface="맑은 고딕"/>
              </a:rPr>
              <a:t>4부 · 데이터/API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FFFFFF"/>
                </a:solidFill>
                <a:latin typeface="맑은 고딕"/>
              </a:rPr>
              <a:t>API 설계 개요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325880"/>
          <a:ext cx="11094414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73603"/>
                <a:gridCol w="8320811"/>
              </a:tblGrid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</a:rPr>
                        <a:t>항목</a:t>
                      </a:r>
                    </a:p>
                  </a:txBody>
                  <a:tcPr anchor="ctr" marT="50800" marB="50800">
                    <a:solidFill>
                      <a:srgbClr val="2024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</a:rPr>
                        <a:t>내용</a:t>
                      </a:r>
                    </a:p>
                  </a:txBody>
                  <a:tcPr anchor="ctr" marT="50800" marB="50800">
                    <a:solidFill>
                      <a:srgbClr val="20242B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20242B"/>
                          </a:solidFill>
                          <a:latin typeface="맑은 고딕"/>
                        </a:rPr>
                        <a:t>프레임워크</a:t>
                      </a:r>
                    </a:p>
                  </a:txBody>
                  <a:tcPr anchor="ctr" marL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20242B"/>
                          </a:solidFill>
                          <a:latin typeface="맑은 고딕"/>
                        </a:rPr>
                        <a:t>Python 3.11+ / FastAPI (온프레미스 자체 호스팅, 확정)</a:t>
                      </a:r>
                    </a:p>
                  </a:txBody>
                  <a:tcPr anchor="ctr" marL="76200" marT="38100" marB="381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20242B"/>
                          </a:solidFill>
                          <a:latin typeface="맑은 고딕"/>
                        </a:rPr>
                        <a:t>버전 관리</a:t>
                      </a:r>
                    </a:p>
                  </a:txBody>
                  <a:tcPr anchor="ctr" marL="76200" marT="38100" marB="38100">
                    <a:solidFill>
                      <a:srgbClr val="E4F0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20242B"/>
                          </a:solidFill>
                          <a:latin typeface="맑은 고딕"/>
                        </a:rPr>
                        <a:t>/api/v1 프리픽스, 리소스는 소유자(users) 하위로 중첩</a:t>
                      </a:r>
                    </a:p>
                  </a:txBody>
                  <a:tcPr anchor="ctr" marL="76200" marT="38100" marB="38100">
                    <a:solidFill>
                      <a:srgbClr val="E4F0F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20242B"/>
                          </a:solidFill>
                          <a:latin typeface="맑은 고딕"/>
                        </a:rPr>
                        <a:t>표준 응답 포맷</a:t>
                      </a:r>
                    </a:p>
                  </a:txBody>
                  <a:tcPr anchor="ctr" marL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20242B"/>
                          </a:solidFill>
                          <a:latin typeface="맑은 고딕"/>
                        </a:rPr>
                        <a:t>성공: {data}, 목록: {data, pagination}, 에러: {error:{code,message,details}}</a:t>
                      </a:r>
                    </a:p>
                  </a:txBody>
                  <a:tcPr anchor="ctr" marL="76200" marT="38100" marB="381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20242B"/>
                          </a:solidFill>
                          <a:latin typeface="맑은 고딕"/>
                        </a:rPr>
                        <a:t>표준 에러 코드</a:t>
                      </a:r>
                    </a:p>
                  </a:txBody>
                  <a:tcPr anchor="ctr" marL="76200" marT="38100" marB="38100">
                    <a:solidFill>
                      <a:srgbClr val="E4F0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20242B"/>
                          </a:solidFill>
                          <a:latin typeface="맑은 고딕"/>
                        </a:rPr>
                        <a:t>VALIDATION_ERROR(400) · UNAUTHORIZED(401) · FORBIDDEN(403) · NOT_FOUND(404) · CONFLICT(409) · INTERNAL_ERROR(500)</a:t>
                      </a:r>
                    </a:p>
                  </a:txBody>
                  <a:tcPr anchor="ctr" marL="76200" marT="38100" marB="38100">
                    <a:solidFill>
                      <a:srgbClr val="E4F0F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20242B"/>
                          </a:solidFill>
                          <a:latin typeface="맑은 고딕"/>
                        </a:rPr>
                        <a:t>필드 케이싱</a:t>
                      </a:r>
                    </a:p>
                  </a:txBody>
                  <a:tcPr anchor="ctr" marL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20242B"/>
                          </a:solidFill>
                          <a:latin typeface="맑은 고딕"/>
                        </a:rPr>
                        <a:t>서버 wire format은 snake_case 통일, 클라이언트는 각 스택 컨벤션으로 변환</a:t>
                      </a:r>
                    </a:p>
                  </a:txBody>
                  <a:tcPr anchor="ctr" marL="76200" marT="38100" marB="381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20242B"/>
                          </a:solidFill>
                          <a:latin typeface="맑은 고딕"/>
                        </a:rPr>
                        <a:t>인증</a:t>
                      </a:r>
                    </a:p>
                  </a:txBody>
                  <a:tcPr anchor="ctr" marL="76200" marT="38100" marB="38100">
                    <a:solidFill>
                      <a:srgbClr val="E4F0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20242B"/>
                          </a:solidFill>
                          <a:latin typeface="맑은 고딕"/>
                        </a:rPr>
                        <a:t>Keycloak SSO (원본 프로세스흐름도와 정합)</a:t>
                      </a:r>
                    </a:p>
                  </a:txBody>
                  <a:tcPr anchor="ctr" marL="76200" marT="38100" marB="38100">
                    <a:solidFill>
                      <a:srgbClr val="E4F0F2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9096A0"/>
                </a:solidFill>
                <a:latin typeface="맑은 고딕"/>
              </a:rPr>
              <a:t>은빛실타래 · SilverYarn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096A0"/>
                </a:solidFill>
                <a:latin typeface="맑은 고딕"/>
              </a:rP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7A8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468880"/>
            <a:ext cx="3657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6000" b="1">
                <a:solidFill>
                  <a:srgbClr val="155C6B"/>
                </a:solidFill>
                <a:latin typeface="맑은 고딕"/>
              </a:rP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3832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1">
                <a:solidFill>
                  <a:srgbClr val="FFFFFF"/>
                </a:solidFill>
                <a:latin typeface="맑은 고딕"/>
              </a:rPr>
              <a:t>UI/UX &amp; 디자인 시스템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E4F0F2"/>
                </a:solidFill>
                <a:latin typeface="맑은 고딕"/>
              </a:rPr>
              <a:t>23개 화면 · BI 가이드 기반 토큰화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9096A0"/>
                </a:solidFill>
                <a:latin typeface="맑은 고딕"/>
              </a:rPr>
              <a:t>은빛실타래 · SilverYarn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096A0"/>
                </a:solidFill>
                <a:latin typeface="맑은 고딕"/>
              </a:rPr>
              <a:t>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2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02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858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B8935A"/>
                </a:solidFill>
                <a:latin typeface="맑은 고딕"/>
              </a:rPr>
              <a:t>5부 · UI/UX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FFFFFF"/>
                </a:solidFill>
                <a:latin typeface="맑은 고딕"/>
              </a:rPr>
              <a:t>화면 인벤토리 (23개)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325880"/>
          <a:ext cx="11094414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73603"/>
                <a:gridCol w="8320811"/>
              </a:tblGrid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</a:rPr>
                        <a:t>영역</a:t>
                      </a:r>
                    </a:p>
                  </a:txBody>
                  <a:tcPr anchor="ctr" marT="50800" marB="50800">
                    <a:solidFill>
                      <a:srgbClr val="2024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</a:rPr>
                        <a:t>화면</a:t>
                      </a:r>
                    </a:p>
                  </a:txBody>
                  <a:tcPr anchor="ctr" marT="50800" marB="50800">
                    <a:solidFill>
                      <a:srgbClr val="20242B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20242B"/>
                          </a:solidFill>
                          <a:latin typeface="맑은 고딕"/>
                        </a:rPr>
                        <a:t>모바일앱(당사자)</a:t>
                      </a:r>
                    </a:p>
                  </a:txBody>
                  <a:tcPr anchor="ctr" marL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20242B"/>
                          </a:solidFill>
                          <a:latin typeface="맑은 고딕"/>
                        </a:rPr>
                        <a:t>온보딩·동의 / 홈·음성대화 / 작가모드 인터뷰 / 말벗돌봄 대화 / 비서모드 일정·복약 / 설정·동기화 / 사진 추가하기</a:t>
                      </a:r>
                    </a:p>
                  </a:txBody>
                  <a:tcPr anchor="ctr" marL="76200" marT="38100" marB="381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20242B"/>
                          </a:solidFill>
                          <a:latin typeface="맑은 고딕"/>
                        </a:rPr>
                        <a:t>웹·자서전 사용자</a:t>
                      </a:r>
                    </a:p>
                  </a:txBody>
                  <a:tcPr anchor="ctr" marL="76200" marT="38100" marB="38100">
                    <a:solidFill>
                      <a:srgbClr val="E4F0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20242B"/>
                          </a:solidFill>
                          <a:latin typeface="맑은 고딕"/>
                        </a:rPr>
                        <a:t>로그인·대시보드 / 자서전 뷰어 / 사진·타임라인 갤러리 / 계정 설정 (구독·결제는 스코프 아웃)</a:t>
                      </a:r>
                    </a:p>
                  </a:txBody>
                  <a:tcPr anchor="ctr" marL="76200" marT="38100" marB="38100">
                    <a:solidFill>
                      <a:srgbClr val="E4F0F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20242B"/>
                          </a:solidFill>
                          <a:latin typeface="맑은 고딕"/>
                        </a:rPr>
                        <a:t>웹·가족</a:t>
                      </a:r>
                    </a:p>
                  </a:txBody>
                  <a:tcPr anchor="ctr" marL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20242B"/>
                          </a:solidFill>
                          <a:latin typeface="맑은 고딕"/>
                        </a:rPr>
                        <a:t>가족 대시보드 / 원고 감수·대조편집 / 사진 업로드·타임라인 배치 / 정서 모니터링 상세 / 알림·구성원 설정</a:t>
                      </a:r>
                    </a:p>
                  </a:txBody>
                  <a:tcPr anchor="ctr" marL="76200" marT="38100" marB="381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20242B"/>
                          </a:solidFill>
                          <a:latin typeface="맑은 고딕"/>
                        </a:rPr>
                        <a:t>웹·관리자</a:t>
                      </a:r>
                    </a:p>
                  </a:txBody>
                  <a:tcPr anchor="ctr" marL="76200" marT="38100" marB="38100">
                    <a:solidFill>
                      <a:srgbClr val="E4F0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20242B"/>
                          </a:solidFill>
                          <a:latin typeface="맑은 고딕"/>
                        </a:rPr>
                        <a:t>관리자 대시보드 / 사용자 관리 / Wi-Fi 동기화 모니터링 / 정서 알림 이력 / 시스템 설정 / 기기 관리</a:t>
                      </a:r>
                    </a:p>
                  </a:txBody>
                  <a:tcPr anchor="ctr" marL="76200" marT="38100" marB="38100">
                    <a:solidFill>
                      <a:srgbClr val="E4F0F2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9096A0"/>
                </a:solidFill>
                <a:latin typeface="맑은 고딕"/>
              </a:rPr>
              <a:t>은빛실타래 · SilverYarn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096A0"/>
                </a:solidFill>
                <a:latin typeface="맑은 고딕"/>
              </a:rPr>
              <a:t>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2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02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858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B8935A"/>
                </a:solidFill>
                <a:latin typeface="맑은 고딕"/>
              </a:rPr>
              <a:t>5부 · UI/UX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FFFFFF"/>
                </a:solidFill>
                <a:latin typeface="맑은 고딕"/>
              </a:rPr>
              <a:t>디자인 시스템 — 컬러 &amp; 타이포그래피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63040"/>
            <a:ext cx="1691640" cy="1280160"/>
          </a:xfrm>
          <a:prstGeom prst="rect">
            <a:avLst/>
          </a:prstGeom>
          <a:solidFill>
            <a:srgbClr val="1E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788920"/>
            <a:ext cx="1691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20242B"/>
                </a:solidFill>
                <a:latin typeface="맑은 고딕"/>
              </a:rPr>
              <a:t>Thread Teal</a:t>
            </a:r>
          </a:p>
          <a:p>
            <a:r>
              <a:rPr sz="1100">
                <a:solidFill>
                  <a:srgbClr val="5B6472"/>
                </a:solidFill>
                <a:latin typeface="맑은 고딕"/>
              </a:rPr>
              <a:t>#1E7A8C · Primary 25%</a:t>
            </a:r>
          </a:p>
        </p:txBody>
      </p:sp>
      <p:sp>
        <p:nvSpPr>
          <p:cNvPr id="7" name="Rectangle 6"/>
          <p:cNvSpPr/>
          <p:nvPr/>
        </p:nvSpPr>
        <p:spPr>
          <a:xfrm>
            <a:off x="2468880" y="1463040"/>
            <a:ext cx="1691640" cy="1280160"/>
          </a:xfrm>
          <a:prstGeom prst="rect">
            <a:avLst/>
          </a:prstGeom>
          <a:solidFill>
            <a:srgbClr val="8E97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468880" y="2788920"/>
            <a:ext cx="1691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20242B"/>
                </a:solidFill>
                <a:latin typeface="맑은 고딕"/>
              </a:rPr>
              <a:t>Silver Mist</a:t>
            </a:r>
          </a:p>
          <a:p>
            <a:r>
              <a:rPr sz="1100">
                <a:solidFill>
                  <a:srgbClr val="5B6472"/>
                </a:solidFill>
                <a:latin typeface="맑은 고딕"/>
              </a:rPr>
              <a:t>#8E97A6 · Secondary 12%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7680" y="1463040"/>
            <a:ext cx="1691640" cy="1280160"/>
          </a:xfrm>
          <a:prstGeom prst="rect">
            <a:avLst/>
          </a:prstGeom>
          <a:solidFill>
            <a:srgbClr val="B89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0" y="2788920"/>
            <a:ext cx="1691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20242B"/>
                </a:solidFill>
                <a:latin typeface="맑은 고딕"/>
              </a:rPr>
              <a:t>Heritage Gold</a:t>
            </a:r>
          </a:p>
          <a:p>
            <a:r>
              <a:rPr sz="1100">
                <a:solidFill>
                  <a:srgbClr val="5B6472"/>
                </a:solidFill>
                <a:latin typeface="맑은 고딕"/>
              </a:rPr>
              <a:t>#B8935A · Accent 8%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0" y="1463040"/>
            <a:ext cx="1691640" cy="1280160"/>
          </a:xfrm>
          <a:prstGeom prst="rect">
            <a:avLst/>
          </a:prstGeom>
          <a:solidFill>
            <a:srgbClr val="202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0" y="2788920"/>
            <a:ext cx="1691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20242B"/>
                </a:solidFill>
                <a:latin typeface="맑은 고딕"/>
              </a:rPr>
              <a:t>Ink</a:t>
            </a:r>
          </a:p>
          <a:p>
            <a:r>
              <a:rPr sz="1100">
                <a:solidFill>
                  <a:srgbClr val="5B6472"/>
                </a:solidFill>
                <a:latin typeface="맑은 고딕"/>
              </a:rPr>
              <a:t>#20242B · Text 55%(Paper 포함)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55280" y="1463040"/>
            <a:ext cx="1691640" cy="1280160"/>
          </a:xfrm>
          <a:prstGeom prst="rect">
            <a:avLst/>
          </a:prstGeom>
          <a:solidFill>
            <a:srgbClr val="F4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55280" y="2788920"/>
            <a:ext cx="1691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20242B"/>
                </a:solidFill>
                <a:latin typeface="맑은 고딕"/>
              </a:rPr>
              <a:t>Paper Stone</a:t>
            </a:r>
          </a:p>
          <a:p>
            <a:r>
              <a:rPr sz="1100">
                <a:solidFill>
                  <a:srgbClr val="5B6472"/>
                </a:solidFill>
                <a:latin typeface="맑은 고딕"/>
              </a:rPr>
              <a:t>#F4F2EE · Base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2004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96723F"/>
                </a:solidFill>
                <a:latin typeface="맑은 고딕"/>
              </a:rPr>
              <a:t>타입 스케일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640080" y="3657600"/>
          <a:ext cx="10911535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37178"/>
                <a:gridCol w="3637178"/>
                <a:gridCol w="3637179"/>
              </a:tblGrid>
              <a:tr h="39624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</a:rPr>
                        <a:t>레벨</a:t>
                      </a:r>
                    </a:p>
                  </a:txBody>
                  <a:tcPr>
                    <a:solidFill>
                      <a:srgbClr val="2024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</a:rPr>
                        <a:t>크기/굵기</a:t>
                      </a:r>
                    </a:p>
                  </a:txBody>
                  <a:tcPr>
                    <a:solidFill>
                      <a:srgbClr val="2024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</a:rPr>
                        <a:t>서체</a:t>
                      </a:r>
                    </a:p>
                  </a:txBody>
                  <a:tcPr>
                    <a:solidFill>
                      <a:srgbClr val="20242B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0242B"/>
                          </a:solidFill>
                          <a:latin typeface="맑은 고딕"/>
                        </a:rPr>
                        <a:t>DISPLAY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0242B"/>
                          </a:solidFill>
                          <a:latin typeface="맑은 고딕"/>
                        </a:rPr>
                        <a:t>34px / 700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0242B"/>
                          </a:solidFill>
                          <a:latin typeface="맑은 고딕"/>
                        </a:rPr>
                        <a:t>Noto Serif KR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0242B"/>
                          </a:solidFill>
                          <a:latin typeface="맑은 고딕"/>
                        </a:rPr>
                        <a:t>H1</a:t>
                      </a:r>
                    </a:p>
                  </a:txBody>
                  <a:tcPr>
                    <a:solidFill>
                      <a:srgbClr val="E4F0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0242B"/>
                          </a:solidFill>
                          <a:latin typeface="맑은 고딕"/>
                        </a:rPr>
                        <a:t>26px / 700</a:t>
                      </a:r>
                    </a:p>
                  </a:txBody>
                  <a:tcPr>
                    <a:solidFill>
                      <a:srgbClr val="E4F0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0242B"/>
                          </a:solidFill>
                          <a:latin typeface="맑은 고딕"/>
                        </a:rPr>
                        <a:t>Noto Serif KR</a:t>
                      </a:r>
                    </a:p>
                  </a:txBody>
                  <a:tcPr>
                    <a:solidFill>
                      <a:srgbClr val="E4F0F2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0242B"/>
                          </a:solidFill>
                          <a:latin typeface="맑은 고딕"/>
                        </a:rPr>
                        <a:t>H2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0242B"/>
                          </a:solidFill>
                          <a:latin typeface="맑은 고딕"/>
                        </a:rPr>
                        <a:t>20px / 600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0242B"/>
                          </a:solidFill>
                          <a:latin typeface="맑은 고딕"/>
                        </a:rPr>
                        <a:t>Noto Serif KR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0242B"/>
                          </a:solidFill>
                          <a:latin typeface="맑은 고딕"/>
                        </a:rPr>
                        <a:t>BODY</a:t>
                      </a:r>
                    </a:p>
                  </a:txBody>
                  <a:tcPr>
                    <a:solidFill>
                      <a:srgbClr val="E4F0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0242B"/>
                          </a:solidFill>
                          <a:latin typeface="맑은 고딕"/>
                        </a:rPr>
                        <a:t>16px / 400</a:t>
                      </a:r>
                    </a:p>
                  </a:txBody>
                  <a:tcPr>
                    <a:solidFill>
                      <a:srgbClr val="E4F0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0242B"/>
                          </a:solidFill>
                          <a:latin typeface="맑은 고딕"/>
                        </a:rPr>
                        <a:t>Pretendard</a:t>
                      </a:r>
                    </a:p>
                  </a:txBody>
                  <a:tcPr>
                    <a:solidFill>
                      <a:srgbClr val="E4F0F2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0242B"/>
                          </a:solidFill>
                          <a:latin typeface="맑은 고딕"/>
                        </a:rPr>
                        <a:t>CAPTION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0242B"/>
                          </a:solidFill>
                          <a:latin typeface="맑은 고딕"/>
                        </a:rPr>
                        <a:t>12.5px / 500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0242B"/>
                          </a:solidFill>
                          <a:latin typeface="맑은 고딕"/>
                        </a:rPr>
                        <a:t>Pretendard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9096A0"/>
                </a:solidFill>
                <a:latin typeface="맑은 고딕"/>
              </a:rPr>
              <a:t>은빛실타래 · SilverYarn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94415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096A0"/>
                </a:solidFill>
                <a:latin typeface="맑은 고딕"/>
              </a:rPr>
              <a:t>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7A8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468880"/>
            <a:ext cx="3657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6000" b="1">
                <a:solidFill>
                  <a:srgbClr val="155C6B"/>
                </a:solidFill>
                <a:latin typeface="맑은 고딕"/>
              </a:rPr>
              <a:t>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3832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1">
                <a:solidFill>
                  <a:srgbClr val="FFFFFF"/>
                </a:solidFill>
                <a:latin typeface="맑은 고딕"/>
              </a:rPr>
              <a:t>보안 · 컨벤션 · 기술스택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E4F0F2"/>
                </a:solidFill>
                <a:latin typeface="맑은 고딕"/>
              </a:rPr>
              <a:t>3중 스택 · RBAC · 온프레미스 원칙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9096A0"/>
                </a:solidFill>
                <a:latin typeface="맑은 고딕"/>
              </a:rPr>
              <a:t>은빛실타래 · SilverYarn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096A0"/>
                </a:solidFill>
                <a:latin typeface="맑은 고딕"/>
              </a:rPr>
              <a:t>37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2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02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858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B8935A"/>
                </a:solidFill>
                <a:latin typeface="맑은 고딕"/>
              </a:rPr>
              <a:t>6부 · 보안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FFFFFF"/>
                </a:solidFill>
                <a:latin typeface="맑은 고딕"/>
              </a:rPr>
              <a:t>보안 설계 원칙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91153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900" b="0">
                <a:solidFill>
                  <a:srgbClr val="20242B"/>
                </a:solidFill>
                <a:latin typeface="맑은 고딕"/>
              </a:rPr>
              <a:t>▪  DB 암호화(AES-256) 및 전송구간 암호화(TLS 1.3) — 온디바이스 로컬 캐시도 동일 수준</a:t>
            </a:r>
          </a:p>
          <a:p>
            <a:pPr algn="l">
              <a:spcAft>
                <a:spcPts val="1000"/>
              </a:spcAft>
            </a:pPr>
            <a:r>
              <a:rPr sz="1900" b="0">
                <a:solidFill>
                  <a:srgbClr val="20242B"/>
                </a:solidFill>
                <a:latin typeface="맑은 고딕"/>
              </a:rPr>
              <a:t>▪  웹 콘솔 2FA, 역할별 차등 열람 권한(RBAC — 다음 슬라이드)</a:t>
            </a:r>
          </a:p>
          <a:p>
            <a:pPr algn="l">
              <a:spcAft>
                <a:spcPts val="1000"/>
              </a:spcAft>
            </a:pPr>
            <a:r>
              <a:rPr sz="1900" b="0">
                <a:solidFill>
                  <a:srgbClr val="20242B"/>
                </a:solidFill>
                <a:latin typeface="맑은 고딕"/>
              </a:rPr>
              <a:t>▪  외부 연계 시 PII 마스킹 전처리 + 동의 로그 필수, 미동의 시 전량 온프레미스 경로</a:t>
            </a:r>
          </a:p>
          <a:p>
            <a:pPr algn="l">
              <a:spcAft>
                <a:spcPts val="1000"/>
              </a:spcAft>
            </a:pPr>
            <a:r>
              <a:rPr sz="1900" b="0">
                <a:solidFill>
                  <a:srgbClr val="20242B"/>
                </a:solidFill>
                <a:latin typeface="맑은 고딕"/>
              </a:rPr>
              <a:t>▪  Wi-Fi 동기화는 등록된 신뢰 네트워크에서만 — SSID 등은 온디바이스 로컬 전용 저장(서버 미전송)</a:t>
            </a:r>
          </a:p>
          <a:p>
            <a:pPr algn="l">
              <a:spcAft>
                <a:spcPts val="1000"/>
              </a:spcAft>
            </a:pPr>
            <a:r>
              <a:rPr sz="1900" b="0">
                <a:solidFill>
                  <a:srgbClr val="20242B"/>
                </a:solidFill>
                <a:latin typeface="맑은 고딕"/>
              </a:rPr>
              <a:t>▪  Device Owner Mode(COSU) 채택 — 단말 탈취·우회 방지 상세 구현은 Do 단계에서 검토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9096A0"/>
                </a:solidFill>
                <a:latin typeface="맑은 고딕"/>
              </a:rPr>
              <a:t>은빛실타래 · SilverYarn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096A0"/>
                </a:solidFill>
                <a:latin typeface="맑은 고딕"/>
              </a:rPr>
              <a:t>38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2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02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858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B8935A"/>
                </a:solidFill>
                <a:latin typeface="맑은 고딕"/>
              </a:rPr>
              <a:t>6부 · 보안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FFFFFF"/>
                </a:solidFill>
                <a:latin typeface="맑은 고딕"/>
              </a:rPr>
              <a:t>RBAC 권한 매트릭스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325880"/>
          <a:ext cx="11094413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94195"/>
                <a:gridCol w="1929463"/>
                <a:gridCol w="1929463"/>
                <a:gridCol w="2411829"/>
                <a:gridCol w="1929463"/>
              </a:tblGrid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</a:rPr>
                        <a:t>리소스</a:t>
                      </a:r>
                    </a:p>
                  </a:txBody>
                  <a:tcPr anchor="ctr" marT="50800" marB="50800">
                    <a:solidFill>
                      <a:srgbClr val="2024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</a:rPr>
                        <a:t>family</a:t>
                      </a:r>
                    </a:p>
                  </a:txBody>
                  <a:tcPr anchor="ctr" marT="50800" marB="50800">
                    <a:solidFill>
                      <a:srgbClr val="2024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</a:rPr>
                        <a:t>caregiver</a:t>
                      </a:r>
                    </a:p>
                  </a:txBody>
                  <a:tcPr anchor="ctr" marT="50800" marB="50800">
                    <a:solidFill>
                      <a:srgbClr val="2024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</a:rPr>
                        <a:t>social_worker</a:t>
                      </a:r>
                    </a:p>
                  </a:txBody>
                  <a:tcPr anchor="ctr" marT="50800" marB="50800">
                    <a:solidFill>
                      <a:srgbClr val="2024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</a:rPr>
                        <a:t>admin</a:t>
                      </a:r>
                    </a:p>
                  </a:txBody>
                  <a:tcPr anchor="ctr" marT="50800" marB="50800">
                    <a:solidFill>
                      <a:srgbClr val="20242B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20242B"/>
                          </a:solidFill>
                          <a:latin typeface="맑은 고딕"/>
                        </a:rPr>
                        <a:t>챕터 조회</a:t>
                      </a:r>
                    </a:p>
                  </a:txBody>
                  <a:tcPr anchor="ctr" marL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20242B"/>
                          </a:solidFill>
                          <a:latin typeface="맑은 고딕"/>
                        </a:rPr>
                        <a:t>✅</a:t>
                      </a:r>
                    </a:p>
                  </a:txBody>
                  <a:tcPr anchor="ctr" marL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20242B"/>
                          </a:solidFill>
                          <a:latin typeface="맑은 고딕"/>
                        </a:rPr>
                        <a:t>✅</a:t>
                      </a:r>
                    </a:p>
                  </a:txBody>
                  <a:tcPr anchor="ctr" marL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20242B"/>
                          </a:solidFill>
                          <a:latin typeface="맑은 고딕"/>
                        </a:rPr>
                        <a:t>✅(동의시)</a:t>
                      </a:r>
                    </a:p>
                  </a:txBody>
                  <a:tcPr anchor="ctr" marL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20242B"/>
                          </a:solidFill>
                          <a:latin typeface="맑은 고딕"/>
                        </a:rPr>
                        <a:t>✅</a:t>
                      </a:r>
                    </a:p>
                  </a:txBody>
                  <a:tcPr anchor="ctr" marL="76200" marT="38100" marB="381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20242B"/>
                          </a:solidFill>
                          <a:latin typeface="맑은 고딕"/>
                        </a:rPr>
                        <a:t>챕터 감수(승인/반려)</a:t>
                      </a:r>
                    </a:p>
                  </a:txBody>
                  <a:tcPr anchor="ctr" marL="76200" marT="38100" marB="38100">
                    <a:solidFill>
                      <a:srgbClr val="E4F0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20242B"/>
                          </a:solidFill>
                          <a:latin typeface="맑은 고딕"/>
                        </a:rPr>
                        <a:t>✅</a:t>
                      </a:r>
                    </a:p>
                  </a:txBody>
                  <a:tcPr anchor="ctr" marL="76200" marT="38100" marB="38100">
                    <a:solidFill>
                      <a:srgbClr val="E4F0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20242B"/>
                          </a:solidFill>
                          <a:latin typeface="맑은 고딕"/>
                        </a:rPr>
                        <a:t>❌</a:t>
                      </a:r>
                    </a:p>
                  </a:txBody>
                  <a:tcPr anchor="ctr" marL="76200" marT="38100" marB="38100">
                    <a:solidFill>
                      <a:srgbClr val="E4F0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20242B"/>
                          </a:solidFill>
                          <a:latin typeface="맑은 고딕"/>
                        </a:rPr>
                        <a:t>❌</a:t>
                      </a:r>
                    </a:p>
                  </a:txBody>
                  <a:tcPr anchor="ctr" marL="76200" marT="38100" marB="38100">
                    <a:solidFill>
                      <a:srgbClr val="E4F0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20242B"/>
                          </a:solidFill>
                          <a:latin typeface="맑은 고딕"/>
                        </a:rPr>
                        <a:t>✅</a:t>
                      </a:r>
                    </a:p>
                  </a:txBody>
                  <a:tcPr anchor="ctr" marL="76200" marT="38100" marB="38100">
                    <a:solidFill>
                      <a:srgbClr val="E4F0F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20242B"/>
                          </a:solidFill>
                          <a:latin typeface="맑은 고딕"/>
                        </a:rPr>
                        <a:t>사진 업로드</a:t>
                      </a:r>
                    </a:p>
                  </a:txBody>
                  <a:tcPr anchor="ctr" marL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20242B"/>
                          </a:solidFill>
                          <a:latin typeface="맑은 고딕"/>
                        </a:rPr>
                        <a:t>✅</a:t>
                      </a:r>
                    </a:p>
                  </a:txBody>
                  <a:tcPr anchor="ctr" marL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20242B"/>
                          </a:solidFill>
                          <a:latin typeface="맑은 고딕"/>
                        </a:rPr>
                        <a:t>✅</a:t>
                      </a:r>
                    </a:p>
                  </a:txBody>
                  <a:tcPr anchor="ctr" marL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20242B"/>
                          </a:solidFill>
                          <a:latin typeface="맑은 고딕"/>
                        </a:rPr>
                        <a:t>❌</a:t>
                      </a:r>
                    </a:p>
                  </a:txBody>
                  <a:tcPr anchor="ctr" marL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20242B"/>
                          </a:solidFill>
                          <a:latin typeface="맑은 고딕"/>
                        </a:rPr>
                        <a:t>✅</a:t>
                      </a:r>
                    </a:p>
                  </a:txBody>
                  <a:tcPr anchor="ctr" marL="76200" marT="38100" marB="381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20242B"/>
                          </a:solidFill>
                          <a:latin typeface="맑은 고딕"/>
                        </a:rPr>
                        <a:t>정서 알림 조회/확인</a:t>
                      </a:r>
                    </a:p>
                  </a:txBody>
                  <a:tcPr anchor="ctr" marL="76200" marT="38100" marB="38100">
                    <a:solidFill>
                      <a:srgbClr val="E4F0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20242B"/>
                          </a:solidFill>
                          <a:latin typeface="맑은 고딕"/>
                        </a:rPr>
                        <a:t>✅</a:t>
                      </a:r>
                    </a:p>
                  </a:txBody>
                  <a:tcPr anchor="ctr" marL="76200" marT="38100" marB="38100">
                    <a:solidFill>
                      <a:srgbClr val="E4F0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20242B"/>
                          </a:solidFill>
                          <a:latin typeface="맑은 고딕"/>
                        </a:rPr>
                        <a:t>✅</a:t>
                      </a:r>
                    </a:p>
                  </a:txBody>
                  <a:tcPr anchor="ctr" marL="76200" marT="38100" marB="38100">
                    <a:solidFill>
                      <a:srgbClr val="E4F0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20242B"/>
                          </a:solidFill>
                          <a:latin typeface="맑은 고딕"/>
                        </a:rPr>
                        <a:t>✅</a:t>
                      </a:r>
                    </a:p>
                  </a:txBody>
                  <a:tcPr anchor="ctr" marL="76200" marT="38100" marB="38100">
                    <a:solidFill>
                      <a:srgbClr val="E4F0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20242B"/>
                          </a:solidFill>
                          <a:latin typeface="맑은 고딕"/>
                        </a:rPr>
                        <a:t>✅</a:t>
                      </a:r>
                    </a:p>
                  </a:txBody>
                  <a:tcPr anchor="ctr" marL="76200" marT="38100" marB="38100">
                    <a:solidFill>
                      <a:srgbClr val="E4F0F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20242B"/>
                          </a:solidFill>
                          <a:latin typeface="맑은 고딕"/>
                        </a:rPr>
                        <a:t>알림 수신 설정 변경</a:t>
                      </a:r>
                    </a:p>
                  </a:txBody>
                  <a:tcPr anchor="ctr" marL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20242B"/>
                          </a:solidFill>
                          <a:latin typeface="맑은 고딕"/>
                        </a:rPr>
                        <a:t>본인만</a:t>
                      </a:r>
                    </a:p>
                  </a:txBody>
                  <a:tcPr anchor="ctr" marL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20242B"/>
                          </a:solidFill>
                          <a:latin typeface="맑은 고딕"/>
                        </a:rPr>
                        <a:t>본인만</a:t>
                      </a:r>
                    </a:p>
                  </a:txBody>
                  <a:tcPr anchor="ctr" marL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20242B"/>
                          </a:solidFill>
                          <a:latin typeface="맑은 고딕"/>
                        </a:rPr>
                        <a:t>본인만</a:t>
                      </a:r>
                    </a:p>
                  </a:txBody>
                  <a:tcPr anchor="ctr" marL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20242B"/>
                          </a:solidFill>
                          <a:latin typeface="맑은 고딕"/>
                        </a:rPr>
                        <a:t>✅</a:t>
                      </a:r>
                    </a:p>
                  </a:txBody>
                  <a:tcPr anchor="ctr" marL="76200" marT="38100" marB="381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20242B"/>
                          </a:solidFill>
                          <a:latin typeface="맑은 고딕"/>
                        </a:rPr>
                        <a:t>기기 관리(조회)</a:t>
                      </a:r>
                    </a:p>
                  </a:txBody>
                  <a:tcPr anchor="ctr" marL="76200" marT="38100" marB="38100">
                    <a:solidFill>
                      <a:srgbClr val="E4F0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20242B"/>
                          </a:solidFill>
                          <a:latin typeface="맑은 고딕"/>
                        </a:rPr>
                        <a:t>❌</a:t>
                      </a:r>
                    </a:p>
                  </a:txBody>
                  <a:tcPr anchor="ctr" marL="76200" marT="38100" marB="38100">
                    <a:solidFill>
                      <a:srgbClr val="E4F0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20242B"/>
                          </a:solidFill>
                          <a:latin typeface="맑은 고딕"/>
                        </a:rPr>
                        <a:t>❌</a:t>
                      </a:r>
                    </a:p>
                  </a:txBody>
                  <a:tcPr anchor="ctr" marL="76200" marT="38100" marB="38100">
                    <a:solidFill>
                      <a:srgbClr val="E4F0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20242B"/>
                          </a:solidFill>
                          <a:latin typeface="맑은 고딕"/>
                        </a:rPr>
                        <a:t>❌</a:t>
                      </a:r>
                    </a:p>
                  </a:txBody>
                  <a:tcPr anchor="ctr" marL="76200" marT="38100" marB="38100">
                    <a:solidFill>
                      <a:srgbClr val="E4F0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20242B"/>
                          </a:solidFill>
                          <a:latin typeface="맑은 고딕"/>
                        </a:rPr>
                        <a:t>✅</a:t>
                      </a:r>
                    </a:p>
                  </a:txBody>
                  <a:tcPr anchor="ctr" marL="76200" marT="38100" marB="38100">
                    <a:solidFill>
                      <a:srgbClr val="E4F0F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20242B"/>
                          </a:solidFill>
                          <a:latin typeface="맑은 고딕"/>
                        </a:rPr>
                        <a:t>사용자/동기화 관리</a:t>
                      </a:r>
                    </a:p>
                  </a:txBody>
                  <a:tcPr anchor="ctr" marL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20242B"/>
                          </a:solidFill>
                          <a:latin typeface="맑은 고딕"/>
                        </a:rPr>
                        <a:t>❌</a:t>
                      </a:r>
                    </a:p>
                  </a:txBody>
                  <a:tcPr anchor="ctr" marL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20242B"/>
                          </a:solidFill>
                          <a:latin typeface="맑은 고딕"/>
                        </a:rPr>
                        <a:t>❌</a:t>
                      </a:r>
                    </a:p>
                  </a:txBody>
                  <a:tcPr anchor="ctr" marL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20242B"/>
                          </a:solidFill>
                          <a:latin typeface="맑은 고딕"/>
                        </a:rPr>
                        <a:t>❌</a:t>
                      </a:r>
                    </a:p>
                  </a:txBody>
                  <a:tcPr anchor="ctr" marL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20242B"/>
                          </a:solidFill>
                          <a:latin typeface="맑은 고딕"/>
                        </a:rPr>
                        <a:t>✅</a:t>
                      </a:r>
                    </a:p>
                  </a:txBody>
                  <a:tcPr anchor="ctr" marL="76200" marT="38100" marB="381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9096A0"/>
                </a:solidFill>
                <a:latin typeface="맑은 고딕"/>
              </a:rPr>
              <a:t>은빛실타래 · SilverYarn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096A0"/>
                </a:solidFill>
                <a:latin typeface="맑은 고딕"/>
              </a:rPr>
              <a:t>39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2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02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858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B8935A"/>
                </a:solidFill>
                <a:latin typeface="맑은 고딕"/>
              </a:rPr>
              <a:t>6부 · 보안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FFFFFF"/>
                </a:solidFill>
                <a:latin typeface="맑은 고딕"/>
              </a:rPr>
              <a:t>기술 스택 요약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325880"/>
          <a:ext cx="11094414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249"/>
                <a:gridCol w="5120499"/>
                <a:gridCol w="3413666"/>
              </a:tblGrid>
              <a:tr h="372793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영역</a:t>
                      </a:r>
                    </a:p>
                  </a:txBody>
                  <a:tcPr anchor="ctr" marT="50800" marB="50800">
                    <a:solidFill>
                      <a:srgbClr val="2024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스택</a:t>
                      </a:r>
                    </a:p>
                  </a:txBody>
                  <a:tcPr anchor="ctr" marT="50800" marB="50800">
                    <a:solidFill>
                      <a:srgbClr val="2024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상태</a:t>
                      </a:r>
                    </a:p>
                  </a:txBody>
                  <a:tcPr anchor="ctr" marT="50800" marB="50800">
                    <a:solidFill>
                      <a:srgbClr val="20242B"/>
                    </a:solidFill>
                  </a:tcPr>
                </a:tc>
              </a:tr>
              <a:tr h="372793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20242B"/>
                          </a:solidFill>
                          <a:latin typeface="맑은 고딕"/>
                        </a:rPr>
                        <a:t>모바일</a:t>
                      </a:r>
                    </a:p>
                  </a:txBody>
                  <a:tcPr anchor="ctr" marL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20242B"/>
                          </a:solidFill>
                          <a:latin typeface="맑은 고딕"/>
                        </a:rPr>
                        <a:t>Android 네이티브(Kotlin), Device Owner Mode</a:t>
                      </a:r>
                    </a:p>
                  </a:txBody>
                  <a:tcPr anchor="ctr" marL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20242B"/>
                          </a:solidFill>
                          <a:latin typeface="맑은 고딕"/>
                        </a:rPr>
                        <a:t>✅ 확정</a:t>
                      </a:r>
                    </a:p>
                  </a:txBody>
                  <a:tcPr anchor="ctr" marL="76200" marT="38100" marB="38100">
                    <a:solidFill>
                      <a:srgbClr val="FFFFFF"/>
                    </a:solidFill>
                  </a:tcPr>
                </a:tc>
              </a:tr>
              <a:tr h="372793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20242B"/>
                          </a:solidFill>
                          <a:latin typeface="맑은 고딕"/>
                        </a:rPr>
                        <a:t>서버 백엔드</a:t>
                      </a:r>
                    </a:p>
                  </a:txBody>
                  <a:tcPr anchor="ctr" marL="76200" marT="38100" marB="38100">
                    <a:solidFill>
                      <a:srgbClr val="E4F0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20242B"/>
                          </a:solidFill>
                          <a:latin typeface="맑은 고딕"/>
                        </a:rPr>
                        <a:t>Python 3.11+ / FastAPI</a:t>
                      </a:r>
                    </a:p>
                  </a:txBody>
                  <a:tcPr anchor="ctr" marL="76200" marT="38100" marB="38100">
                    <a:solidFill>
                      <a:srgbClr val="E4F0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20242B"/>
                          </a:solidFill>
                          <a:latin typeface="맑은 고딕"/>
                        </a:rPr>
                        <a:t>✅ 확정</a:t>
                      </a:r>
                    </a:p>
                  </a:txBody>
                  <a:tcPr anchor="ctr" marL="76200" marT="38100" marB="38100">
                    <a:solidFill>
                      <a:srgbClr val="E4F0F2"/>
                    </a:solidFill>
                  </a:tcPr>
                </a:tc>
              </a:tr>
              <a:tr h="372793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20242B"/>
                          </a:solidFill>
                          <a:latin typeface="맑은 고딕"/>
                        </a:rPr>
                        <a:t>웹 콘솔</a:t>
                      </a:r>
                    </a:p>
                  </a:txBody>
                  <a:tcPr anchor="ctr" marL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20242B"/>
                          </a:solidFill>
                          <a:latin typeface="맑은 고딕"/>
                        </a:rPr>
                        <a:t>Next.js(App Router) + TypeScript + Tailwind</a:t>
                      </a:r>
                    </a:p>
                  </a:txBody>
                  <a:tcPr anchor="ctr" marL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20242B"/>
                          </a:solidFill>
                          <a:latin typeface="맑은 고딕"/>
                        </a:rPr>
                        <a:t>✅ 확정</a:t>
                      </a:r>
                    </a:p>
                  </a:txBody>
                  <a:tcPr anchor="ctr" marL="76200" marT="38100" marB="38100">
                    <a:solidFill>
                      <a:srgbClr val="FFFFFF"/>
                    </a:solidFill>
                  </a:tcPr>
                </a:tc>
              </a:tr>
              <a:tr h="372793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20242B"/>
                          </a:solidFill>
                          <a:latin typeface="맑은 고딕"/>
                        </a:rPr>
                        <a:t>LLM 추론</a:t>
                      </a:r>
                    </a:p>
                  </a:txBody>
                  <a:tcPr anchor="ctr" marL="76200" marT="38100" marB="38100">
                    <a:solidFill>
                      <a:srgbClr val="E4F0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20242B"/>
                          </a:solidFill>
                          <a:latin typeface="맑은 고딕"/>
                        </a:rPr>
                        <a:t>자체 호스팅 vLLM · A100 GPU 서버 (챕터 윤문·Gap분석 포함)</a:t>
                      </a:r>
                    </a:p>
                  </a:txBody>
                  <a:tcPr anchor="ctr" marL="76200" marT="38100" marB="38100">
                    <a:solidFill>
                      <a:srgbClr val="E4F0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20242B"/>
                          </a:solidFill>
                          <a:latin typeface="맑은 고딕"/>
                        </a:rPr>
                        <a:t>✅ 확정 — 외부 GPT-4o/Claude 미채택</a:t>
                      </a:r>
                    </a:p>
                  </a:txBody>
                  <a:tcPr anchor="ctr" marL="76200" marT="38100" marB="38100">
                    <a:solidFill>
                      <a:srgbClr val="E4F0F2"/>
                    </a:solidFill>
                  </a:tcPr>
                </a:tc>
              </a:tr>
              <a:tr h="372793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20242B"/>
                          </a:solidFill>
                          <a:latin typeface="맑은 고딕"/>
                        </a:rPr>
                        <a:t>Vector DB</a:t>
                      </a:r>
                    </a:p>
                  </a:txBody>
                  <a:tcPr anchor="ctr" marL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20242B"/>
                          </a:solidFill>
                          <a:latin typeface="맑은 고딕"/>
                        </a:rPr>
                        <a:t>Qdrant self-hosted</a:t>
                      </a:r>
                    </a:p>
                  </a:txBody>
                  <a:tcPr anchor="ctr" marL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20242B"/>
                          </a:solidFill>
                          <a:latin typeface="맑은 고딕"/>
                        </a:rPr>
                        <a:t>✅ 확정 (Milvus 검토 후 미채택)</a:t>
                      </a:r>
                    </a:p>
                  </a:txBody>
                  <a:tcPr anchor="ctr" marL="76200" marT="38100" marB="38100">
                    <a:solidFill>
                      <a:srgbClr val="FFFFFF"/>
                    </a:solidFill>
                  </a:tcPr>
                </a:tc>
              </a:tr>
              <a:tr h="372793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20242B"/>
                          </a:solidFill>
                          <a:latin typeface="맑은 고딕"/>
                        </a:rPr>
                        <a:t>지식 그래프</a:t>
                      </a:r>
                    </a:p>
                  </a:txBody>
                  <a:tcPr anchor="ctr" marL="76200" marT="38100" marB="38100">
                    <a:solidFill>
                      <a:srgbClr val="E4F0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20242B"/>
                          </a:solidFill>
                          <a:latin typeface="맑은 고딕"/>
                        </a:rPr>
                        <a:t>Neo4j self-hosted (신규)</a:t>
                      </a:r>
                    </a:p>
                  </a:txBody>
                  <a:tcPr anchor="ctr" marL="76200" marT="38100" marB="38100">
                    <a:solidFill>
                      <a:srgbClr val="E4F0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20242B"/>
                          </a:solidFill>
                          <a:latin typeface="맑은 고딕"/>
                        </a:rPr>
                        <a:t>✅ 확정 — 인물·사건·감정 관계 추적</a:t>
                      </a:r>
                    </a:p>
                  </a:txBody>
                  <a:tcPr anchor="ctr" marL="76200" marT="38100" marB="38100">
                    <a:solidFill>
                      <a:srgbClr val="E4F0F2"/>
                    </a:solidFill>
                  </a:tcPr>
                </a:tc>
              </a:tr>
              <a:tr h="372793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20242B"/>
                          </a:solidFill>
                          <a:latin typeface="맑은 고딕"/>
                        </a:rPr>
                        <a:t>RDB</a:t>
                      </a:r>
                    </a:p>
                  </a:txBody>
                  <a:tcPr anchor="ctr" marL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20242B"/>
                          </a:solidFill>
                          <a:latin typeface="맑은 고딕"/>
                        </a:rPr>
                        <a:t>PostgreSQL + Alembic 마이그레이션</a:t>
                      </a:r>
                    </a:p>
                  </a:txBody>
                  <a:tcPr anchor="ctr" marL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20242B"/>
                          </a:solidFill>
                          <a:latin typeface="맑은 고딕"/>
                        </a:rPr>
                        <a:t>✅ 확정</a:t>
                      </a:r>
                    </a:p>
                  </a:txBody>
                  <a:tcPr anchor="ctr" marL="76200" marT="38100" marB="38100">
                    <a:solidFill>
                      <a:srgbClr val="FFFFFF"/>
                    </a:solidFill>
                  </a:tcPr>
                </a:tc>
              </a:tr>
              <a:tr h="372793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20242B"/>
                          </a:solidFill>
                          <a:latin typeface="맑은 고딕"/>
                        </a:rPr>
                        <a:t>Object Storage</a:t>
                      </a:r>
                    </a:p>
                  </a:txBody>
                  <a:tcPr anchor="ctr" marL="76200" marT="38100" marB="38100">
                    <a:solidFill>
                      <a:srgbClr val="E4F0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20242B"/>
                          </a:solidFill>
                          <a:latin typeface="맑은 고딕"/>
                        </a:rPr>
                        <a:t>자체 MinIO</a:t>
                      </a:r>
                    </a:p>
                  </a:txBody>
                  <a:tcPr anchor="ctr" marL="76200" marT="38100" marB="38100">
                    <a:solidFill>
                      <a:srgbClr val="E4F0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20242B"/>
                          </a:solidFill>
                          <a:latin typeface="맑은 고딕"/>
                        </a:rPr>
                        <a:t>✅ 확정</a:t>
                      </a:r>
                    </a:p>
                  </a:txBody>
                  <a:tcPr anchor="ctr" marL="76200" marT="38100" marB="38100">
                    <a:solidFill>
                      <a:srgbClr val="E4F0F2"/>
                    </a:solidFill>
                  </a:tcPr>
                </a:tc>
              </a:tr>
              <a:tr h="372793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20242B"/>
                          </a:solidFill>
                          <a:latin typeface="맑은 고딕"/>
                        </a:rPr>
                        <a:t>인증</a:t>
                      </a:r>
                    </a:p>
                  </a:txBody>
                  <a:tcPr anchor="ctr" marL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20242B"/>
                          </a:solidFill>
                          <a:latin typeface="맑은 고딕"/>
                        </a:rPr>
                        <a:t>Keycloak SSO</a:t>
                      </a:r>
                    </a:p>
                  </a:txBody>
                  <a:tcPr anchor="ctr" marL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20242B"/>
                          </a:solidFill>
                          <a:latin typeface="맑은 고딕"/>
                        </a:rPr>
                        <a:t>✅ 확정</a:t>
                      </a:r>
                    </a:p>
                  </a:txBody>
                  <a:tcPr anchor="ctr" marL="76200" marT="38100" marB="38100">
                    <a:solidFill>
                      <a:srgbClr val="FFFFFF"/>
                    </a:solidFill>
                  </a:tcPr>
                </a:tc>
              </a:tr>
              <a:tr h="372793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20242B"/>
                          </a:solidFill>
                          <a:latin typeface="맑은 고딕"/>
                        </a:rPr>
                        <a:t>인프라 호스팅</a:t>
                      </a:r>
                    </a:p>
                  </a:txBody>
                  <a:tcPr anchor="ctr" marL="76200" marT="38100" marB="38100">
                    <a:solidFill>
                      <a:srgbClr val="E4F0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20242B"/>
                          </a:solidFill>
                          <a:latin typeface="맑은 고딕"/>
                        </a:rPr>
                        <a:t>온프레미스 K8s/베어메탈 GPU 클러스터</a:t>
                      </a:r>
                    </a:p>
                  </a:txBody>
                  <a:tcPr anchor="ctr" marL="76200" marT="38100" marB="38100">
                    <a:solidFill>
                      <a:srgbClr val="E4F0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20242B"/>
                          </a:solidFill>
                          <a:latin typeface="맑은 고딕"/>
                        </a:rPr>
                        <a:t>✅ 원칙 확정 (구체 구성 설계 필요)</a:t>
                      </a:r>
                    </a:p>
                  </a:txBody>
                  <a:tcPr anchor="ctr" marL="76200" marT="38100" marB="38100">
                    <a:solidFill>
                      <a:srgbClr val="E4F0F2"/>
                    </a:solidFill>
                  </a:tcPr>
                </a:tc>
              </a:tr>
              <a:tr h="372793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20242B"/>
                          </a:solidFill>
                          <a:latin typeface="맑은 고딕"/>
                        </a:rPr>
                        <a:t>온디바이스 SLM</a:t>
                      </a:r>
                    </a:p>
                  </a:txBody>
                  <a:tcPr anchor="ctr" marL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20242B"/>
                          </a:solidFill>
                          <a:latin typeface="맑은 고딕"/>
                        </a:rPr>
                        <a:t>Kanana-2, Qwen2.5-0.5B 등 벤치마크 후보 2종</a:t>
                      </a:r>
                    </a:p>
                  </a:txBody>
                  <a:tcPr anchor="ctr" marL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20242B"/>
                          </a:solidFill>
                          <a:latin typeface="맑은 고딕"/>
                        </a:rPr>
                        <a:t>🔄 후보 확보, 최종선정은 벤치마크 후</a:t>
                      </a:r>
                    </a:p>
                  </a:txBody>
                  <a:tcPr anchor="ctr" marL="76200" marT="38100" marB="38100">
                    <a:solidFill>
                      <a:srgbClr val="FFFFFF"/>
                    </a:solidFill>
                  </a:tcPr>
                </a:tc>
              </a:tr>
              <a:tr h="372804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20242B"/>
                          </a:solidFill>
                          <a:latin typeface="맑은 고딕"/>
                        </a:rPr>
                        <a:t>온디바이스 로컬 RAG</a:t>
                      </a:r>
                    </a:p>
                  </a:txBody>
                  <a:tcPr anchor="ctr" marL="76200" marT="38100" marB="38100">
                    <a:solidFill>
                      <a:srgbClr val="E4F0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20242B"/>
                          </a:solidFill>
                          <a:latin typeface="맑은 고딕"/>
                        </a:rPr>
                        <a:t>SQLite FTS5(BM25) 단독 — Phase 1 기본값</a:t>
                      </a:r>
                    </a:p>
                  </a:txBody>
                  <a:tcPr anchor="ctr" marL="76200" marT="38100" marB="38100">
                    <a:solidFill>
                      <a:srgbClr val="E4F0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20242B"/>
                          </a:solidFill>
                          <a:latin typeface="맑은 고딕"/>
                        </a:rPr>
                        <a:t>✅ 확정 (경량 VectorDB는 Phase 2+)</a:t>
                      </a:r>
                    </a:p>
                  </a:txBody>
                  <a:tcPr anchor="ctr" marL="76200" marT="38100" marB="38100">
                    <a:solidFill>
                      <a:srgbClr val="E4F0F2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9096A0"/>
                </a:solidFill>
                <a:latin typeface="맑은 고딕"/>
              </a:rPr>
              <a:t>은빛실타래 · SilverYarn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096A0"/>
                </a:solidFill>
                <a:latin typeface="맑은 고딕"/>
              </a:rPr>
              <a:t>40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2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02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858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B8935A"/>
                </a:solidFill>
                <a:latin typeface="맑은 고딕"/>
              </a:rPr>
              <a:t>6부 · 컨벤션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FFFFFF"/>
                </a:solidFill>
                <a:latin typeface="맑은 고딕"/>
              </a:rPr>
              <a:t>컨벤션 &amp; 폴더 구조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91153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900" b="0">
                <a:solidFill>
                  <a:srgbClr val="20242B"/>
                </a:solidFill>
                <a:latin typeface="맑은 고딕"/>
              </a:rPr>
              <a:t>▪  서버(Python): snake_case, Clean Architecture(api/application/domain/infrastructure), ruff+mypy+pytest</a:t>
            </a:r>
          </a:p>
          <a:p>
            <a:pPr algn="l">
              <a:spcAft>
                <a:spcPts val="1000"/>
              </a:spcAft>
            </a:pPr>
            <a:r>
              <a:rPr sz="1900" b="0">
                <a:solidFill>
                  <a:srgbClr val="20242B"/>
                </a:solidFill>
                <a:latin typeface="맑은 고딕"/>
              </a:rPr>
              <a:t>▪  모바일(Kotlin): PascalCase 클래스, ktlint, Jetpack Compose</a:t>
            </a:r>
          </a:p>
          <a:p>
            <a:pPr algn="l">
              <a:spcAft>
                <a:spcPts val="1000"/>
              </a:spcAft>
            </a:pPr>
            <a:r>
              <a:rPr sz="1900" b="0">
                <a:solidFill>
                  <a:srgbClr val="20242B"/>
                </a:solidFill>
                <a:latin typeface="맑은 고딕"/>
              </a:rPr>
              <a:t>▪  웹(TypeScript): PascalCase 컴포넌트, kebab-case 폴더, ESLint/Prettier</a:t>
            </a:r>
          </a:p>
          <a:p>
            <a:pPr algn="l">
              <a:spcAft>
                <a:spcPts val="1000"/>
              </a:spcAft>
            </a:pPr>
            <a:r>
              <a:rPr sz="1900" b="0">
                <a:solidFill>
                  <a:srgbClr val="20242B"/>
                </a:solidFill>
                <a:latin typeface="맑은 고딕"/>
              </a:rPr>
              <a:t>▪  모노레포: apps/(mobile,web,admin) · services/(gateway,author-engine,care-engine,schedule-engine,sync-gateway,rag-core) · packages/py-common · infra/ · docs/ · Plan/</a:t>
            </a:r>
          </a:p>
          <a:p>
            <a:pPr algn="l">
              <a:spcAft>
                <a:spcPts val="1000"/>
              </a:spcAft>
            </a:pPr>
            <a:r>
              <a:rPr sz="1900" b="0">
                <a:solidFill>
                  <a:srgbClr val="20242B"/>
                </a:solidFill>
                <a:latin typeface="맑은 고딕"/>
              </a:rPr>
              <a:t>▪  환경변수 접두사: NEXT_PUBLIC_ / DB_ / STORAGE_(MinIO) / VECTORDB_(Qdrant) / LLM_(vLLM) / AUTH_ / SYNC_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9096A0"/>
                </a:solidFill>
                <a:latin typeface="맑은 고딕"/>
              </a:rPr>
              <a:t>은빛실타래 · SilverYarn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096A0"/>
                </a:solidFill>
                <a:latin typeface="맑은 고딕"/>
              </a:rPr>
              <a:t>41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7A8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468880"/>
            <a:ext cx="3657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6000" b="1">
                <a:solidFill>
                  <a:srgbClr val="155C6B"/>
                </a:solidFill>
                <a:latin typeface="맑은 고딕"/>
              </a:rPr>
              <a:t>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3832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1">
                <a:solidFill>
                  <a:srgbClr val="FFFFFF"/>
                </a:solidFill>
                <a:latin typeface="맑은 고딕"/>
              </a:rPr>
              <a:t>의사결정 현황 &amp; 설계 검증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E4F0F2"/>
                </a:solidFill>
                <a:latin typeface="맑은 고딕"/>
              </a:rPr>
              <a:t>23개 항목 확정 · design-validator 33건 수정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9096A0"/>
                </a:solidFill>
                <a:latin typeface="맑은 고딕"/>
              </a:rPr>
              <a:t>은빛실타래 · SilverYarn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096A0"/>
                </a:solidFill>
                <a:latin typeface="맑은 고딕"/>
              </a:rPr>
              <a:t>42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2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02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858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B8935A"/>
                </a:solidFill>
                <a:latin typeface="맑은 고딕"/>
              </a:rPr>
              <a:t>7부 · 의사결정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FFFFFF"/>
                </a:solidFill>
                <a:latin typeface="맑은 고딕"/>
              </a:rPr>
              <a:t>확정된 주요 의사결정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91153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900" b="0">
                <a:solidFill>
                  <a:srgbClr val="20242B"/>
                </a:solidFill>
                <a:latin typeface="맑은 고딕"/>
              </a:rPr>
              <a:t>▪  설치모드 임계값: RAM&lt;6GB 또는 Android≤11 → 키오스크 / 구현: Device Owner Mode(COSU)</a:t>
            </a:r>
          </a:p>
          <a:p>
            <a:pPr algn="l">
              <a:spcAft>
                <a:spcPts val="1000"/>
              </a:spcAft>
            </a:pPr>
            <a:r>
              <a:rPr sz="1900" b="0">
                <a:solidFill>
                  <a:srgbClr val="20242B"/>
                </a:solidFill>
                <a:latin typeface="맑은 고딕"/>
              </a:rPr>
              <a:t>▪  모바일: Android 네이티브(Kotlin) · 서버: FastAPI · 웹: Next.js · 인증: Keycloak SSO</a:t>
            </a:r>
          </a:p>
          <a:p>
            <a:pPr algn="l">
              <a:spcAft>
                <a:spcPts val="1000"/>
              </a:spcAft>
            </a:pPr>
            <a:r>
              <a:rPr sz="1900" b="0">
                <a:solidFill>
                  <a:srgbClr val="20242B"/>
                </a:solidFill>
                <a:latin typeface="맑은 고딕"/>
              </a:rPr>
              <a:t>▪  채널: B2C/B2G 병행 추진 / 외부 TTS: Phase 1~2 온프레미스만, 외부연계 Phase 3 유예</a:t>
            </a:r>
          </a:p>
          <a:p>
            <a:pPr algn="l">
              <a:spcAft>
                <a:spcPts val="1000"/>
              </a:spcAft>
            </a:pPr>
            <a:r>
              <a:rPr sz="1900" b="0">
                <a:solidFill>
                  <a:srgbClr val="20242B"/>
                </a:solidFill>
                <a:latin typeface="맑은 고딕"/>
              </a:rPr>
              <a:t>▪  Wi-Fi 동기화: 등록 Wi-Fi 한정, 접속 즉시 자동 트리거 / 사진 업로드: 촬영+갤러리 모두 지원</a:t>
            </a:r>
          </a:p>
          <a:p>
            <a:pPr algn="l">
              <a:spcAft>
                <a:spcPts val="1000"/>
              </a:spcAft>
            </a:pPr>
            <a:r>
              <a:rPr sz="1900" b="0">
                <a:solidFill>
                  <a:srgbClr val="20242B"/>
                </a:solidFill>
                <a:latin typeface="맑은 고딕"/>
              </a:rPr>
              <a:t>▪  구독·결제 도메인: Phase 1 스코프 아웃 (PG사·요금제 경영 결정 대기)</a:t>
            </a:r>
          </a:p>
          <a:p>
            <a:pPr algn="l">
              <a:spcAft>
                <a:spcPts val="1000"/>
              </a:spcAft>
            </a:pPr>
            <a:r>
              <a:rPr sz="1900" b="0">
                <a:solidFill>
                  <a:srgbClr val="20242B"/>
                </a:solidFill>
                <a:latin typeface="맑은 고딕"/>
              </a:rPr>
              <a:t>▪  '기억의 서재' 프로젝트와는 완전 별개로 최종 확정</a:t>
            </a:r>
          </a:p>
          <a:p>
            <a:pPr algn="l">
              <a:spcAft>
                <a:spcPts val="1000"/>
              </a:spcAft>
            </a:pPr>
            <a:r>
              <a:rPr sz="1900" b="1">
                <a:solidFill>
                  <a:srgbClr val="155C6B"/>
                </a:solidFill>
                <a:latin typeface="맑은 고딕"/>
              </a:rPr>
              <a:t>▪  챕터 윤문·Gap분석 LLM: 온프레미스 vLLM 확정 (외부 GPT-4o/Claude 미채택) · 지식그래프 Neo4j 신규 채택</a:t>
            </a:r>
          </a:p>
          <a:p>
            <a:pPr algn="l">
              <a:spcAft>
                <a:spcPts val="1000"/>
              </a:spcAft>
            </a:pPr>
            <a:r>
              <a:rPr sz="1900" b="1">
                <a:solidFill>
                  <a:srgbClr val="155C6B"/>
                </a:solidFill>
                <a:latin typeface="맑은 고딕"/>
              </a:rPr>
              <a:t>▪  온디바이스 로컬 RAG: SQLite FTS5 단독을 Phase 1 기본값으로 확정 (경량 VectorDB는 Phase 2+)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9096A0"/>
                </a:solidFill>
                <a:latin typeface="맑은 고딕"/>
              </a:rPr>
              <a:t>은빛실타래 · SilverYarn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096A0"/>
                </a:solidFill>
                <a:latin typeface="맑은 고딕"/>
              </a:rPr>
              <a:t>43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2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02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858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B8935A"/>
                </a:solidFill>
                <a:latin typeface="맑은 고딕"/>
              </a:rPr>
              <a:t>7부 · 의사결정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FFFFFF"/>
                </a:solidFill>
                <a:latin typeface="맑은 고딕"/>
              </a:rPr>
              <a:t>미결 의사결정 — 승인 대기 중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325880"/>
          <a:ext cx="11094413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67082"/>
                <a:gridCol w="4267082"/>
                <a:gridCol w="2560249"/>
              </a:tblGrid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</a:rPr>
                        <a:t>항목</a:t>
                      </a:r>
                    </a:p>
                  </a:txBody>
                  <a:tcPr anchor="ctr" marT="50800" marB="50800">
                    <a:solidFill>
                      <a:srgbClr val="2024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</a:rPr>
                        <a:t>필요 조치</a:t>
                      </a:r>
                    </a:p>
                  </a:txBody>
                  <a:tcPr anchor="ctr" marT="50800" marB="50800">
                    <a:solidFill>
                      <a:srgbClr val="2024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</a:rPr>
                        <a:t>담당</a:t>
                      </a:r>
                    </a:p>
                  </a:txBody>
                  <a:tcPr anchor="ctr" marT="50800" marB="50800">
                    <a:solidFill>
                      <a:srgbClr val="20242B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20242B"/>
                          </a:solidFill>
                          <a:latin typeface="맑은 고딕"/>
                        </a:rPr>
                        <a:t>정서 모니터링 알림의 법적/윤리적 기준</a:t>
                      </a:r>
                    </a:p>
                  </a:txBody>
                  <a:tcPr anchor="ctr" marL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20242B"/>
                          </a:solidFill>
                          <a:latin typeface="맑은 고딕"/>
                        </a:rPr>
                        <a:t>임계치·수신대상 정책 최종 확정</a:t>
                      </a:r>
                    </a:p>
                  </a:txBody>
                  <a:tcPr anchor="ctr" marL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20242B"/>
                          </a:solidFill>
                          <a:latin typeface="맑은 고딕"/>
                        </a:rPr>
                        <a:t>⚖️ 법무·윤리 검토</a:t>
                      </a:r>
                    </a:p>
                  </a:txBody>
                  <a:tcPr anchor="ctr" marL="76200" marT="38100" marB="381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20242B"/>
                          </a:solidFill>
                          <a:latin typeface="맑은 고딕"/>
                        </a:rPr>
                        <a:t>Phase 1~3 착수 일정·예산·인력</a:t>
                      </a:r>
                    </a:p>
                  </a:txBody>
                  <a:tcPr anchor="ctr" marL="76200" marT="38100" marB="38100">
                    <a:solidFill>
                      <a:srgbClr val="E4F0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20242B"/>
                          </a:solidFill>
                          <a:latin typeface="맑은 고딕"/>
                        </a:rPr>
                        <a:t>리소스 확정 승인</a:t>
                      </a:r>
                    </a:p>
                  </a:txBody>
                  <a:tcPr anchor="ctr" marL="76200" marT="38100" marB="38100">
                    <a:solidFill>
                      <a:srgbClr val="E4F0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20242B"/>
                          </a:solidFill>
                          <a:latin typeface="맑은 고딕"/>
                        </a:rPr>
                        <a:t>⚖️ 경영진</a:t>
                      </a:r>
                    </a:p>
                  </a:txBody>
                  <a:tcPr anchor="ctr" marL="76200" marT="38100" marB="38100">
                    <a:solidFill>
                      <a:srgbClr val="E4F0F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20242B"/>
                          </a:solidFill>
                          <a:latin typeface="맑은 고딕"/>
                        </a:rPr>
                        <a:t>구독·결제 PG사·요금제</a:t>
                      </a:r>
                    </a:p>
                  </a:txBody>
                  <a:tcPr anchor="ctr" marL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20242B"/>
                          </a:solidFill>
                          <a:latin typeface="맑은 고딕"/>
                        </a:rPr>
                        <a:t>과금 방식 결정 후 도메인 설계 착수</a:t>
                      </a:r>
                    </a:p>
                  </a:txBody>
                  <a:tcPr anchor="ctr" marL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20242B"/>
                          </a:solidFill>
                          <a:latin typeface="맑은 고딕"/>
                        </a:rPr>
                        <a:t>⚖️ 경영진·법무</a:t>
                      </a:r>
                    </a:p>
                  </a:txBody>
                  <a:tcPr anchor="ctr" marL="76200" marT="38100" marB="381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20242B"/>
                          </a:solidFill>
                          <a:latin typeface="맑은 고딕"/>
                        </a:rPr>
                        <a:t>온디바이스 SLM 모델 자체 선정</a:t>
                      </a:r>
                    </a:p>
                  </a:txBody>
                  <a:tcPr anchor="ctr" marL="76200" marT="38100" marB="38100">
                    <a:solidFill>
                      <a:srgbClr val="E4F0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20242B"/>
                          </a:solidFill>
                          <a:latin typeface="맑은 고딕"/>
                        </a:rPr>
                        <a:t>Kanana-2 등 벤치마크 후 확정</a:t>
                      </a:r>
                    </a:p>
                  </a:txBody>
                  <a:tcPr anchor="ctr" marL="76200" marT="38100" marB="38100">
                    <a:solidFill>
                      <a:srgbClr val="E4F0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20242B"/>
                          </a:solidFill>
                          <a:latin typeface="맑은 고딕"/>
                        </a:rPr>
                        <a:t>기술팀</a:t>
                      </a:r>
                    </a:p>
                  </a:txBody>
                  <a:tcPr anchor="ctr" marL="76200" marT="38100" marB="38100">
                    <a:solidFill>
                      <a:srgbClr val="E4F0F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20242B"/>
                          </a:solidFill>
                          <a:latin typeface="맑은 고딕"/>
                        </a:rPr>
                        <a:t>로컬 '최근 5일' 캐시 기준</a:t>
                      </a:r>
                    </a:p>
                  </a:txBody>
                  <a:tcPr anchor="ctr" marL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20242B"/>
                          </a:solidFill>
                          <a:latin typeface="맑은 고딕"/>
                        </a:rPr>
                        <a:t>실기기 저장용량 벤치마크 후 재확정</a:t>
                      </a:r>
                    </a:p>
                  </a:txBody>
                  <a:tcPr anchor="ctr" marL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20242B"/>
                          </a:solidFill>
                          <a:latin typeface="맑은 고딕"/>
                        </a:rPr>
                        <a:t>기술팀</a:t>
                      </a:r>
                    </a:p>
                  </a:txBody>
                  <a:tcPr anchor="ctr" marL="76200" marT="38100" marB="381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9096A0"/>
                </a:solidFill>
                <a:latin typeface="맑은 고딕"/>
              </a:rPr>
              <a:t>은빛실타래 · SilverYarn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096A0"/>
                </a:solidFill>
                <a:latin typeface="맑은 고딕"/>
              </a:rPr>
              <a:t>44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2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02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858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B8935A"/>
                </a:solidFill>
                <a:latin typeface="맑은 고딕"/>
              </a:rPr>
              <a:t>7부 · 검증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FFFFFF"/>
                </a:solidFill>
                <a:latin typeface="맑은 고딕"/>
              </a:rPr>
              <a:t>설계 검증 결과 — design-validator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325880"/>
          <a:ext cx="11094413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249"/>
                <a:gridCol w="4267082"/>
                <a:gridCol w="4267082"/>
              </a:tblGrid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</a:rPr>
                        <a:t>항목</a:t>
                      </a:r>
                    </a:p>
                  </a:txBody>
                  <a:tcPr anchor="ctr" marT="50800" marB="50800">
                    <a:solidFill>
                      <a:srgbClr val="2024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</a:rPr>
                        <a:t>1차 검증</a:t>
                      </a:r>
                    </a:p>
                  </a:txBody>
                  <a:tcPr anchor="ctr" marT="50800" marB="50800">
                    <a:solidFill>
                      <a:srgbClr val="2024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</a:rPr>
                        <a:t>수정 후</a:t>
                      </a:r>
                    </a:p>
                  </a:txBody>
                  <a:tcPr anchor="ctr" marT="50800" marB="50800">
                    <a:solidFill>
                      <a:srgbClr val="20242B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20242B"/>
                          </a:solidFill>
                          <a:latin typeface="맑은 고딕"/>
                        </a:rPr>
                        <a:t>종합 완성도 점수</a:t>
                      </a:r>
                    </a:p>
                  </a:txBody>
                  <a:tcPr anchor="ctr" marL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20242B"/>
                          </a:solidFill>
                          <a:latin typeface="맑은 고딕"/>
                        </a:rPr>
                        <a:t>74/100</a:t>
                      </a:r>
                    </a:p>
                  </a:txBody>
                  <a:tcPr anchor="ctr" marL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20242B"/>
                          </a:solidFill>
                          <a:latin typeface="맑은 고딕"/>
                        </a:rPr>
                        <a:t>권고 조치 33건 전체 반영 완료</a:t>
                      </a:r>
                    </a:p>
                  </a:txBody>
                  <a:tcPr anchor="ctr" marL="76200" marT="38100" marB="381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20242B"/>
                          </a:solidFill>
                          <a:latin typeface="맑은 고딕"/>
                        </a:rPr>
                        <a:t>High 심각도</a:t>
                      </a:r>
                    </a:p>
                  </a:txBody>
                  <a:tcPr anchor="ctr" marL="76200" marT="38100" marB="38100">
                    <a:solidFill>
                      <a:srgbClr val="E4F0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20242B"/>
                          </a:solidFill>
                          <a:latin typeface="맑은 고딕"/>
                        </a:rPr>
                        <a:t>5건 (백엔드 미확정, 챕터 제목 누락, 정서 시계열 저장처 없음 등)</a:t>
                      </a:r>
                    </a:p>
                  </a:txBody>
                  <a:tcPr anchor="ctr" marL="76200" marT="38100" marB="38100">
                    <a:solidFill>
                      <a:srgbClr val="E4F0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20242B"/>
                          </a:solidFill>
                          <a:latin typeface="맑은 고딕"/>
                        </a:rPr>
                        <a:t>5/5 해결</a:t>
                      </a:r>
                    </a:p>
                  </a:txBody>
                  <a:tcPr anchor="ctr" marL="76200" marT="38100" marB="38100">
                    <a:solidFill>
                      <a:srgbClr val="E4F0F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20242B"/>
                          </a:solidFill>
                          <a:latin typeface="맑은 고딕"/>
                        </a:rPr>
                        <a:t>Medium 심각도</a:t>
                      </a:r>
                    </a:p>
                  </a:txBody>
                  <a:tcPr anchor="ctr" marL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20242B"/>
                          </a:solidFill>
                          <a:latin typeface="맑은 고딕"/>
                        </a:rPr>
                        <a:t>18건 (필드 누락, 문서 간 불일치, API 표준 부재 등)</a:t>
                      </a:r>
                    </a:p>
                  </a:txBody>
                  <a:tcPr anchor="ctr" marL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20242B"/>
                          </a:solidFill>
                          <a:latin typeface="맑은 고딕"/>
                        </a:rPr>
                        <a:t>18/18 해결</a:t>
                      </a:r>
                    </a:p>
                  </a:txBody>
                  <a:tcPr anchor="ctr" marL="76200" marT="38100" marB="381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20242B"/>
                          </a:solidFill>
                          <a:latin typeface="맑은 고딕"/>
                        </a:rPr>
                        <a:t>Low 심각도 + 원본 문서 오류</a:t>
                      </a:r>
                    </a:p>
                  </a:txBody>
                  <a:tcPr anchor="ctr" marL="76200" marT="38100" marB="38100">
                    <a:solidFill>
                      <a:srgbClr val="E4F0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20242B"/>
                          </a:solidFill>
                          <a:latin typeface="맑은 고딕"/>
                        </a:rPr>
                        <a:t>10건 + 원본 화면ID/절번호 오기 7건</a:t>
                      </a:r>
                    </a:p>
                  </a:txBody>
                  <a:tcPr anchor="ctr" marL="76200" marT="38100" marB="38100">
                    <a:solidFill>
                      <a:srgbClr val="E4F0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20242B"/>
                          </a:solidFill>
                          <a:latin typeface="맑은 고딕"/>
                        </a:rPr>
                        <a:t>전체 해결 (원본 Plan/ 파일도 정정 완료)</a:t>
                      </a:r>
                    </a:p>
                  </a:txBody>
                  <a:tcPr anchor="ctr" marL="76200" marT="38100" marB="38100">
                    <a:solidFill>
                      <a:srgbClr val="E4F0F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20242B"/>
                          </a:solidFill>
                          <a:latin typeface="맑은 고딕"/>
                        </a:rPr>
                        <a:t>엔티티 수 변화</a:t>
                      </a:r>
                    </a:p>
                  </a:txBody>
                  <a:tcPr anchor="ctr" marL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20242B"/>
                          </a:solidFill>
                          <a:latin typeface="맑은 고딕"/>
                        </a:rPr>
                        <a:t>11개 (v1.0)</a:t>
                      </a:r>
                    </a:p>
                  </a:txBody>
                  <a:tcPr anchor="ctr" marL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20242B"/>
                          </a:solidFill>
                          <a:latin typeface="맑은 고딕"/>
                        </a:rPr>
                        <a:t>17개 (v1.1) — emotion_scores, chapter_revisions 등 6개 신설</a:t>
                      </a:r>
                    </a:p>
                  </a:txBody>
                  <a:tcPr anchor="ctr" marL="76200" marT="38100" marB="381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9096A0"/>
                </a:solidFill>
                <a:latin typeface="맑은 고딕"/>
              </a:rPr>
              <a:t>은빛실타래 · SilverYarn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096A0"/>
                </a:solidFill>
                <a:latin typeface="맑은 고딕"/>
              </a:rPr>
              <a:t>45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7A8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468880"/>
            <a:ext cx="3657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6000" b="1">
                <a:solidFill>
                  <a:srgbClr val="155C6B"/>
                </a:solidFill>
                <a:latin typeface="맑은 고딕"/>
              </a:rPr>
              <a:t>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3832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1">
                <a:solidFill>
                  <a:srgbClr val="FFFFFF"/>
                </a:solidFill>
                <a:latin typeface="맑은 고딕"/>
              </a:rPr>
              <a:t>CTO팀 검토 의견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E4F0F2"/>
                </a:solidFill>
                <a:latin typeface="맑은 고딕"/>
              </a:rPr>
              <a:t>아키텍처 · 인프라 · 보안 · 프론트엔드 · 백엔드/API · QA · PM 7개 관점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9096A0"/>
                </a:solidFill>
                <a:latin typeface="맑은 고딕"/>
              </a:rPr>
              <a:t>은빛실타래 · SilverYarn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096A0"/>
                </a:solidFill>
                <a:latin typeface="맑은 고딕"/>
              </a:rPr>
              <a:t>46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2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02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858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B8935A"/>
                </a:solidFill>
                <a:latin typeface="맑은 고딕"/>
              </a:rPr>
              <a:t>8부 · CTO팀 검토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FFFFFF"/>
                </a:solidFill>
                <a:latin typeface="맑은 고딕"/>
              </a:rPr>
              <a:t>검토 방법 및 참여 전문가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91153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900" b="0">
                <a:solidFill>
                  <a:srgbClr val="20242B"/>
                </a:solidFill>
                <a:latin typeface="맑은 고딕"/>
              </a:rPr>
              <a:t>▪  참여 관점 7종: Enterprise Architect(아키텍처 전략) · Infrastructure Architect(온프레미스 인프라) · Security Architect(보안·법무) · Frontend Architect(UI·접근성) · Backend/API(bkend-expert) · QA Strategist(테스트 전략) · Product Manager(스코프·일정)</a:t>
            </a:r>
          </a:p>
          <a:p>
            <a:pPr algn="l">
              <a:spcAft>
                <a:spcPts val="1000"/>
              </a:spcAft>
            </a:pPr>
            <a:r>
              <a:rPr sz="1900" b="0">
                <a:solidFill>
                  <a:srgbClr val="20242B"/>
                </a:solidFill>
                <a:latin typeface="맑은 고딕"/>
              </a:rPr>
              <a:t>▪  방법: 원본 기획 산출물(기획서·흐름도·BI가이드·UIUX설계서) + PDCA 문서 전체(plan/design/decisions/schema/CONVENTIONS)를 각 관점에서 독립 교차검토, 후행 관점은 선행 리뷰와 중복 배제</a:t>
            </a:r>
          </a:p>
          <a:p>
            <a:pPr algn="l">
              <a:spcAft>
                <a:spcPts val="1000"/>
              </a:spcAft>
            </a:pPr>
            <a:r>
              <a:rPr sz="1900" b="0">
                <a:solidFill>
                  <a:srgbClr val="20242B"/>
                </a:solidFill>
                <a:latin typeface="맑은 고딕"/>
              </a:rPr>
              <a:t>▪  판정 기준: 강점 3개 이내 / Blocker(착수 전 반드시 해결) / Concern(병행 가능)으로 구분</a:t>
            </a:r>
          </a:p>
          <a:p>
            <a:pPr algn="l">
              <a:spcAft>
                <a:spcPts val="1000"/>
              </a:spcAft>
            </a:pPr>
            <a:r>
              <a:rPr sz="1900" b="1">
                <a:solidFill>
                  <a:srgbClr val="155C6B"/>
                </a:solidFill>
                <a:latin typeface="맑은 고딕"/>
              </a:rPr>
              <a:t>▪  7개 관점 전원 공통 판정:</a:t>
            </a:r>
          </a:p>
          <a:p>
            <a:pPr algn="l">
              <a:spcAft>
                <a:spcPts val="400"/>
              </a:spcAft>
            </a:pPr>
            <a:r>
              <a:t>     -  Go with Conditions (조건부 착수) — 제품·데이터 설계는 착수 가능 수준이나 실행축(분산·동기화·보안·접근성·API계약·QA기준) 공백 다수, No-go 시사 관점 없음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9096A0"/>
                </a:solidFill>
                <a:latin typeface="맑은 고딕"/>
              </a:rPr>
              <a:t>은빛실타래 · SilverYarn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096A0"/>
                </a:solidFill>
                <a:latin typeface="맑은 고딕"/>
              </a:rPr>
              <a:t>47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2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02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858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B8935A"/>
                </a:solidFill>
                <a:latin typeface="맑은 고딕"/>
              </a:rPr>
              <a:t>8부 · 아키텍처(Enterprise)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FFFFFF"/>
                </a:solidFill>
                <a:latin typeface="맑은 고딕"/>
              </a:rPr>
              <a:t>강점 &amp; 핵심 Blocker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91153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900" b="0">
                <a:solidFill>
                  <a:srgbClr val="155C6B"/>
                </a:solidFill>
                <a:latin typeface="맑은 고딕"/>
              </a:rPr>
              <a:t>▪  강점: 미결정책을 '누가·언제'로 쪼개는 규율(#19) · 하이브리드 구조가 제약조건상 유일해 · 23개 화면↔17개 엔티티 역추적 완료</a:t>
            </a:r>
          </a:p>
          <a:p>
            <a:pPr algn="l">
              <a:spcAft>
                <a:spcPts val="1000"/>
              </a:spcAft>
            </a:pPr>
            <a:r>
              <a:rPr sz="1900" b="1">
                <a:solidFill>
                  <a:srgbClr val="B8493F"/>
                </a:solidFill>
                <a:latin typeface="맑은 고딕"/>
              </a:rPr>
              <a:t>▪  B1. 동기화 계약(Sync Contract) 부재 → 실제 데이터 영구 소실 경로 존재</a:t>
            </a:r>
          </a:p>
          <a:p>
            <a:pPr algn="l">
              <a:spcAft>
                <a:spcPts val="400"/>
              </a:spcAft>
            </a:pPr>
            <a:r>
              <a:t>     -  5일 보존창 + 'Server-Wins' 무차별 적용 시, 단말 전용 생성 데이터(일정·구술·사진)가 서버 사본에 덮여 소실</a:t>
            </a:r>
          </a:p>
          <a:p>
            <a:pPr algn="l">
              <a:spcAft>
                <a:spcPts val="1000"/>
              </a:spcAft>
            </a:pPr>
            <a:r>
              <a:rPr sz="1900" b="1">
                <a:solidFill>
                  <a:srgbClr val="B8493F"/>
                </a:solidFill>
                <a:latin typeface="맑은 고딕"/>
              </a:rPr>
              <a:t>▪  B2. 온디바이스 SLM 모델 미선정 → 모바일 크리티컬 패스(Session 4) 전체 대기</a:t>
            </a:r>
          </a:p>
          <a:p>
            <a:pPr algn="l">
              <a:spcAft>
                <a:spcPts val="400"/>
              </a:spcAft>
            </a:pPr>
            <a:r>
              <a:t>     -  런타임·메모리예산·프롬프트포맷·부록A 임계값 검증이 모두 모델 종속 — 실기기 2주 벤치마크 필요</a:t>
            </a:r>
          </a:p>
          <a:p>
            <a:pPr algn="l">
              <a:spcAft>
                <a:spcPts val="1000"/>
              </a:spcAft>
            </a:pPr>
            <a:r>
              <a:rPr sz="1900" b="1">
                <a:solidFill>
                  <a:srgbClr val="B8493F"/>
                </a:solidFill>
                <a:latin typeface="맑은 고딕"/>
              </a:rPr>
              <a:t>▪  B3. 6개 마이크로서비스 분해 근거 부재 → 단일 DB·단일 마이그레이션 체인이라 독립성 이득 없이 비용만 발생</a:t>
            </a:r>
          </a:p>
          <a:p>
            <a:pPr algn="l">
              <a:spcAft>
                <a:spcPts val="400"/>
              </a:spcAft>
            </a:pPr>
            <a:r>
              <a:t>     -  권고: Phase 1은 모듈러 모놀리스 2프로세스(api / worker)로 재정의, 서비스 경계는 폴더·import-linter로만 유지</a:t>
            </a:r>
          </a:p>
          <a:p>
            <a:pPr algn="l">
              <a:spcAft>
                <a:spcPts val="1000"/>
              </a:spcAft>
            </a:pPr>
            <a:r>
              <a:rPr sz="1900" b="1">
                <a:solidFill>
                  <a:srgbClr val="B8493F"/>
                </a:solidFill>
                <a:latin typeface="맑은 고딕"/>
              </a:rPr>
              <a:t>▪  B4. 이중 두뇌(온디바이스 SLM vs 서버 LLM) 설계 미정 — 서버가 실시간 대화에 개입하는지 자체가 불명확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9096A0"/>
                </a:solidFill>
                <a:latin typeface="맑은 고딕"/>
              </a:rPr>
              <a:t>은빛실타래 · SilverYarn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096A0"/>
                </a:solidFill>
                <a:latin typeface="맑은 고딕"/>
              </a:rPr>
              <a:t>48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2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02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858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B8935A"/>
                </a:solidFill>
                <a:latin typeface="맑은 고딕"/>
              </a:rPr>
              <a:t>8부 · 인프라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FFFFFF"/>
                </a:solidFill>
                <a:latin typeface="맑은 고딕"/>
              </a:rPr>
              <a:t>강점 &amp; Blocker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325880"/>
          <a:ext cx="11094414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86801"/>
                <a:gridCol w="9707613"/>
              </a:tblGrid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</a:rPr>
                        <a:t>구분</a:t>
                      </a:r>
                    </a:p>
                  </a:txBody>
                  <a:tcPr anchor="ctr" marT="50800" marB="50800">
                    <a:solidFill>
                      <a:srgbClr val="2024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</a:rPr>
                        <a:t>내용</a:t>
                      </a:r>
                    </a:p>
                  </a:txBody>
                  <a:tcPr anchor="ctr" marT="50800" marB="50800">
                    <a:solidFill>
                      <a:srgbClr val="20242B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20242B"/>
                          </a:solidFill>
                          <a:latin typeface="맑은 고딕"/>
                        </a:rPr>
                        <a:t>강점</a:t>
                      </a:r>
                    </a:p>
                  </a:txBody>
                  <a:tcPr anchor="ctr" marL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20242B"/>
                          </a:solidFill>
                          <a:latin typeface="맑은 고딕"/>
                        </a:rPr>
                        <a:t>오프라인 우선 설계가 가용성 목표를 현실화(월 7시간 다운 허용 가능) · 서버 워크로드=배치 큐(대화형 아님)로 GPU 최소화 가능 · 전 스택 자체호스팅 가능 OSS</a:t>
                      </a:r>
                    </a:p>
                  </a:txBody>
                  <a:tcPr anchor="ctr" marL="76200" marT="38100" marB="381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20242B"/>
                          </a:solidFill>
                          <a:latin typeface="맑은 고딕"/>
                        </a:rPr>
                        <a:t>B1</a:t>
                      </a:r>
                    </a:p>
                  </a:txBody>
                  <a:tcPr anchor="ctr" marL="76200" marT="38100" marB="38100">
                    <a:solidFill>
                      <a:srgbClr val="E4F0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20242B"/>
                          </a:solidFill>
                          <a:latin typeface="맑은 고딕"/>
                        </a:rPr>
                        <a:t>로컬 개발환경(docker-compose) 자체가 리포지토리에 없음 — LLM/STT/임베딩 스텁 포함 구성 필요 (1~1.5주)</a:t>
                      </a:r>
                    </a:p>
                  </a:txBody>
                  <a:tcPr anchor="ctr" marL="76200" marT="38100" marB="38100">
                    <a:solidFill>
                      <a:srgbClr val="E4F0F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20242B"/>
                          </a:solidFill>
                          <a:latin typeface="맑은 고딕"/>
                        </a:rPr>
                        <a:t>B2</a:t>
                      </a:r>
                    </a:p>
                  </a:txBody>
                  <a:tcPr anchor="ctr" marL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20242B"/>
                          </a:solidFill>
                          <a:latin typeface="맑은 고딕"/>
                        </a:rPr>
                        <a:t>'Zero External Data Egress' 사정거리 미정의 — 빌드타임 레지스트리·NTP 등 허용범위를 경영·보안 합동 결정 필요</a:t>
                      </a:r>
                    </a:p>
                  </a:txBody>
                  <a:tcPr anchor="ctr" marL="76200" marT="38100" marB="381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20242B"/>
                          </a:solidFill>
                          <a:latin typeface="맑은 고딕"/>
                        </a:rPr>
                        <a:t>B3</a:t>
                      </a:r>
                    </a:p>
                  </a:txBody>
                  <a:tcPr anchor="ctr" marL="76200" marT="38100" marB="38100">
                    <a:solidFill>
                      <a:srgbClr val="E4F0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20242B"/>
                          </a:solidFill>
                          <a:latin typeface="맑은 고딕"/>
                        </a:rPr>
                        <a:t>원본 음성 보유·파기기간 미정 — 법무 필요, WAV 무기한 보관 시 스토리지 10배 차이(14GB vs 1.3GB/인·년)</a:t>
                      </a:r>
                    </a:p>
                  </a:txBody>
                  <a:tcPr anchor="ctr" marL="76200" marT="38100" marB="38100">
                    <a:solidFill>
                      <a:srgbClr val="E4F0F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20242B"/>
                          </a:solidFill>
                          <a:latin typeface="맑은 고딕"/>
                        </a:rPr>
                        <a:t>B4</a:t>
                      </a:r>
                    </a:p>
                  </a:txBody>
                  <a:tcPr anchor="ctr" marL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20242B"/>
                          </a:solidFill>
                          <a:latin typeface="맑은 고딕"/>
                        </a:rPr>
                        <a:t>예산·상면·전력 승인 미착수 — GPU 조달 리드타임 8~16주, 실장비 가동까지 총 12~24주 소요 예상</a:t>
                      </a:r>
                    </a:p>
                  </a:txBody>
                  <a:tcPr anchor="ctr" marL="76200" marT="38100" marB="381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6080760"/>
            <a:ext cx="110944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9096A0"/>
                </a:solidFill>
                <a:latin typeface="맑은 고딕"/>
              </a:rPr>
              <a:t>참고 산정(가정): 파일럿 200명 기준 A100 2장·Qdrant 100만벡터·MinIO 2.8TB/년 — 팀 반박·확정 필요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9096A0"/>
                </a:solidFill>
                <a:latin typeface="맑은 고딕"/>
              </a:rPr>
              <a:t>은빛실타래 · SilverYarn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096A0"/>
                </a:solidFill>
                <a:latin typeface="맑은 고딕"/>
              </a:rPr>
              <a:t>49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2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02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858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B8935A"/>
                </a:solidFill>
                <a:latin typeface="맑은 고딕"/>
              </a:rPr>
              <a:t>8부 · 보안(Security)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FFFFFF"/>
                </a:solidFill>
                <a:latin typeface="맑은 고딕"/>
              </a:rPr>
              <a:t>강점 &amp; 핵심 Blocker — 가장 중대한 관점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91153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900" b="0">
                <a:solidFill>
                  <a:srgbClr val="155C6B"/>
                </a:solidFill>
                <a:latin typeface="맑은 고딕"/>
              </a:rPr>
              <a:t>▪  강점: 데이터 등급에 맞는 아키텍처 기본값(Zero Egress·온프레미스) · 법적 미결사항을 코드에 밀어넣지 않는 절제(#19) · 리뷰 가능한 설계 상세</a:t>
            </a:r>
          </a:p>
          <a:p>
            <a:pPr algn="l">
              <a:spcAft>
                <a:spcPts val="1000"/>
              </a:spcAft>
            </a:pPr>
            <a:r>
              <a:rPr sz="1900" b="1">
                <a:solidFill>
                  <a:srgbClr val="B8493F"/>
                </a:solidFill>
                <a:latin typeface="맑은 고딕"/>
              </a:rPr>
              <a:t>▪  B1. 정서 데이터는 '알림' 이전 '기록' 시점부터 이미 민감정보 소지 가능 — 별도 동의 없이 emotion_scores 축적 예정</a:t>
            </a:r>
          </a:p>
          <a:p>
            <a:pPr algn="l">
              <a:spcAft>
                <a:spcPts val="1000"/>
              </a:spcAft>
            </a:pPr>
            <a:r>
              <a:rPr sz="1900" b="1">
                <a:solidFill>
                  <a:srgbClr val="B8493F"/>
                </a:solidFill>
                <a:latin typeface="맑은 고딕"/>
              </a:rPr>
              <a:t>▪  B2. 대리동의(가족)의 법적 근거 공백 — 어르신 본인 동의 경로가 스키마·API 어디에도 없음</a:t>
            </a:r>
          </a:p>
          <a:p>
            <a:pPr algn="l">
              <a:spcAft>
                <a:spcPts val="1000"/>
              </a:spcAft>
            </a:pPr>
            <a:r>
              <a:rPr sz="1900" b="1">
                <a:solidFill>
                  <a:srgbClr val="B8493F"/>
                </a:solidFill>
                <a:latin typeface="맑은 고딕"/>
              </a:rPr>
              <a:t>▪  B3. 보유기간·파기정책 전무 — 보유기간 고지 없이는 적법한 동의서 작성 자체가 불가능</a:t>
            </a:r>
          </a:p>
          <a:p>
            <a:pPr algn="l">
              <a:spcAft>
                <a:spcPts val="1000"/>
              </a:spcAft>
            </a:pPr>
            <a:r>
              <a:rPr sz="1900" b="1">
                <a:solidFill>
                  <a:srgbClr val="B8493F"/>
                </a:solidFill>
                <a:latin typeface="맑은 고딕"/>
              </a:rPr>
              <a:t>▪  B4. PII 암호화 방식 미결은 'Do 단계 이연'이 아니라 스키마 결정 — 나중에 못 바꿈 (3계층 권고안 제시됨)</a:t>
            </a:r>
          </a:p>
          <a:p>
            <a:pPr algn="l">
              <a:spcAft>
                <a:spcPts val="1000"/>
              </a:spcAft>
            </a:pPr>
            <a:r>
              <a:rPr sz="1900" b="1">
                <a:solidFill>
                  <a:srgbClr val="B8493F"/>
                </a:solidFill>
                <a:latin typeface="맑은 고딕"/>
              </a:rPr>
              <a:t>▪  B5. 인증/인가/테넌시/감사모델 공백 — Keycloak↔DB 매핑 컬럼조차 없어 '첫 API를 짤 수 없는' 수준</a:t>
            </a:r>
          </a:p>
          <a:p>
            <a:pPr algn="l">
              <a:spcAft>
                <a:spcPts val="1000"/>
              </a:spcAft>
            </a:pPr>
            <a:r>
              <a:rPr sz="1900" b="1">
                <a:solidFill>
                  <a:srgbClr val="B8493F"/>
                </a:solidFill>
                <a:latin typeface="맑은 고딕"/>
              </a:rPr>
              <a:t>▪  B6. Zero External Data Egress가 설계 내부와 이미 충돌 — SMS/이메일/Push 알림, Google Fonts CDN 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9096A0"/>
                </a:solidFill>
                <a:latin typeface="맑은 고딕"/>
              </a:rPr>
              <a:t>은빛실타래 · SilverYarn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096A0"/>
                </a:solidFill>
                <a:latin typeface="맑은 고딕"/>
              </a:rPr>
              <a:t>50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2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02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858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B8935A"/>
                </a:solidFill>
                <a:latin typeface="맑은 고딕"/>
              </a:rPr>
              <a:t>8부 · 보안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FFFFFF"/>
                </a:solidFill>
                <a:latin typeface="맑은 고딕"/>
              </a:rPr>
              <a:t>법무 검토 요청 항목 (원문)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325880"/>
          <a:ext cx="11094414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24534"/>
                <a:gridCol w="10169880"/>
              </a:tblGrid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</a:rPr>
                        <a:t>#</a:t>
                      </a:r>
                    </a:p>
                  </a:txBody>
                  <a:tcPr anchor="ctr" marT="50800" marB="50800">
                    <a:solidFill>
                      <a:srgbClr val="2024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</a:rPr>
                        <a:t>질의</a:t>
                      </a:r>
                    </a:p>
                  </a:txBody>
                  <a:tcPr anchor="ctr" marT="50800" marB="50800">
                    <a:solidFill>
                      <a:srgbClr val="20242B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20242B"/>
                          </a:solidFill>
                          <a:latin typeface="맑은 고딕"/>
                        </a:rPr>
                        <a:t>1</a:t>
                      </a:r>
                    </a:p>
                  </a:txBody>
                  <a:tcPr anchor="ctr" marL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20242B"/>
                          </a:solidFill>
                          <a:latin typeface="맑은 고딕"/>
                        </a:rPr>
                        <a:t>정서 점수(발화톤·부정어휘 기반)가 개인정보보호법 제23조 민감정보에 해당하는가? 알림 없이 기록만 해도 별도동의가 필요한가?</a:t>
                      </a:r>
                    </a:p>
                  </a:txBody>
                  <a:tcPr anchor="ctr" marL="76200" marT="38100" marB="381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20242B"/>
                          </a:solidFill>
                          <a:latin typeface="맑은 고딕"/>
                        </a:rPr>
                        <a:t>2</a:t>
                      </a:r>
                    </a:p>
                  </a:txBody>
                  <a:tcPr anchor="ctr" marL="76200" marT="38100" marB="38100">
                    <a:solidFill>
                      <a:srgbClr val="E4F0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20242B"/>
                          </a:solidFill>
                          <a:latin typeface="맑은 고딕"/>
                        </a:rPr>
                        <a:t>성년후견 미개시 어르신에 대한 가족의 대리동의가 유효한가? 본인 동의 필수 범위는?</a:t>
                      </a:r>
                    </a:p>
                  </a:txBody>
                  <a:tcPr anchor="ctr" marL="76200" marT="38100" marB="38100">
                    <a:solidFill>
                      <a:srgbClr val="E4F0F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20242B"/>
                          </a:solidFill>
                          <a:latin typeface="맑은 고딕"/>
                        </a:rPr>
                        <a:t>3</a:t>
                      </a:r>
                    </a:p>
                  </a:txBody>
                  <a:tcPr anchor="ctr" marL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20242B"/>
                          </a:solidFill>
                          <a:latin typeface="맑은 고딕"/>
                        </a:rPr>
                        <a:t>가족·복지사의 웹콘솔 열람은 제17조 제3자 제공인가, 제26조 위탁 범위 내 이용인가?</a:t>
                      </a:r>
                    </a:p>
                  </a:txBody>
                  <a:tcPr anchor="ctr" marL="76200" marT="38100" marB="381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20242B"/>
                          </a:solidFill>
                          <a:latin typeface="맑은 고딕"/>
                        </a:rPr>
                        <a:t>4</a:t>
                      </a:r>
                    </a:p>
                  </a:txBody>
                  <a:tcPr anchor="ctr" marL="76200" marT="38100" marB="38100">
                    <a:solidFill>
                      <a:srgbClr val="E4F0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20242B"/>
                          </a:solidFill>
                          <a:latin typeface="맑은 고딕"/>
                        </a:rPr>
                        <a:t>정서 점수 산출·통보 기능이 의료기기법상 규제 대상이 될 위험이 있는가?</a:t>
                      </a:r>
                    </a:p>
                  </a:txBody>
                  <a:tcPr anchor="ctr" marL="76200" marT="38100" marB="38100">
                    <a:solidFill>
                      <a:srgbClr val="E4F0F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20242B"/>
                          </a:solidFill>
                          <a:latin typeface="맑은 고딕"/>
                        </a:rPr>
                        <a:t>5</a:t>
                      </a:r>
                    </a:p>
                  </a:txBody>
                  <a:tcPr anchor="ctr" marL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20242B"/>
                          </a:solidFill>
                          <a:latin typeface="맑은 고딕"/>
                        </a:rPr>
                        <a:t>원본음성/전사/벡터/사진/백업 각각의 보유기간·파기방법은? 암호키 폐기(crypto-shredding)가 적법한 파기로 인정되는가?</a:t>
                      </a:r>
                    </a:p>
                  </a:txBody>
                  <a:tcPr anchor="ctr" marL="76200" marT="38100" marB="381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20242B"/>
                          </a:solidFill>
                          <a:latin typeface="맑은 고딕"/>
                        </a:rPr>
                        <a:t>6</a:t>
                      </a:r>
                    </a:p>
                  </a:txBody>
                  <a:tcPr anchor="ctr" marL="76200" marT="38100" marB="38100">
                    <a:solidFill>
                      <a:srgbClr val="E4F0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20242B"/>
                          </a:solidFill>
                          <a:latin typeface="맑은 고딕"/>
                        </a:rPr>
                        <a:t>FCM/SMS/이메일 알림 발송, Google Fonts CDN 로딩이 국외이전 고지·동의 대상인가?</a:t>
                      </a:r>
                    </a:p>
                  </a:txBody>
                  <a:tcPr anchor="ctr" marL="76200" marT="38100" marB="38100">
                    <a:solidFill>
                      <a:srgbClr val="E4F0F2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6080760"/>
            <a:ext cx="110944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9096A0"/>
                </a:solidFill>
                <a:latin typeface="맑은 고딕"/>
              </a:rPr>
              <a:t>Security Architect 리뷰 원문 인용 — 법무팀 전달용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9096A0"/>
                </a:solidFill>
                <a:latin typeface="맑은 고딕"/>
              </a:rPr>
              <a:t>은빛실타래 · SilverYarn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096A0"/>
                </a:solidFill>
                <a:latin typeface="맑은 고딕"/>
              </a:rPr>
              <a:t>51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2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02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858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B8935A"/>
                </a:solidFill>
                <a:latin typeface="맑은 고딕"/>
              </a:rPr>
              <a:t>8부 · 프론트엔드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FFFFFF"/>
                </a:solidFill>
                <a:latin typeface="맑은 고딕"/>
              </a:rPr>
              <a:t>강점 &amp; 핵심 Blocker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91153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900" b="0">
                <a:solidFill>
                  <a:srgbClr val="155C6B"/>
                </a:solidFill>
                <a:latin typeface="맑은 고딕"/>
              </a:rPr>
              <a:t>▪  강점: BI 가이드→디자인 토큰 매핑 값 단위 100% 일치 · 23개 화면 인벤토리 완결 · 요소 테이블이 이벤트 수준까지 상세</a:t>
            </a:r>
          </a:p>
          <a:p>
            <a:pPr algn="l">
              <a:spcAft>
                <a:spcPts val="1000"/>
              </a:spcAft>
            </a:pPr>
            <a:r>
              <a:rPr sz="1900" b="1">
                <a:solidFill>
                  <a:srgbClr val="B8493F"/>
                </a:solidFill>
                <a:latin typeface="맑은 고딕"/>
              </a:rPr>
              <a:t>▪  B1. 브랜드 컬러 토큰이 WCAG AA 미달 — 본문·캡션·경계선 전 계층에서 발견 (다음 슬라이드 실측치)</a:t>
            </a:r>
          </a:p>
          <a:p>
            <a:pPr algn="l">
              <a:spcAft>
                <a:spcPts val="400"/>
              </a:spcAft>
            </a:pPr>
            <a:r>
              <a:t>     -  고령자 접근성이 제품 핵심 차별점인데, 정작 기본 팔레트가 못 버팀 — 컴포넌트 완성 후 발견되면 전면 재도색 필요</a:t>
            </a:r>
          </a:p>
          <a:p>
            <a:pPr algn="l">
              <a:spcAft>
                <a:spcPts val="1000"/>
              </a:spcAft>
            </a:pPr>
            <a:r>
              <a:rPr sz="1900" b="1">
                <a:solidFill>
                  <a:srgbClr val="B8493F"/>
                </a:solidFill>
                <a:latin typeface="맑은 고딕"/>
              </a:rPr>
              <a:t>▪  B2. 디자인 토큰의 3플랫폼(web/admin/mobile) 배포 메커니즘 부재 — 동일 HEX가 3벌 수기 복제 예정</a:t>
            </a:r>
          </a:p>
          <a:p>
            <a:pPr algn="l">
              <a:spcAft>
                <a:spcPts val="1000"/>
              </a:spcAft>
            </a:pPr>
            <a:r>
              <a:rPr sz="1900" b="1">
                <a:solidFill>
                  <a:srgbClr val="B8493F"/>
                </a:solidFill>
                <a:latin typeface="맑은 고딕"/>
              </a:rPr>
              <a:t>▪  B3. Next.js App Router가 컨벤션상 '동작하지 않는 경로'(src/presentation/app/)에 배치됨 — 첫 next dev 시점에 막힘</a:t>
            </a:r>
          </a:p>
          <a:p>
            <a:pPr algn="l">
              <a:spcAft>
                <a:spcPts val="1000"/>
              </a:spcAft>
            </a:pPr>
            <a:r>
              <a:rPr sz="1900" b="1">
                <a:solidFill>
                  <a:srgbClr val="B8493F"/>
                </a:solidFill>
                <a:latin typeface="맑은 고딕"/>
              </a:rPr>
              <a:t>▪  B4. 접근성 최소기준(폰트 하한·터치타깃·대비등급) 수치가 문서 전체에 0건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9096A0"/>
                </a:solidFill>
                <a:latin typeface="맑은 고딕"/>
              </a:rPr>
              <a:t>은빛실타래 · SilverYarn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096A0"/>
                </a:solidFill>
                <a:latin typeface="맑은 고딕"/>
              </a:rPr>
              <a:t>52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2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02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858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B8935A"/>
                </a:solidFill>
                <a:latin typeface="맑은 고딕"/>
              </a:rPr>
              <a:t>8부 · 프론트엔드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FFFFFF"/>
                </a:solidFill>
                <a:latin typeface="맑은 고딕"/>
              </a:rPr>
              <a:t>컬러 토큰 실측 대비비 — WCAG 위반 사례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325880"/>
          <a:ext cx="11094414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50212"/>
                <a:gridCol w="2218883"/>
                <a:gridCol w="2218883"/>
                <a:gridCol w="3106436"/>
              </a:tblGrid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</a:rPr>
                        <a:t>조합</a:t>
                      </a:r>
                    </a:p>
                  </a:txBody>
                  <a:tcPr anchor="ctr" marT="50800" marB="50800">
                    <a:solidFill>
                      <a:srgbClr val="2024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</a:rPr>
                        <a:t>실측 대비비</a:t>
                      </a:r>
                    </a:p>
                  </a:txBody>
                  <a:tcPr anchor="ctr" marT="50800" marB="50800">
                    <a:solidFill>
                      <a:srgbClr val="2024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</a:rPr>
                        <a:t>AA 본문(4.5)</a:t>
                      </a:r>
                    </a:p>
                  </a:txBody>
                  <a:tcPr anchor="ctr" marT="50800" marB="50800">
                    <a:solidFill>
                      <a:srgbClr val="2024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</a:rPr>
                        <a:t>판정</a:t>
                      </a:r>
                    </a:p>
                  </a:txBody>
                  <a:tcPr anchor="ctr" marT="50800" marB="50800">
                    <a:solidFill>
                      <a:srgbClr val="20242B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20242B"/>
                          </a:solidFill>
                          <a:latin typeface="맑은 고딕"/>
                        </a:rPr>
                        <a:t>teal #1E7A8C / paper #F4F2EE</a:t>
                      </a:r>
                    </a:p>
                  </a:txBody>
                  <a:tcPr anchor="ctr" marL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20242B"/>
                          </a:solidFill>
                          <a:latin typeface="맑은 고딕"/>
                        </a:rPr>
                        <a:t>4.45 : 1</a:t>
                      </a:r>
                    </a:p>
                  </a:txBody>
                  <a:tcPr anchor="ctr" marL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20242B"/>
                          </a:solidFill>
                          <a:latin typeface="맑은 고딕"/>
                        </a:rPr>
                        <a:t>미달</a:t>
                      </a:r>
                    </a:p>
                  </a:txBody>
                  <a:tcPr anchor="ctr" marL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20242B"/>
                          </a:solidFill>
                          <a:latin typeface="맑은 고딕"/>
                        </a:rPr>
                        <a:t>❌ 본문·링크색 사용 불가</a:t>
                      </a:r>
                    </a:p>
                  </a:txBody>
                  <a:tcPr anchor="ctr" marL="76200" marT="38100" marB="381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20242B"/>
                          </a:solidFill>
                          <a:latin typeface="맑은 고딕"/>
                        </a:rPr>
                        <a:t>ink-faint #9096A0 / paper (현 CAPTION 지정색)</a:t>
                      </a:r>
                    </a:p>
                  </a:txBody>
                  <a:tcPr anchor="ctr" marL="76200" marT="38100" marB="38100">
                    <a:solidFill>
                      <a:srgbClr val="E4F0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20242B"/>
                          </a:solidFill>
                          <a:latin typeface="맑은 고딕"/>
                        </a:rPr>
                        <a:t>2.66 : 1</a:t>
                      </a:r>
                    </a:p>
                  </a:txBody>
                  <a:tcPr anchor="ctr" marL="76200" marT="38100" marB="38100">
                    <a:solidFill>
                      <a:srgbClr val="E4F0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20242B"/>
                          </a:solidFill>
                          <a:latin typeface="맑은 고딕"/>
                        </a:rPr>
                        <a:t>미달</a:t>
                      </a:r>
                    </a:p>
                  </a:txBody>
                  <a:tcPr anchor="ctr" marL="76200" marT="38100" marB="38100">
                    <a:solidFill>
                      <a:srgbClr val="E4F0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20242B"/>
                          </a:solidFill>
                          <a:latin typeface="맑은 고딕"/>
                        </a:rPr>
                        <a:t>❌ 사용 불가</a:t>
                      </a:r>
                    </a:p>
                  </a:txBody>
                  <a:tcPr anchor="ctr" marL="76200" marT="38100" marB="38100">
                    <a:solidFill>
                      <a:srgbClr val="E4F0F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20242B"/>
                          </a:solidFill>
                          <a:latin typeface="맑은 고딕"/>
                        </a:rPr>
                        <a:t>gold #B8935A / paper</a:t>
                      </a:r>
                    </a:p>
                  </a:txBody>
                  <a:tcPr anchor="ctr" marL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20242B"/>
                          </a:solidFill>
                          <a:latin typeface="맑은 고딕"/>
                        </a:rPr>
                        <a:t>2.55 : 1</a:t>
                      </a:r>
                    </a:p>
                  </a:txBody>
                  <a:tcPr anchor="ctr" marL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20242B"/>
                          </a:solidFill>
                          <a:latin typeface="맑은 고딕"/>
                        </a:rPr>
                        <a:t>미달</a:t>
                      </a:r>
                    </a:p>
                  </a:txBody>
                  <a:tcPr anchor="ctr" marL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20242B"/>
                          </a:solidFill>
                          <a:latin typeface="맑은 고딕"/>
                        </a:rPr>
                        <a:t>❌ 텍스트·아이콘 전면 금지</a:t>
                      </a:r>
                    </a:p>
                  </a:txBody>
                  <a:tcPr anchor="ctr" marL="76200" marT="38100" marB="381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20242B"/>
                          </a:solidFill>
                          <a:latin typeface="맑은 고딕"/>
                        </a:rPr>
                        <a:t>silver #8E97A6 / paper</a:t>
                      </a:r>
                    </a:p>
                  </a:txBody>
                  <a:tcPr anchor="ctr" marL="76200" marT="38100" marB="38100">
                    <a:solidFill>
                      <a:srgbClr val="E4F0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20242B"/>
                          </a:solidFill>
                          <a:latin typeface="맑은 고딕"/>
                        </a:rPr>
                        <a:t>2.63 : 1</a:t>
                      </a:r>
                    </a:p>
                  </a:txBody>
                  <a:tcPr anchor="ctr" marL="76200" marT="38100" marB="38100">
                    <a:solidFill>
                      <a:srgbClr val="E4F0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20242B"/>
                          </a:solidFill>
                          <a:latin typeface="맑은 고딕"/>
                        </a:rPr>
                        <a:t>미달</a:t>
                      </a:r>
                    </a:p>
                  </a:txBody>
                  <a:tcPr anchor="ctr" marL="76200" marT="38100" marB="38100">
                    <a:solidFill>
                      <a:srgbClr val="E4F0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20242B"/>
                          </a:solidFill>
                          <a:latin typeface="맑은 고딕"/>
                        </a:rPr>
                        <a:t>❌ 로고 stroke 등 장식 전용으로 제한 필요</a:t>
                      </a:r>
                    </a:p>
                  </a:txBody>
                  <a:tcPr anchor="ctr" marL="76200" marT="38100" marB="38100">
                    <a:solidFill>
                      <a:srgbClr val="E4F0F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20242B"/>
                          </a:solidFill>
                          <a:latin typeface="맑은 고딕"/>
                        </a:rPr>
                        <a:t>border #DEDACF / paper</a:t>
                      </a:r>
                    </a:p>
                  </a:txBody>
                  <a:tcPr anchor="ctr" marL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20242B"/>
                          </a:solidFill>
                          <a:latin typeface="맑은 고딕"/>
                        </a:rPr>
                        <a:t>1.25 : 1</a:t>
                      </a:r>
                    </a:p>
                  </a:txBody>
                  <a:tcPr anchor="ctr" marL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20242B"/>
                          </a:solidFill>
                          <a:latin typeface="맑은 고딕"/>
                        </a:rPr>
                        <a:t>비텍스트 기준(3.0)도 미달</a:t>
                      </a:r>
                    </a:p>
                  </a:txBody>
                  <a:tcPr anchor="ctr" marL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20242B"/>
                          </a:solidFill>
                          <a:latin typeface="맑은 고딕"/>
                        </a:rPr>
                        <a:t>❌ 입력필드·카드 경계 사실상 비가시</a:t>
                      </a:r>
                    </a:p>
                  </a:txBody>
                  <a:tcPr anchor="ctr" marL="76200" marT="38100" marB="381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20242B"/>
                          </a:solidFill>
                          <a:latin typeface="맑은 고딕"/>
                        </a:rPr>
                        <a:t>teal-deep #155C6B / white</a:t>
                      </a:r>
                    </a:p>
                  </a:txBody>
                  <a:tcPr anchor="ctr" marL="76200" marT="38100" marB="38100">
                    <a:solidFill>
                      <a:srgbClr val="E4F0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20242B"/>
                          </a:solidFill>
                          <a:latin typeface="맑은 고딕"/>
                        </a:rPr>
                        <a:t>7.57 : 1</a:t>
                      </a:r>
                    </a:p>
                  </a:txBody>
                  <a:tcPr anchor="ctr" marL="76200" marT="38100" marB="38100">
                    <a:solidFill>
                      <a:srgbClr val="E4F0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20242B"/>
                          </a:solidFill>
                          <a:latin typeface="맑은 고딕"/>
                        </a:rPr>
                        <a:t>AAA 통과</a:t>
                      </a:r>
                    </a:p>
                  </a:txBody>
                  <a:tcPr anchor="ctr" marL="76200" marT="38100" marB="38100">
                    <a:solidFill>
                      <a:srgbClr val="E4F0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20242B"/>
                          </a:solidFill>
                          <a:latin typeface="맑은 고딕"/>
                        </a:rPr>
                        <a:t>✅ 권장 텍스트색으로 대체</a:t>
                      </a:r>
                    </a:p>
                  </a:txBody>
                  <a:tcPr anchor="ctr" marL="76200" marT="38100" marB="38100">
                    <a:solidFill>
                      <a:srgbClr val="E4F0F2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6080760"/>
            <a:ext cx="110944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9096A0"/>
                </a:solidFill>
                <a:latin typeface="맑은 고딕"/>
              </a:rPr>
              <a:t>Frontend Architect 실측(WCAG 2.x relative luminance) — 팔레트는 SoR(BI가이드) 개정 후 토큰 반영 필요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9096A0"/>
                </a:solidFill>
                <a:latin typeface="맑은 고딕"/>
              </a:rPr>
              <a:t>은빛실타래 · SilverYarn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096A0"/>
                </a:solidFill>
                <a:latin typeface="맑은 고딕"/>
              </a:rPr>
              <a:t>53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2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02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858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B8935A"/>
                </a:solidFill>
                <a:latin typeface="맑은 고딕"/>
              </a:rPr>
              <a:t>8부 · PM/스코프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FFFFFF"/>
                </a:solidFill>
                <a:latin typeface="맑은 고딕"/>
              </a:rPr>
              <a:t>강점 &amp; Blocker — '진짜 착수를 막는 것은 무엇인가'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325880"/>
          <a:ext cx="11094414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3976"/>
                <a:gridCol w="9060438"/>
              </a:tblGrid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</a:rPr>
                        <a:t>구분</a:t>
                      </a:r>
                    </a:p>
                  </a:txBody>
                  <a:tcPr anchor="ctr" marT="50800" marB="50800">
                    <a:solidFill>
                      <a:srgbClr val="2024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</a:rPr>
                        <a:t>내용</a:t>
                      </a:r>
                    </a:p>
                  </a:txBody>
                  <a:tcPr anchor="ctr" marT="50800" marB="50800">
                    <a:solidFill>
                      <a:srgbClr val="20242B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20242B"/>
                          </a:solidFill>
                          <a:latin typeface="맑은 고딕"/>
                        </a:rPr>
                        <a:t>강점</a:t>
                      </a:r>
                    </a:p>
                  </a:txBody>
                  <a:tcPr anchor="ctr" marL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20242B"/>
                          </a:solidFill>
                          <a:latin typeface="맑은 고딕"/>
                        </a:rPr>
                        <a:t>의사결정 밀도 이례적으로 높음(23건 중 17건 확정) · 상류 산출물이 코드 직전까지 완비 · 리스크가 정직하게 문서화됨</a:t>
                      </a:r>
                    </a:p>
                  </a:txBody>
                  <a:tcPr anchor="ctr" marL="76200" marT="38100" marB="381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20242B"/>
                          </a:solidFill>
                          <a:latin typeface="맑은 고딕"/>
                        </a:rPr>
                        <a:t>B1 (진짜 Blocker)</a:t>
                      </a:r>
                    </a:p>
                  </a:txBody>
                  <a:tcPr anchor="ctr" marL="76200" marT="38100" marB="38100">
                    <a:solidFill>
                      <a:srgbClr val="E4F0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20242B"/>
                          </a:solidFill>
                          <a:latin typeface="맑은 고딕"/>
                        </a:rPr>
                        <a:t>Phase 1 예산·인력 미승인 — GPU 조달 리드타임이 승인일에 종속, 오늘 승인해도 실장비는 3~6개월 뒤</a:t>
                      </a:r>
                    </a:p>
                  </a:txBody>
                  <a:tcPr anchor="ctr" marL="76200" marT="38100" marB="38100">
                    <a:solidFill>
                      <a:srgbClr val="E4F0F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20242B"/>
                          </a:solidFill>
                          <a:latin typeface="맑은 고딕"/>
                        </a:rPr>
                        <a:t>B2 (부분 Blocker)</a:t>
                      </a:r>
                    </a:p>
                  </a:txBody>
                  <a:tcPr anchor="ctr" marL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20242B"/>
                          </a:solidFill>
                          <a:latin typeface="맑은 고딕"/>
                        </a:rPr>
                        <a:t>온디바이스 SLM 모델 미선정 — Session 3(서버)는 무관하게 착수 가능, Session 4(모바일)만 차단. 예산 없이 착수 가능한 2주 스파이크로 해소</a:t>
                      </a:r>
                    </a:p>
                  </a:txBody>
                  <a:tcPr anchor="ctr" marL="76200" marT="38100" marB="381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20242B"/>
                          </a:solidFill>
                          <a:latin typeface="맑은 고딕"/>
                        </a:rPr>
                        <a:t>B3 (즉시 해소 가능)</a:t>
                      </a:r>
                    </a:p>
                  </a:txBody>
                  <a:tcPr anchor="ctr" marL="76200" marT="38100" marB="38100">
                    <a:solidFill>
                      <a:srgbClr val="E4F0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20242B"/>
                          </a:solidFill>
                          <a:latin typeface="맑은 고딕"/>
                        </a:rPr>
                        <a:t>Phase 1/2/3 스코프 경계가 어느 문서에도 없음 — plan §2.1 In Scope가 3개 Phase 전체를 뭉뚱그림. 킥오프 당일 승인만으로 해결</a:t>
                      </a:r>
                    </a:p>
                  </a:txBody>
                  <a:tcPr anchor="ctr" marL="76200" marT="38100" marB="38100">
                    <a:solidFill>
                      <a:srgbClr val="E4F0F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20242B"/>
                          </a:solidFill>
                          <a:latin typeface="맑은 고딕"/>
                        </a:rPr>
                        <a:t>핵심 통찰</a:t>
                      </a:r>
                    </a:p>
                  </a:txBody>
                  <a:tcPr anchor="ctr" marL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20242B"/>
                          </a:solidFill>
                          <a:latin typeface="맑은 고딕"/>
                        </a:rPr>
                        <a:t>미결 7건 중 실제 Phase 1 착수를 막는 것은 예산 1건뿐. 법무 검토(#12)는 Phase 2 사안이라 착수를 막지 않음 (단, 보안 관점은 이 판단에 이견 — 다음 슬라이드)</a:t>
                      </a:r>
                    </a:p>
                  </a:txBody>
                  <a:tcPr anchor="ctr" marL="76200" marT="38100" marB="381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9096A0"/>
                </a:solidFill>
                <a:latin typeface="맑은 고딕"/>
              </a:rPr>
              <a:t>은빛실타래 · SilverYarn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096A0"/>
                </a:solidFill>
                <a:latin typeface="맑은 고딕"/>
              </a:rPr>
              <a:t>54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2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02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858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B8935A"/>
                </a:solidFill>
                <a:latin typeface="맑은 고딕"/>
              </a:rPr>
              <a:t>8부 · PM/스코프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FFFFFF"/>
                </a:solidFill>
                <a:latin typeface="맑은 고딕"/>
              </a:rPr>
              <a:t>검증되지 않은 최대 제품 가정 — 최저비용 실험 제안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91153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900" b="0">
                <a:solidFill>
                  <a:srgbClr val="20242B"/>
                </a:solidFill>
                <a:latin typeface="맑은 고딕"/>
              </a:rPr>
              <a:t>▪  가정 A: '어르신이 몇 달간 스스로, 반복해서, 스마트폰에 인생을 말한다' — 전체 아키텍처가 이 가정 위에 세워짐, 검증 데이터 없음</a:t>
            </a:r>
          </a:p>
          <a:p>
            <a:pPr algn="l">
              <a:spcAft>
                <a:spcPts val="400"/>
              </a:spcAft>
            </a:pPr>
            <a:r>
              <a:t>     -  실험: 복지관 협조 Wizard-of-Oz 인터뷰(사람이 진행, 코드 0줄, 2주) — 14일 지속률·세션당 발화시간 측정, Phase 1 개발과 병행 착수 가능</a:t>
            </a:r>
          </a:p>
          <a:p>
            <a:pPr algn="l">
              <a:spcAft>
                <a:spcPts val="1000"/>
              </a:spcAft>
            </a:pPr>
            <a:r>
              <a:rPr sz="1900" b="0">
                <a:solidFill>
                  <a:srgbClr val="20242B"/>
                </a:solidFill>
                <a:latin typeface="맑은 고딕"/>
              </a:rPr>
              <a:t>▪  가정 B: '1~3B 4bit 온디바이스 SLM이 한국어 회고 대화 품질을 지탱한다' — plan §5가 Likelihood 'High'로 인정한 리스크</a:t>
            </a:r>
          </a:p>
          <a:p>
            <a:pPr algn="l">
              <a:spcAft>
                <a:spcPts val="400"/>
              </a:spcAft>
            </a:pPr>
            <a:r>
              <a:t>     -  실험: B2 SLM 벤치마크와 동일 작업으로 병행 — 품질 미달 시 폴백 설계(오프라인은 질문 낭독+녹음만, 생성은 서버 위임)까지 스파이크 산출물에 포함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9096A0"/>
                </a:solidFill>
                <a:latin typeface="맑은 고딕"/>
              </a:rPr>
              <a:t>은빛실타래 · SilverYarn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096A0"/>
                </a:solidFill>
                <a:latin typeface="맑은 고딕"/>
              </a:rPr>
              <a:t>55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2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02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858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B8935A"/>
                </a:solidFill>
                <a:latin typeface="맑은 고딕"/>
              </a:rPr>
              <a:t>8부 · 백엔드/API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FFFFFF"/>
                </a:solidFill>
                <a:latin typeface="맑은 고딕"/>
              </a:rPr>
              <a:t>강점 &amp; Blocker — 자체 FastAPI 선택 타당성 재확인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325880"/>
          <a:ext cx="11094414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86801"/>
                <a:gridCol w="9707613"/>
              </a:tblGrid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</a:rPr>
                        <a:t>구분</a:t>
                      </a:r>
                    </a:p>
                  </a:txBody>
                  <a:tcPr anchor="ctr" marT="50800" marB="50800">
                    <a:solidFill>
                      <a:srgbClr val="2024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</a:rPr>
                        <a:t>내용</a:t>
                      </a:r>
                    </a:p>
                  </a:txBody>
                  <a:tcPr anchor="ctr" marT="50800" marB="50800">
                    <a:solidFill>
                      <a:srgbClr val="20242B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20242B"/>
                          </a:solidFill>
                          <a:latin typeface="맑은 고딕"/>
                        </a:rPr>
                        <a:t>타당성 검증</a:t>
                      </a:r>
                    </a:p>
                  </a:txBody>
                  <a:tcPr anchor="ctr" marL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20242B"/>
                          </a:solidFill>
                          <a:latin typeface="맑은 고딕"/>
                        </a:rPr>
                        <a:t>bkend.ai 같은 BaaS는 GPU 상주추론·Zero Egress 원칙과 구조적으로 충돌 — 자체호스팅 FastAPI가 데이터주권상 유일하게 타당한 선택임을 재확인</a:t>
                      </a:r>
                    </a:p>
                  </a:txBody>
                  <a:tcPr anchor="ctr" marL="76200" marT="38100" marB="381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20242B"/>
                          </a:solidFill>
                          <a:latin typeface="맑은 고딕"/>
                        </a:rPr>
                        <a:t>강점</a:t>
                      </a:r>
                    </a:p>
                  </a:txBody>
                  <a:tcPr anchor="ctr" marL="76200" marT="38100" marB="38100">
                    <a:solidFill>
                      <a:srgbClr val="E4F0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20242B"/>
                          </a:solidFill>
                          <a:latin typeface="맑은 고딕"/>
                        </a:rPr>
                        <a:t>서버 내부 wire format이 DB와 동일 snake_case라 변환계층 불필요 · 표준 응답/에러포맷 선확정 · Clean Architecture 규칙이 CI 룰로 즉시 전환 가능한 수준</a:t>
                      </a:r>
                    </a:p>
                  </a:txBody>
                  <a:tcPr anchor="ctr" marL="76200" marT="38100" marB="38100">
                    <a:solidFill>
                      <a:srgbClr val="E4F0F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20242B"/>
                          </a:solidFill>
                          <a:latin typeface="맑은 고딕"/>
                        </a:rPr>
                        <a:t>B1</a:t>
                      </a:r>
                    </a:p>
                  </a:txBody>
                  <a:tcPr anchor="ctr" marL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20242B"/>
                          </a:solidFill>
                          <a:latin typeface="맑은 고딕"/>
                        </a:rPr>
                        <a:t>장시간 작업(STT재전사·LLM챕터생성)의 비동기 계약 부재 — 동기화 진행상황 조회 API 자체가 없음 (202+job_id 패턴 필요)</a:t>
                      </a:r>
                    </a:p>
                  </a:txBody>
                  <a:tcPr anchor="ctr" marL="76200" marT="38100" marB="381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20242B"/>
                          </a:solidFill>
                          <a:latin typeface="맑은 고딕"/>
                        </a:rPr>
                        <a:t>B2</a:t>
                      </a:r>
                    </a:p>
                  </a:txBody>
                  <a:tcPr anchor="ctr" marL="76200" marT="38100" marB="38100">
                    <a:solidFill>
                      <a:srgbClr val="E4F0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20242B"/>
                          </a:solidFill>
                          <a:latin typeface="맑은 고딕"/>
                        </a:rPr>
                        <a:t>파일(음성·사진) 업로드 전송 방식 미정 — 프록시 업로드시 배치 음성 수백MB에 타임아웃 위험 (Presigned URL 직결 권고)</a:t>
                      </a:r>
                    </a:p>
                  </a:txBody>
                  <a:tcPr anchor="ctr" marL="76200" marT="38100" marB="38100">
                    <a:solidFill>
                      <a:srgbClr val="E4F0F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20242B"/>
                          </a:solidFill>
                          <a:latin typeface="맑은 고딕"/>
                        </a:rPr>
                        <a:t>B3</a:t>
                      </a:r>
                    </a:p>
                  </a:txBody>
                  <a:tcPr anchor="ctr" marL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20242B"/>
                          </a:solidFill>
                          <a:latin typeface="맑은 고딕"/>
                        </a:rPr>
                        <a:t>17개 엔티티↔6개 서비스 소유권 매핑 표 부재 — 공유 엔티티(users 등) 중복정의로 스키마 드리프트 확실</a:t>
                      </a:r>
                    </a:p>
                  </a:txBody>
                  <a:tcPr anchor="ctr" marL="76200" marT="38100" marB="381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20242B"/>
                          </a:solidFill>
                          <a:latin typeface="맑은 고딕"/>
                        </a:rPr>
                        <a:t>B4</a:t>
                      </a:r>
                    </a:p>
                  </a:txBody>
                  <a:tcPr anchor="ctr" marL="76200" marT="38100" marB="38100">
                    <a:solidFill>
                      <a:srgbClr val="E4F0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20242B"/>
                          </a:solidFill>
                          <a:latin typeface="맑은 고딕"/>
                        </a:rPr>
                        <a:t>GET /sync/download 증분 계약 없음 — 매번 전량 다운로드면 오프라인 우선 원칙과 충돌</a:t>
                      </a:r>
                    </a:p>
                  </a:txBody>
                  <a:tcPr anchor="ctr" marL="76200" marT="38100" marB="38100">
                    <a:solidFill>
                      <a:srgbClr val="E4F0F2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9096A0"/>
                </a:solidFill>
                <a:latin typeface="맑은 고딕"/>
              </a:rPr>
              <a:t>은빛실타래 · SilverYarn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096A0"/>
                </a:solidFill>
                <a:latin typeface="맑은 고딕"/>
              </a:rPr>
              <a:t>56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2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02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858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B8935A"/>
                </a:solidFill>
                <a:latin typeface="맑은 고딕"/>
              </a:rPr>
              <a:t>8부 · QA전략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FFFFFF"/>
                </a:solidFill>
                <a:latin typeface="맑은 고딕"/>
              </a:rPr>
              <a:t>강점 &amp; Blocker — '얼마나 되어야 통과인가'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325880"/>
          <a:ext cx="11094414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86801"/>
                <a:gridCol w="9707613"/>
              </a:tblGrid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</a:rPr>
                        <a:t>구분</a:t>
                      </a:r>
                    </a:p>
                  </a:txBody>
                  <a:tcPr anchor="ctr" marT="50800" marB="50800">
                    <a:solidFill>
                      <a:srgbClr val="2024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</a:rPr>
                        <a:t>내용</a:t>
                      </a:r>
                    </a:p>
                  </a:txBody>
                  <a:tcPr anchor="ctr" marT="50800" marB="50800">
                    <a:solidFill>
                      <a:srgbClr val="20242B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20242B"/>
                          </a:solidFill>
                          <a:latin typeface="맑은 고딕"/>
                        </a:rPr>
                        <a:t>강점</a:t>
                      </a:r>
                    </a:p>
                  </a:txBody>
                  <a:tcPr anchor="ctr" marL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20242B"/>
                          </a:solidFill>
                          <a:latin typeface="맑은 고딕"/>
                        </a:rPr>
                        <a:t>Test Scope 표가 6개 시나리오축 선제 식별 · 동기화 실패·Diff 멱등성 최소 기준선 존재 · 설치모드 경계기기 5종 실명 명시로 실기기 랩 리스트 즉시 추출 가능</a:t>
                      </a:r>
                    </a:p>
                  </a:txBody>
                  <a:tcPr anchor="ctr" marL="76200" marT="38100" marB="381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20242B"/>
                          </a:solidFill>
                          <a:latin typeface="맑은 고딕"/>
                        </a:rPr>
                        <a:t>B1</a:t>
                      </a:r>
                    </a:p>
                  </a:txBody>
                  <a:tcPr anchor="ctr" marL="76200" marT="38100" marB="38100">
                    <a:solidFill>
                      <a:srgbClr val="E4F0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20242B"/>
                          </a:solidFill>
                          <a:latin typeface="맑은 고딕"/>
                        </a:rPr>
                        <a:t>테스트 정량 기준(Pass/Fail 임계값) 전무 — 재시도 최대횟수 N조차 미정, PM의 제품 완료기준과는 별개로 테스트케이스 단위 수치 없음</a:t>
                      </a:r>
                    </a:p>
                  </a:txBody>
                  <a:tcPr anchor="ctr" marL="76200" marT="38100" marB="38100">
                    <a:solidFill>
                      <a:srgbClr val="E4F0F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20242B"/>
                          </a:solidFill>
                          <a:latin typeface="맑은 고딕"/>
                        </a:rPr>
                        <a:t>B2</a:t>
                      </a:r>
                    </a:p>
                  </a:txBody>
                  <a:tcPr anchor="ctr" marL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20242B"/>
                          </a:solidFill>
                          <a:latin typeface="맑은 고딕"/>
                        </a:rPr>
                        <a:t>고령 화자 음성인식 정확도가 Test Scope에서 통째로 누락 — SLM 벤치마크는 성능만 보고 인식정확도(WER) 데이터셋·계획이 없음</a:t>
                      </a:r>
                    </a:p>
                  </a:txBody>
                  <a:tcPr anchor="ctr" marL="76200" marT="38100" marB="381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20242B"/>
                          </a:solidFill>
                          <a:latin typeface="맑은 고딕"/>
                        </a:rPr>
                        <a:t>B3</a:t>
                      </a:r>
                    </a:p>
                  </a:txBody>
                  <a:tcPr anchor="ctr" marL="76200" marT="38100" marB="38100">
                    <a:solidFill>
                      <a:srgbClr val="E4F0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20242B"/>
                          </a:solidFill>
                          <a:latin typeface="맑은 고딕"/>
                        </a:rPr>
                        <a:t>네트워크 장애주입·실기기 랩의 조달 주체·일정 부재 — 서버 로컬환경(docker-compose)과는 다른 별도 QA 인프라</a:t>
                      </a:r>
                    </a:p>
                  </a:txBody>
                  <a:tcPr anchor="ctr" marL="76200" marT="38100" marB="38100">
                    <a:solidFill>
                      <a:srgbClr val="E4F0F2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6080760"/>
            <a:ext cx="110944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9096A0"/>
                </a:solidFill>
                <a:latin typeface="맑은 고딕"/>
              </a:rPr>
              <a:t>3건 모두 코드 착수를 막을 필요 없는 1~2주 문서/조달 작업 — SLM 벤치마크·인프라 트랙과 병행 권고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9096A0"/>
                </a:solidFill>
                <a:latin typeface="맑은 고딕"/>
              </a:rPr>
              <a:t>은빛실타래 · SilverYarn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096A0"/>
                </a:solidFill>
                <a:latin typeface="맑은 고딕"/>
              </a:rPr>
              <a:t>57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2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02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858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B8935A"/>
                </a:solidFill>
                <a:latin typeface="맑은 고딕"/>
              </a:rPr>
              <a:t>8부 · 종합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FFFFFF"/>
                </a:solidFill>
                <a:latin typeface="맑은 고딕"/>
              </a:rPr>
              <a:t>관점 간 이견 — 정서 모니터링 착수 가능 시점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325880"/>
          <a:ext cx="11094414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11336"/>
                <a:gridCol w="8783078"/>
              </a:tblGrid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</a:rPr>
                        <a:t>관점</a:t>
                      </a:r>
                    </a:p>
                  </a:txBody>
                  <a:tcPr anchor="ctr" marT="50800" marB="50800">
                    <a:solidFill>
                      <a:srgbClr val="2024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</a:rPr>
                        <a:t>판단</a:t>
                      </a:r>
                    </a:p>
                  </a:txBody>
                  <a:tcPr anchor="ctr" marT="50800" marB="50800">
                    <a:solidFill>
                      <a:srgbClr val="20242B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20242B"/>
                          </a:solidFill>
                          <a:latin typeface="맑은 고딕"/>
                        </a:rPr>
                        <a:t>PM/Product</a:t>
                      </a:r>
                    </a:p>
                  </a:txBody>
                  <a:tcPr anchor="ctr" marL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20242B"/>
                          </a:solidFill>
                          <a:latin typeface="맑은 고딕"/>
                        </a:rPr>
                        <a:t>정서 모니터링은 design §11.2 구현순서 6 = Phase 2 사안. Phase 1 임계경로 밖이므로 착수를 막지 않음</a:t>
                      </a:r>
                    </a:p>
                  </a:txBody>
                  <a:tcPr anchor="ctr" marL="76200" marT="38100" marB="381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20242B"/>
                          </a:solidFill>
                          <a:latin typeface="맑은 고딕"/>
                        </a:rPr>
                        <a:t>Security</a:t>
                      </a:r>
                    </a:p>
                  </a:txBody>
                  <a:tcPr anchor="ctr" marL="76200" marT="38100" marB="38100">
                    <a:solidFill>
                      <a:srgbClr val="E4F0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20242B"/>
                          </a:solidFill>
                          <a:latin typeface="맑은 고딕"/>
                        </a:rPr>
                        <a:t>emotion_scores '기록'(알림과 무관) 자체가 민감정보 소지 가능 — 이 write 경로는 Phase 1 온보딩(consent_logs)과 맞물려 있어 더 이르게 문제화됨</a:t>
                      </a:r>
                    </a:p>
                  </a:txBody>
                  <a:tcPr anchor="ctr" marL="76200" marT="38100" marB="38100">
                    <a:solidFill>
                      <a:srgbClr val="E4F0F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20242B"/>
                          </a:solidFill>
                          <a:latin typeface="맑은 고딕"/>
                        </a:rPr>
                        <a:t>종합 권고</a:t>
                      </a:r>
                    </a:p>
                  </a:txBody>
                  <a:tcPr anchor="ctr" marL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20242B"/>
                          </a:solidFill>
                          <a:latin typeface="맑은 고딕"/>
                        </a:rPr>
                        <a:t>이견을 경영진이 인지한 채 진행: Phase 1 코드에서 정서 파이프라인(emotion_scores write, meta_emotion/meta_prosody 산출)을 피처 플래그로 OFF, 법무 회신 후 ON</a:t>
                      </a:r>
                    </a:p>
                  </a:txBody>
                  <a:tcPr anchor="ctr" marL="76200" marT="38100" marB="381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9096A0"/>
                </a:solidFill>
                <a:latin typeface="맑은 고딕"/>
              </a:rPr>
              <a:t>은빛실타래 · SilverYarn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096A0"/>
                </a:solidFill>
                <a:latin typeface="맑은 고딕"/>
              </a:rPr>
              <a:t>58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2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02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858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B8935A"/>
                </a:solidFill>
                <a:latin typeface="맑은 고딕"/>
              </a:rPr>
              <a:t>8부 · 종합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FFFFFF"/>
                </a:solidFill>
                <a:latin typeface="맑은 고딕"/>
              </a:rPr>
              <a:t>Blocker 총괄 매트릭스 (7개 관점, 우선순위순)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325880"/>
          <a:ext cx="11094414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6833"/>
                <a:gridCol w="6827332"/>
                <a:gridCol w="2560249"/>
              </a:tblGrid>
              <a:tr h="323088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관점</a:t>
                      </a:r>
                    </a:p>
                  </a:txBody>
                  <a:tcPr anchor="ctr" marT="50800" marB="50800">
                    <a:solidFill>
                      <a:srgbClr val="2024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Blocker</a:t>
                      </a:r>
                    </a:p>
                  </a:txBody>
                  <a:tcPr anchor="ctr" marT="50800" marB="50800">
                    <a:solidFill>
                      <a:srgbClr val="2024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소요</a:t>
                      </a:r>
                    </a:p>
                  </a:txBody>
                  <a:tcPr anchor="ctr" marT="50800" marB="50800">
                    <a:solidFill>
                      <a:srgbClr val="20242B"/>
                    </a:solidFill>
                  </a:tcPr>
                </a:tc>
              </a:tr>
              <a:tr h="323088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20242B"/>
                          </a:solidFill>
                          <a:latin typeface="맑은 고딕"/>
                        </a:rPr>
                        <a:t>PM</a:t>
                      </a:r>
                    </a:p>
                  </a:txBody>
                  <a:tcPr anchor="ctr" marL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20242B"/>
                          </a:solidFill>
                          <a:latin typeface="맑은 고딕"/>
                        </a:rPr>
                        <a:t>Phase 1 예산·인력 승인</a:t>
                      </a:r>
                    </a:p>
                  </a:txBody>
                  <a:tcPr anchor="ctr" marL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20242B"/>
                          </a:solidFill>
                          <a:latin typeface="맑은 고딕"/>
                        </a:rPr>
                        <a:t>경영진 결정 즉시 / 실현 3~6개월</a:t>
                      </a:r>
                    </a:p>
                  </a:txBody>
                  <a:tcPr anchor="ctr" marL="76200" marT="38100" marB="38100">
                    <a:solidFill>
                      <a:srgbClr val="FFFFFF"/>
                    </a:solidFill>
                  </a:tcPr>
                </a:tc>
              </a:tr>
              <a:tr h="323088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20242B"/>
                          </a:solidFill>
                          <a:latin typeface="맑은 고딕"/>
                        </a:rPr>
                        <a:t>보안</a:t>
                      </a:r>
                    </a:p>
                  </a:txBody>
                  <a:tcPr anchor="ctr" marL="76200" marT="38100" marB="38100">
                    <a:solidFill>
                      <a:srgbClr val="E4F0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20242B"/>
                          </a:solidFill>
                          <a:latin typeface="맑은 고딕"/>
                        </a:rPr>
                        <a:t>동의·보유기간·인가모델·암호화 5대 공백 (법적 리스크)</a:t>
                      </a:r>
                    </a:p>
                  </a:txBody>
                  <a:tcPr anchor="ctr" marL="76200" marT="38100" marB="38100">
                    <a:solidFill>
                      <a:srgbClr val="E4F0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20242B"/>
                          </a:solidFill>
                          <a:latin typeface="맑은 고딕"/>
                        </a:rPr>
                        <a:t>설계 1~2주 + 법무 회신 2~3주</a:t>
                      </a:r>
                    </a:p>
                  </a:txBody>
                  <a:tcPr anchor="ctr" marL="76200" marT="38100" marB="38100">
                    <a:solidFill>
                      <a:srgbClr val="E4F0F2"/>
                    </a:solidFill>
                  </a:tcPr>
                </a:tc>
              </a:tr>
              <a:tr h="323088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20242B"/>
                          </a:solidFill>
                          <a:latin typeface="맑은 고딕"/>
                        </a:rPr>
                        <a:t>아키텍처</a:t>
                      </a:r>
                    </a:p>
                  </a:txBody>
                  <a:tcPr anchor="ctr" marL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20242B"/>
                          </a:solidFill>
                          <a:latin typeface="맑은 고딕"/>
                        </a:rPr>
                        <a:t>온디바이스 SLM 모델 미선정</a:t>
                      </a:r>
                    </a:p>
                  </a:txBody>
                  <a:tcPr anchor="ctr" marL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20242B"/>
                          </a:solidFill>
                          <a:latin typeface="맑은 고딕"/>
                        </a:rPr>
                        <a:t>실기기 벤치마크 2주</a:t>
                      </a:r>
                    </a:p>
                  </a:txBody>
                  <a:tcPr anchor="ctr" marL="76200" marT="38100" marB="38100">
                    <a:solidFill>
                      <a:srgbClr val="FFFFFF"/>
                    </a:solidFill>
                  </a:tcPr>
                </a:tc>
              </a:tr>
              <a:tr h="323088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20242B"/>
                          </a:solidFill>
                          <a:latin typeface="맑은 고딕"/>
                        </a:rPr>
                        <a:t>QA</a:t>
                      </a:r>
                    </a:p>
                  </a:txBody>
                  <a:tcPr anchor="ctr" marL="76200" marT="38100" marB="38100">
                    <a:solidFill>
                      <a:srgbClr val="E4F0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20242B"/>
                          </a:solidFill>
                          <a:latin typeface="맑은 고딕"/>
                        </a:rPr>
                        <a:t>고령 화자 음성인식 정확도 데이터셋·계획 부재</a:t>
                      </a:r>
                    </a:p>
                  </a:txBody>
                  <a:tcPr anchor="ctr" marL="76200" marT="38100" marB="38100">
                    <a:solidFill>
                      <a:srgbClr val="E4F0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20242B"/>
                          </a:solidFill>
                          <a:latin typeface="맑은 고딕"/>
                        </a:rPr>
                        <a:t>SLM 벤치마크와 동시 진행</a:t>
                      </a:r>
                    </a:p>
                  </a:txBody>
                  <a:tcPr anchor="ctr" marL="76200" marT="38100" marB="38100">
                    <a:solidFill>
                      <a:srgbClr val="E4F0F2"/>
                    </a:solidFill>
                  </a:tcPr>
                </a:tc>
              </a:tr>
              <a:tr h="323088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20242B"/>
                          </a:solidFill>
                          <a:latin typeface="맑은 고딕"/>
                        </a:rPr>
                        <a:t>아키텍처</a:t>
                      </a:r>
                    </a:p>
                  </a:txBody>
                  <a:tcPr anchor="ctr" marL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20242B"/>
                          </a:solidFill>
                          <a:latin typeface="맑은 고딕"/>
                        </a:rPr>
                        <a:t>동기화 계약(보존·충돌·재개) 부재 → 데이터 소실 위험</a:t>
                      </a:r>
                    </a:p>
                  </a:txBody>
                  <a:tcPr anchor="ctr" marL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20242B"/>
                          </a:solidFill>
                          <a:latin typeface="맑은 고딕"/>
                        </a:rPr>
                        <a:t>설계 3~4일 + 리뷰 1일</a:t>
                      </a:r>
                    </a:p>
                  </a:txBody>
                  <a:tcPr anchor="ctr" marL="76200" marT="38100" marB="38100">
                    <a:solidFill>
                      <a:srgbClr val="FFFFFF"/>
                    </a:solidFill>
                  </a:tcPr>
                </a:tc>
              </a:tr>
              <a:tr h="323088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20242B"/>
                          </a:solidFill>
                          <a:latin typeface="맑은 고딕"/>
                        </a:rPr>
                        <a:t>백엔드</a:t>
                      </a:r>
                    </a:p>
                  </a:txBody>
                  <a:tcPr anchor="ctr" marL="76200" marT="38100" marB="38100">
                    <a:solidFill>
                      <a:srgbClr val="E4F0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20242B"/>
                          </a:solidFill>
                          <a:latin typeface="맑은 고딕"/>
                        </a:rPr>
                        <a:t>비동기 job/파일업로드/증분동기화 API 계약 부재</a:t>
                      </a:r>
                    </a:p>
                  </a:txBody>
                  <a:tcPr anchor="ctr" marL="76200" marT="38100" marB="38100">
                    <a:solidFill>
                      <a:srgbClr val="E4F0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20242B"/>
                          </a:solidFill>
                          <a:latin typeface="맑은 고딕"/>
                        </a:rPr>
                        <a:t>1주</a:t>
                      </a:r>
                    </a:p>
                  </a:txBody>
                  <a:tcPr anchor="ctr" marL="76200" marT="38100" marB="38100">
                    <a:solidFill>
                      <a:srgbClr val="E4F0F2"/>
                    </a:solidFill>
                  </a:tcPr>
                </a:tc>
              </a:tr>
              <a:tr h="323088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20242B"/>
                          </a:solidFill>
                          <a:latin typeface="맑은 고딕"/>
                        </a:rPr>
                        <a:t>아키텍처</a:t>
                      </a:r>
                    </a:p>
                  </a:txBody>
                  <a:tcPr anchor="ctr" marL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20242B"/>
                          </a:solidFill>
                          <a:latin typeface="맑은 고딕"/>
                        </a:rPr>
                        <a:t>6개 마이크로서비스 근거 부재 → 모듈러 모놀리스 권고</a:t>
                      </a:r>
                    </a:p>
                  </a:txBody>
                  <a:tcPr anchor="ctr" marL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20242B"/>
                          </a:solidFill>
                          <a:latin typeface="맑은 고딕"/>
                        </a:rPr>
                        <a:t>결정 회의 반나절 + ADR 1일</a:t>
                      </a:r>
                    </a:p>
                  </a:txBody>
                  <a:tcPr anchor="ctr" marL="76200" marT="38100" marB="38100">
                    <a:solidFill>
                      <a:srgbClr val="FFFFFF"/>
                    </a:solidFill>
                  </a:tcPr>
                </a:tc>
              </a:tr>
              <a:tr h="323088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20242B"/>
                          </a:solidFill>
                          <a:latin typeface="맑은 고딕"/>
                        </a:rPr>
                        <a:t>백엔드</a:t>
                      </a:r>
                    </a:p>
                  </a:txBody>
                  <a:tcPr anchor="ctr" marL="76200" marT="38100" marB="38100">
                    <a:solidFill>
                      <a:srgbClr val="E4F0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20242B"/>
                          </a:solidFill>
                          <a:latin typeface="맑은 고딕"/>
                        </a:rPr>
                        <a:t>17개 엔티티↔서비스 소유권 매핑 표 부재</a:t>
                      </a:r>
                    </a:p>
                  </a:txBody>
                  <a:tcPr anchor="ctr" marL="76200" marT="38100" marB="38100">
                    <a:solidFill>
                      <a:srgbClr val="E4F0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20242B"/>
                          </a:solidFill>
                          <a:latin typeface="맑은 고딕"/>
                        </a:rPr>
                        <a:t>반나절</a:t>
                      </a:r>
                    </a:p>
                  </a:txBody>
                  <a:tcPr anchor="ctr" marL="76200" marT="38100" marB="38100">
                    <a:solidFill>
                      <a:srgbClr val="E4F0F2"/>
                    </a:solidFill>
                  </a:tcPr>
                </a:tc>
              </a:tr>
              <a:tr h="323088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20242B"/>
                          </a:solidFill>
                          <a:latin typeface="맑은 고딕"/>
                        </a:rPr>
                        <a:t>인프라</a:t>
                      </a:r>
                    </a:p>
                  </a:txBody>
                  <a:tcPr anchor="ctr" marL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20242B"/>
                          </a:solidFill>
                          <a:latin typeface="맑은 고딕"/>
                        </a:rPr>
                        <a:t>로컬 개발환경(docker-compose+스텁) 부재</a:t>
                      </a:r>
                    </a:p>
                  </a:txBody>
                  <a:tcPr anchor="ctr" marL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20242B"/>
                          </a:solidFill>
                          <a:latin typeface="맑은 고딕"/>
                        </a:rPr>
                        <a:t>1~1.5주</a:t>
                      </a:r>
                    </a:p>
                  </a:txBody>
                  <a:tcPr anchor="ctr" marL="76200" marT="38100" marB="38100">
                    <a:solidFill>
                      <a:srgbClr val="FFFFFF"/>
                    </a:solidFill>
                  </a:tcPr>
                </a:tc>
              </a:tr>
              <a:tr h="323088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20242B"/>
                          </a:solidFill>
                          <a:latin typeface="맑은 고딕"/>
                        </a:rPr>
                        <a:t>QA</a:t>
                      </a:r>
                    </a:p>
                  </a:txBody>
                  <a:tcPr anchor="ctr" marL="76200" marT="38100" marB="38100">
                    <a:solidFill>
                      <a:srgbClr val="E4F0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20242B"/>
                          </a:solidFill>
                          <a:latin typeface="맑은 고딕"/>
                        </a:rPr>
                        <a:t>네트워크 장애주입·실기기 랩 조달 미정</a:t>
                      </a:r>
                    </a:p>
                  </a:txBody>
                  <a:tcPr anchor="ctr" marL="76200" marT="38100" marB="38100">
                    <a:solidFill>
                      <a:srgbClr val="E4F0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20242B"/>
                          </a:solidFill>
                          <a:latin typeface="맑은 고딕"/>
                        </a:rPr>
                        <a:t>인프라 트랙과 통합 1.5주</a:t>
                      </a:r>
                    </a:p>
                  </a:txBody>
                  <a:tcPr anchor="ctr" marL="76200" marT="38100" marB="38100">
                    <a:solidFill>
                      <a:srgbClr val="E4F0F2"/>
                    </a:solidFill>
                  </a:tcPr>
                </a:tc>
              </a:tr>
              <a:tr h="323088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20242B"/>
                          </a:solidFill>
                          <a:latin typeface="맑은 고딕"/>
                        </a:rPr>
                        <a:t>프론트엔드</a:t>
                      </a:r>
                    </a:p>
                  </a:txBody>
                  <a:tcPr anchor="ctr" marL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20242B"/>
                          </a:solidFill>
                          <a:latin typeface="맑은 고딕"/>
                        </a:rPr>
                        <a:t>컬러 토큰 WCAG AA 미달 (본문/캡션/경계선)</a:t>
                      </a:r>
                    </a:p>
                  </a:txBody>
                  <a:tcPr anchor="ctr" marL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20242B"/>
                          </a:solidFill>
                          <a:latin typeface="맑은 고딕"/>
                        </a:rPr>
                        <a:t>2~3일</a:t>
                      </a:r>
                    </a:p>
                  </a:txBody>
                  <a:tcPr anchor="ctr" marL="76200" marT="38100" marB="38100">
                    <a:solidFill>
                      <a:srgbClr val="FFFFFF"/>
                    </a:solidFill>
                  </a:tcPr>
                </a:tc>
              </a:tr>
              <a:tr h="323088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20242B"/>
                          </a:solidFill>
                          <a:latin typeface="맑은 고딕"/>
                        </a:rPr>
                        <a:t>프론트엔드</a:t>
                      </a:r>
                    </a:p>
                  </a:txBody>
                  <a:tcPr anchor="ctr" marL="76200" marT="38100" marB="38100">
                    <a:solidFill>
                      <a:srgbClr val="E4F0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20242B"/>
                          </a:solidFill>
                          <a:latin typeface="맑은 고딕"/>
                        </a:rPr>
                        <a:t>Next.js App Router 폴더 구조 오류</a:t>
                      </a:r>
                    </a:p>
                  </a:txBody>
                  <a:tcPr anchor="ctr" marL="76200" marT="38100" marB="38100">
                    <a:solidFill>
                      <a:srgbClr val="E4F0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20242B"/>
                          </a:solidFill>
                          <a:latin typeface="맑은 고딕"/>
                        </a:rPr>
                        <a:t>1일</a:t>
                      </a:r>
                    </a:p>
                  </a:txBody>
                  <a:tcPr anchor="ctr" marL="76200" marT="38100" marB="38100">
                    <a:solidFill>
                      <a:srgbClr val="E4F0F2"/>
                    </a:solidFill>
                  </a:tcPr>
                </a:tc>
              </a:tr>
              <a:tr h="323088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20242B"/>
                          </a:solidFill>
                          <a:latin typeface="맑은 고딕"/>
                        </a:rPr>
                        <a:t>QA</a:t>
                      </a:r>
                    </a:p>
                  </a:txBody>
                  <a:tcPr anchor="ctr" marL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20242B"/>
                          </a:solidFill>
                          <a:latin typeface="맑은 고딕"/>
                        </a:rPr>
                        <a:t>테스트 정량 Pass/Fail 기준 전무</a:t>
                      </a:r>
                    </a:p>
                  </a:txBody>
                  <a:tcPr anchor="ctr" marL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20242B"/>
                          </a:solidFill>
                          <a:latin typeface="맑은 고딕"/>
                        </a:rPr>
                        <a:t>1주</a:t>
                      </a:r>
                    </a:p>
                  </a:txBody>
                  <a:tcPr anchor="ctr" marL="76200" marT="38100" marB="38100">
                    <a:solidFill>
                      <a:srgbClr val="FFFFFF"/>
                    </a:solidFill>
                  </a:tcPr>
                </a:tc>
              </a:tr>
              <a:tr h="323088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20242B"/>
                          </a:solidFill>
                          <a:latin typeface="맑은 고딕"/>
                        </a:rPr>
                        <a:t>PM</a:t>
                      </a:r>
                    </a:p>
                  </a:txBody>
                  <a:tcPr anchor="ctr" marL="76200" marT="38100" marB="38100">
                    <a:solidFill>
                      <a:srgbClr val="E4F0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20242B"/>
                          </a:solidFill>
                          <a:latin typeface="맑은 고딕"/>
                        </a:rPr>
                        <a:t>Phase 1/2/3 스코프 경계 미문서화</a:t>
                      </a:r>
                    </a:p>
                  </a:txBody>
                  <a:tcPr anchor="ctr" marL="76200" marT="38100" marB="38100">
                    <a:solidFill>
                      <a:srgbClr val="E4F0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20242B"/>
                          </a:solidFill>
                          <a:latin typeface="맑은 고딕"/>
                        </a:rPr>
                        <a:t>즉시 (킥오프 당일)</a:t>
                      </a:r>
                    </a:p>
                  </a:txBody>
                  <a:tcPr anchor="ctr" marL="76200" marT="38100" marB="38100">
                    <a:solidFill>
                      <a:srgbClr val="E4F0F2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9096A0"/>
                </a:solidFill>
                <a:latin typeface="맑은 고딕"/>
              </a:rPr>
              <a:t>은빛실타래 · SilverYarn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096A0"/>
                </a:solidFill>
                <a:latin typeface="맑은 고딕"/>
              </a:rPr>
              <a:t>59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2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02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858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B8935A"/>
                </a:solidFill>
                <a:latin typeface="맑은 고딕"/>
              </a:rPr>
              <a:t>8부 · CTO 종합 의견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FFFFFF"/>
                </a:solidFill>
                <a:latin typeface="맑은 고딕"/>
              </a:rPr>
              <a:t>Go with Conditions — 조건부 착수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91153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900" b="1">
                <a:solidFill>
                  <a:srgbClr val="155C6B"/>
                </a:solidFill>
                <a:latin typeface="맑은 고딕"/>
              </a:rPr>
              <a:t>▪  7개 관점 전원 일치: 제품 정의·데이터 모델은 착수 가능 수준이나, '어떻게 분산·동기화·보호·검증할지' 실행축이 비어 있음</a:t>
            </a:r>
          </a:p>
          <a:p>
            <a:pPr algn="l">
              <a:spcAft>
                <a:spcPts val="1000"/>
              </a:spcAft>
            </a:pPr>
            <a:r>
              <a:rPr sz="1900" b="0">
                <a:solidFill>
                  <a:srgbClr val="20242B"/>
                </a:solidFill>
                <a:latin typeface="맑은 고딕"/>
              </a:rPr>
              <a:t>▪  오늘 처리 가능(비용 0): Phase 1/2/3 스코프 경계 승인, 정서 파이프라인 Phase 1 한정 OFF 결정</a:t>
            </a:r>
          </a:p>
          <a:p>
            <a:pPr algn="l">
              <a:spcAft>
                <a:spcPts val="1000"/>
              </a:spcAft>
            </a:pPr>
            <a:r>
              <a:rPr sz="1900" b="0">
                <a:solidFill>
                  <a:srgbClr val="20242B"/>
                </a:solidFill>
                <a:latin typeface="맑은 고딕"/>
              </a:rPr>
              <a:t>▪  1~2주 내 필요: SLM 벤치마크+고령화자 음성데이터셋, 동기화·API 비동기 계약 설계, PII 암호화 방식, docker-compose+장애주입 환경, 컬러 토큰 재조정, 테스트 정량기준 수립</a:t>
            </a:r>
          </a:p>
          <a:p>
            <a:pPr algn="l">
              <a:spcAft>
                <a:spcPts val="1000"/>
              </a:spcAft>
            </a:pPr>
            <a:r>
              <a:rPr sz="1900" b="0">
                <a:solidFill>
                  <a:srgbClr val="20242B"/>
                </a:solidFill>
                <a:latin typeface="맑은 고딕"/>
              </a:rPr>
              <a:t>▪  2~3주 내 필요: 법무 검토 착수(동의·보유기간·정서데이터), Phase 1 한정 예산 승인</a:t>
            </a:r>
          </a:p>
          <a:p>
            <a:pPr algn="l">
              <a:spcAft>
                <a:spcPts val="1000"/>
              </a:spcAft>
            </a:pPr>
            <a:r>
              <a:rPr sz="1900" b="1">
                <a:solidFill>
                  <a:srgbClr val="96723F"/>
                </a:solidFill>
                <a:latin typeface="맑은 고딕"/>
              </a:rPr>
              <a:t>▪  착수를 실제로 막는 것은 예산 승인 1건 — 나머지 20건은 병행 착수 가능한 조건부 항목</a:t>
            </a:r>
          </a:p>
          <a:p>
            <a:pPr algn="l">
              <a:spcAft>
                <a:spcPts val="1000"/>
              </a:spcAft>
            </a:pPr>
            <a:r>
              <a:rPr sz="1900" b="1">
                <a:solidFill>
                  <a:srgbClr val="B8493F"/>
                </a:solidFill>
                <a:latin typeface="맑은 고딕"/>
              </a:rPr>
              <a:t>▪  단, 보안 관점의 법적 Blocker(동의·보유기간·인가모델)는 온보딩·정서모니터링 모듈 착수 전 반드시 해소 필요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9096A0"/>
                </a:solidFill>
                <a:latin typeface="맑은 고딕"/>
              </a:rPr>
              <a:t>은빛실타래 · SilverYarn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096A0"/>
                </a:solidFill>
                <a:latin typeface="맑은 고딕"/>
              </a:rPr>
              <a:t>60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7A8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468880"/>
            <a:ext cx="3657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6000" b="1">
                <a:solidFill>
                  <a:srgbClr val="155C6B"/>
                </a:solidFill>
                <a:latin typeface="맑은 고딕"/>
              </a:rPr>
              <a:t>09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3832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1">
                <a:solidFill>
                  <a:srgbClr val="FFFFFF"/>
                </a:solidFill>
                <a:latin typeface="맑은 고딕"/>
              </a:rPr>
              <a:t>로드맵 &amp; 착수 실행 계획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E4F0F2"/>
                </a:solidFill>
                <a:latin typeface="맑은 고딕"/>
              </a:rPr>
              <a:t>Phase 1~3 · Do 단계 세션 가이드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9096A0"/>
                </a:solidFill>
                <a:latin typeface="맑은 고딕"/>
              </a:rPr>
              <a:t>은빛실타래 · SilverYarn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096A0"/>
                </a:solidFill>
                <a:latin typeface="맑은 고딕"/>
              </a:rPr>
              <a:t>61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2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02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858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B8935A"/>
                </a:solidFill>
                <a:latin typeface="맑은 고딕"/>
              </a:rPr>
              <a:t>9부 · 로드맵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FFFFFF"/>
                </a:solidFill>
                <a:latin typeface="맑은 고딕"/>
              </a:rPr>
              <a:t>단계별 개발 로드맵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325880"/>
          <a:ext cx="11094415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98138"/>
                <a:gridCol w="3698138"/>
                <a:gridCol w="3698139"/>
              </a:tblGrid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</a:rPr>
                        <a:t>단계</a:t>
                      </a:r>
                    </a:p>
                  </a:txBody>
                  <a:tcPr anchor="ctr" marT="50800" marB="50800">
                    <a:solidFill>
                      <a:srgbClr val="2024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</a:rPr>
                        <a:t>범위</a:t>
                      </a:r>
                    </a:p>
                  </a:txBody>
                  <a:tcPr anchor="ctr" marT="50800" marB="50800">
                    <a:solidFill>
                      <a:srgbClr val="2024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</a:rPr>
                        <a:t>핵심 목표</a:t>
                      </a:r>
                    </a:p>
                  </a:txBody>
                  <a:tcPr anchor="ctr" marT="50800" marB="50800">
                    <a:solidFill>
                      <a:srgbClr val="20242B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20242B"/>
                          </a:solidFill>
                          <a:latin typeface="맑은 고딕"/>
                        </a:rPr>
                        <a:t>Phase 1 (MVP)</a:t>
                      </a:r>
                    </a:p>
                  </a:txBody>
                  <a:tcPr anchor="ctr" marL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20242B"/>
                          </a:solidFill>
                          <a:latin typeface="맑은 고딕"/>
                        </a:rPr>
                        <a:t>자서전 작가 모드 + 오프라인 코어</a:t>
                      </a:r>
                    </a:p>
                  </a:txBody>
                  <a:tcPr anchor="ctr" marL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20242B"/>
                          </a:solidFill>
                          <a:latin typeface="맑은 고딕"/>
                        </a:rPr>
                        <a:t>온디바이스 STT/SLM/TTS 오프라인 대화, 로컬캐시·Wi-Fi 배치동기화 기본 흐름 검증</a:t>
                      </a:r>
                    </a:p>
                  </a:txBody>
                  <a:tcPr anchor="ctr" marL="76200" marT="38100" marB="381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20242B"/>
                          </a:solidFill>
                          <a:latin typeface="맑은 고딕"/>
                        </a:rPr>
                        <a:t>Phase 2</a:t>
                      </a:r>
                    </a:p>
                  </a:txBody>
                  <a:tcPr anchor="ctr" marL="76200" marT="38100" marB="38100">
                    <a:solidFill>
                      <a:srgbClr val="E4F0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20242B"/>
                          </a:solidFill>
                          <a:latin typeface="맑은 고딕"/>
                        </a:rPr>
                        <a:t>말벗돌봄 모드 확장</a:t>
                      </a:r>
                    </a:p>
                  </a:txBody>
                  <a:tcPr anchor="ctr" marL="76200" marT="38100" marB="38100">
                    <a:solidFill>
                      <a:srgbClr val="E4F0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20242B"/>
                          </a:solidFill>
                          <a:latin typeface="맑은 고딕"/>
                        </a:rPr>
                        <a:t>로컬 경량 RAG 스냅샷 기반 오프라인 회상 대화, 정서 모니터링·알림 고도화</a:t>
                      </a:r>
                    </a:p>
                  </a:txBody>
                  <a:tcPr anchor="ctr" marL="76200" marT="38100" marB="38100">
                    <a:solidFill>
                      <a:srgbClr val="E4F0F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20242B"/>
                          </a:solidFill>
                          <a:latin typeface="맑은 고딕"/>
                        </a:rPr>
                        <a:t>Phase 3</a:t>
                      </a:r>
                    </a:p>
                  </a:txBody>
                  <a:tcPr anchor="ctr" marL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20242B"/>
                          </a:solidFill>
                          <a:latin typeface="맑은 고딕"/>
                        </a:rPr>
                        <a:t>비서 모드 + 외부 연계 옵션</a:t>
                      </a:r>
                    </a:p>
                  </a:txBody>
                  <a:tcPr anchor="ctr" marL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20242B"/>
                          </a:solidFill>
                          <a:latin typeface="맑은 고딕"/>
                        </a:rPr>
                        <a:t>오프라인 일정·복약 비서 통합, 선택적 외부 TTS 파일럿, B2G 확장 검토</a:t>
                      </a:r>
                    </a:p>
                  </a:txBody>
                  <a:tcPr anchor="ctr" marL="76200" marT="38100" marB="381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9096A0"/>
                </a:solidFill>
                <a:latin typeface="맑은 고딕"/>
              </a:rPr>
              <a:t>은빛실타래 · SilverYarn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096A0"/>
                </a:solidFill>
                <a:latin typeface="맑은 고딕"/>
              </a:rPr>
              <a:t>62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2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02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858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B8935A"/>
                </a:solidFill>
                <a:latin typeface="맑은 고딕"/>
              </a:rPr>
              <a:t>9부 · 로드맵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FFFFFF"/>
                </a:solidFill>
                <a:latin typeface="맑은 고딕"/>
              </a:rPr>
              <a:t>Do 단계 실행 계획 (세션 가이드)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325880"/>
          <a:ext cx="11094415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98138"/>
                <a:gridCol w="3698138"/>
                <a:gridCol w="3698139"/>
              </a:tblGrid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</a:rPr>
                        <a:t>세션</a:t>
                      </a:r>
                    </a:p>
                  </a:txBody>
                  <a:tcPr anchor="ctr" marT="50800" marB="50800">
                    <a:solidFill>
                      <a:srgbClr val="2024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</a:rPr>
                        <a:t>Phase</a:t>
                      </a:r>
                    </a:p>
                  </a:txBody>
                  <a:tcPr anchor="ctr" marT="50800" marB="50800">
                    <a:solidFill>
                      <a:srgbClr val="2024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</a:rPr>
                        <a:t>범위</a:t>
                      </a:r>
                    </a:p>
                  </a:txBody>
                  <a:tcPr anchor="ctr" marT="50800" marB="50800">
                    <a:solidFill>
                      <a:srgbClr val="20242B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20242B"/>
                          </a:solidFill>
                          <a:latin typeface="맑은 고딕"/>
                        </a:rPr>
                        <a:t>Session 1</a:t>
                      </a:r>
                    </a:p>
                  </a:txBody>
                  <a:tcPr anchor="ctr" marL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20242B"/>
                          </a:solidFill>
                          <a:latin typeface="맑은 고딕"/>
                        </a:rPr>
                        <a:t>Plan + Design</a:t>
                      </a:r>
                    </a:p>
                  </a:txBody>
                  <a:tcPr anchor="ctr" marL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20242B"/>
                          </a:solidFill>
                          <a:latin typeface="맑은 고딕"/>
                        </a:rPr>
                        <a:t>전체 (완료)</a:t>
                      </a:r>
                    </a:p>
                  </a:txBody>
                  <a:tcPr anchor="ctr" marL="76200" marT="38100" marB="381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20242B"/>
                          </a:solidFill>
                          <a:latin typeface="맑은 고딕"/>
                        </a:rPr>
                        <a:t>Session 2</a:t>
                      </a:r>
                    </a:p>
                  </a:txBody>
                  <a:tcPr anchor="ctr" marL="76200" marT="38100" marB="38100">
                    <a:solidFill>
                      <a:srgbClr val="E4F0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20242B"/>
                          </a:solidFill>
                          <a:latin typeface="맑은 고딕"/>
                        </a:rPr>
                        <a:t>Phase 1+2</a:t>
                      </a:r>
                    </a:p>
                  </a:txBody>
                  <a:tcPr anchor="ctr" marL="76200" marT="38100" marB="38100">
                    <a:solidFill>
                      <a:srgbClr val="E4F0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20242B"/>
                          </a:solidFill>
                          <a:latin typeface="맑은 고딕"/>
                        </a:rPr>
                        <a:t>스키마·컨벤션 확정 (완료)</a:t>
                      </a:r>
                    </a:p>
                  </a:txBody>
                  <a:tcPr anchor="ctr" marL="76200" marT="38100" marB="38100">
                    <a:solidFill>
                      <a:srgbClr val="E4F0F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20242B"/>
                          </a:solidFill>
                          <a:latin typeface="맑은 고딕"/>
                        </a:rPr>
                        <a:t>Session 3</a:t>
                      </a:r>
                    </a:p>
                  </a:txBody>
                  <a:tcPr anchor="ctr" marL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20242B"/>
                          </a:solidFill>
                          <a:latin typeface="맑은 고딕"/>
                        </a:rPr>
                        <a:t>Do</a:t>
                      </a:r>
                    </a:p>
                  </a:txBody>
                  <a:tcPr anchor="ctr" marL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20242B"/>
                          </a:solidFill>
                          <a:latin typeface="맑은 고딕"/>
                        </a:rPr>
                        <a:t>module-author-engine</a:t>
                      </a:r>
                    </a:p>
                  </a:txBody>
                  <a:tcPr anchor="ctr" marL="76200" marT="38100" marB="381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20242B"/>
                          </a:solidFill>
                          <a:latin typeface="맑은 고딕"/>
                        </a:rPr>
                        <a:t>Session 4</a:t>
                      </a:r>
                    </a:p>
                  </a:txBody>
                  <a:tcPr anchor="ctr" marL="76200" marT="38100" marB="38100">
                    <a:solidFill>
                      <a:srgbClr val="E4F0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20242B"/>
                          </a:solidFill>
                          <a:latin typeface="맑은 고딕"/>
                        </a:rPr>
                        <a:t>Do</a:t>
                      </a:r>
                    </a:p>
                  </a:txBody>
                  <a:tcPr anchor="ctr" marL="76200" marT="38100" marB="38100">
                    <a:solidFill>
                      <a:srgbClr val="E4F0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20242B"/>
                          </a:solidFill>
                          <a:latin typeface="맑은 고딕"/>
                        </a:rPr>
                        <a:t>module-mobile-offline-core</a:t>
                      </a:r>
                    </a:p>
                  </a:txBody>
                  <a:tcPr anchor="ctr" marL="76200" marT="38100" marB="38100">
                    <a:solidFill>
                      <a:srgbClr val="E4F0F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20242B"/>
                          </a:solidFill>
                          <a:latin typeface="맑은 고딕"/>
                        </a:rPr>
                        <a:t>Session 5</a:t>
                      </a:r>
                    </a:p>
                  </a:txBody>
                  <a:tcPr anchor="ctr" marL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20242B"/>
                          </a:solidFill>
                          <a:latin typeface="맑은 고딕"/>
                        </a:rPr>
                        <a:t>Check + Report</a:t>
                      </a:r>
                    </a:p>
                  </a:txBody>
                  <a:tcPr anchor="ctr" marL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20242B"/>
                          </a:solidFill>
                          <a:latin typeface="맑은 고딕"/>
                        </a:rPr>
                        <a:t>전체 Gap 분석 및 완료 보고</a:t>
                      </a:r>
                    </a:p>
                  </a:txBody>
                  <a:tcPr anchor="ctr" marL="76200" marT="38100" marB="381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9096A0"/>
                </a:solidFill>
                <a:latin typeface="맑은 고딕"/>
              </a:rPr>
              <a:t>은빛실타래 · SilverYarn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096A0"/>
                </a:solidFill>
                <a:latin typeface="맑은 고딕"/>
              </a:rPr>
              <a:t>63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2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02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858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B8935A"/>
                </a:solidFill>
                <a:latin typeface="맑은 고딕"/>
              </a:rPr>
              <a:t>9부 · 로드맵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FFFFFF"/>
                </a:solidFill>
                <a:latin typeface="맑은 고딕"/>
              </a:rPr>
              <a:t>팀 구성 제안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91153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900" b="0">
                <a:solidFill>
                  <a:srgbClr val="20242B"/>
                </a:solidFill>
                <a:latin typeface="맑은 고딕"/>
              </a:rPr>
              <a:t>▪  아키텍트 — 전체 구조·마이크로서비스 경계 관리 (enterprise-expert 관점)</a:t>
            </a:r>
          </a:p>
          <a:p>
            <a:pPr algn="l">
              <a:spcAft>
                <a:spcPts val="1000"/>
              </a:spcAft>
            </a:pPr>
            <a:r>
              <a:rPr sz="1900" b="0">
                <a:solidFill>
                  <a:srgbClr val="20242B"/>
                </a:solidFill>
                <a:latin typeface="맑은 고딕"/>
              </a:rPr>
              <a:t>▪  백엔드 개발자 — FastAPI 서비스(author/care/schedule-engine, sync-gateway, rag-core)</a:t>
            </a:r>
          </a:p>
          <a:p>
            <a:pPr algn="l">
              <a:spcAft>
                <a:spcPts val="1000"/>
              </a:spcAft>
            </a:pPr>
            <a:r>
              <a:rPr sz="1900" b="0">
                <a:solidFill>
                  <a:srgbClr val="20242B"/>
                </a:solidFill>
                <a:latin typeface="맑은 고딕"/>
              </a:rPr>
              <a:t>▪  모바일 개발자 — Kotlin 온디바이스 앱, 설치모드 자동분기 구현</a:t>
            </a:r>
          </a:p>
          <a:p>
            <a:pPr algn="l">
              <a:spcAft>
                <a:spcPts val="1000"/>
              </a:spcAft>
            </a:pPr>
            <a:r>
              <a:rPr sz="1900" b="0">
                <a:solidFill>
                  <a:srgbClr val="20242B"/>
                </a:solidFill>
                <a:latin typeface="맑은 고딕"/>
              </a:rPr>
              <a:t>▪  프론트엔드 개발자 — Next.js 웹 콘솔(사용자/가족/관리자)</a:t>
            </a:r>
          </a:p>
          <a:p>
            <a:pPr algn="l">
              <a:spcAft>
                <a:spcPts val="1000"/>
              </a:spcAft>
            </a:pPr>
            <a:r>
              <a:rPr sz="1900" b="0">
                <a:solidFill>
                  <a:srgbClr val="20242B"/>
                </a:solidFill>
                <a:latin typeface="맑은 고딕"/>
              </a:rPr>
              <a:t>▪  인프라/DevOps — 온프레미스 K8s/GPU 클러스터, CI/CD</a:t>
            </a:r>
          </a:p>
          <a:p>
            <a:pPr algn="l">
              <a:spcAft>
                <a:spcPts val="1000"/>
              </a:spcAft>
            </a:pPr>
            <a:r>
              <a:rPr sz="1900" b="0">
                <a:solidFill>
                  <a:srgbClr val="20242B"/>
                </a:solidFill>
                <a:latin typeface="맑은 고딕"/>
              </a:rPr>
              <a:t>▪  QA — 오프라인·동기화·설치모드 분기 등 특수 시나리오 검증</a:t>
            </a:r>
          </a:p>
          <a:p>
            <a:pPr algn="l">
              <a:spcAft>
                <a:spcPts val="1000"/>
              </a:spcAft>
            </a:pPr>
            <a:r>
              <a:rPr sz="1900" b="0">
                <a:solidFill>
                  <a:srgbClr val="20242B"/>
                </a:solidFill>
                <a:latin typeface="맑은 고딕"/>
              </a:rPr>
              <a:t>▪  보안 담당 — PII 암호화, RBAC, Device Owner Mode 보안 검토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9096A0"/>
                </a:solidFill>
                <a:latin typeface="맑은 고딕"/>
              </a:rPr>
              <a:t>은빛실타래 · SilverYarn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096A0"/>
                </a:solidFill>
                <a:latin typeface="맑은 고딕"/>
              </a:rPr>
              <a:t>64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2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02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858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B8935A"/>
                </a:solidFill>
                <a:latin typeface="맑은 고딕"/>
              </a:rPr>
              <a:t>9부 ·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FFFFFF"/>
                </a:solidFill>
                <a:latin typeface="맑은 고딕"/>
              </a:rPr>
              <a:t>Action Items (CTO팀 7개 관점 검토 반영)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325880"/>
          <a:ext cx="11094415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98138"/>
                <a:gridCol w="3698138"/>
                <a:gridCol w="3698139"/>
              </a:tblGrid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#</a:t>
                      </a:r>
                    </a:p>
                  </a:txBody>
                  <a:tcPr anchor="ctr" marT="50800" marB="50800">
                    <a:solidFill>
                      <a:srgbClr val="2024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액션</a:t>
                      </a:r>
                    </a:p>
                  </a:txBody>
                  <a:tcPr anchor="ctr" marT="50800" marB="50800">
                    <a:solidFill>
                      <a:srgbClr val="2024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담당/기한</a:t>
                      </a:r>
                    </a:p>
                  </a:txBody>
                  <a:tcPr anchor="ctr" marT="50800" marB="50800">
                    <a:solidFill>
                      <a:srgbClr val="20242B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20242B"/>
                          </a:solidFill>
                          <a:latin typeface="맑은 고딕"/>
                        </a:rPr>
                        <a:t>1</a:t>
                      </a:r>
                    </a:p>
                  </a:txBody>
                  <a:tcPr anchor="ctr" marL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20242B"/>
                          </a:solidFill>
                          <a:latin typeface="맑은 고딕"/>
                        </a:rPr>
                        <a:t>Phase 1 한정 예산·인력 승인 (GPU 조달 리드타임 감안)</a:t>
                      </a:r>
                    </a:p>
                  </a:txBody>
                  <a:tcPr anchor="ctr" marL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20242B"/>
                          </a:solidFill>
                          <a:latin typeface="맑은 고딕"/>
                        </a:rPr>
                        <a:t>경영진 / 킥오프 후 1주 내</a:t>
                      </a:r>
                    </a:p>
                  </a:txBody>
                  <a:tcPr anchor="ctr" marL="76200" marT="38100" marB="381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20242B"/>
                          </a:solidFill>
                          <a:latin typeface="맑은 고딕"/>
                        </a:rPr>
                        <a:t>2</a:t>
                      </a:r>
                    </a:p>
                  </a:txBody>
                  <a:tcPr anchor="ctr" marL="76200" marT="38100" marB="38100">
                    <a:solidFill>
                      <a:srgbClr val="E4F0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20242B"/>
                          </a:solidFill>
                          <a:latin typeface="맑은 고딕"/>
                        </a:rPr>
                        <a:t>Phase 1/2/3 스코프 경계 공식 승인 (plan §2.1 대체)</a:t>
                      </a:r>
                    </a:p>
                  </a:txBody>
                  <a:tcPr anchor="ctr" marL="76200" marT="38100" marB="38100">
                    <a:solidFill>
                      <a:srgbClr val="E4F0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20242B"/>
                          </a:solidFill>
                          <a:latin typeface="맑은 고딕"/>
                        </a:rPr>
                        <a:t>PM / 킥오프 당일</a:t>
                      </a:r>
                    </a:p>
                  </a:txBody>
                  <a:tcPr anchor="ctr" marL="76200" marT="38100" marB="38100">
                    <a:solidFill>
                      <a:srgbClr val="E4F0F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20242B"/>
                          </a:solidFill>
                          <a:latin typeface="맑은 고딕"/>
                        </a:rPr>
                        <a:t>3</a:t>
                      </a:r>
                    </a:p>
                  </a:txBody>
                  <a:tcPr anchor="ctr" marL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20242B"/>
                          </a:solidFill>
                          <a:latin typeface="맑은 고딕"/>
                        </a:rPr>
                        <a:t>온디바이스 SLM 벤치마크 + 고령화자 음성데이터셋 확보 스파이크</a:t>
                      </a:r>
                    </a:p>
                  </a:txBody>
                  <a:tcPr anchor="ctr" marL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20242B"/>
                          </a:solidFill>
                          <a:latin typeface="맑은 고딕"/>
                        </a:rPr>
                        <a:t>모바일·ML·QA 리드 / 즉시 착수</a:t>
                      </a:r>
                    </a:p>
                  </a:txBody>
                  <a:tcPr anchor="ctr" marL="76200" marT="38100" marB="381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20242B"/>
                          </a:solidFill>
                          <a:latin typeface="맑은 고딕"/>
                        </a:rPr>
                        <a:t>4</a:t>
                      </a:r>
                    </a:p>
                  </a:txBody>
                  <a:tcPr anchor="ctr" marL="76200" marT="38100" marB="38100">
                    <a:solidFill>
                      <a:srgbClr val="E4F0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20242B"/>
                          </a:solidFill>
                          <a:latin typeface="맑은 고딕"/>
                        </a:rPr>
                        <a:t>동의·보유기간·정서데이터 법적 리스크 6개 항목 법무 검토 요청</a:t>
                      </a:r>
                    </a:p>
                  </a:txBody>
                  <a:tcPr anchor="ctr" marL="76200" marT="38100" marB="38100">
                    <a:solidFill>
                      <a:srgbClr val="E4F0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20242B"/>
                          </a:solidFill>
                          <a:latin typeface="맑은 고딕"/>
                        </a:rPr>
                        <a:t>법무팀 / 즉시 착수, 회신 2~3주</a:t>
                      </a:r>
                    </a:p>
                  </a:txBody>
                  <a:tcPr anchor="ctr" marL="76200" marT="38100" marB="38100">
                    <a:solidFill>
                      <a:srgbClr val="E4F0F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20242B"/>
                          </a:solidFill>
                          <a:latin typeface="맑은 고딕"/>
                        </a:rPr>
                        <a:t>5</a:t>
                      </a:r>
                    </a:p>
                  </a:txBody>
                  <a:tcPr anchor="ctr" marL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20242B"/>
                          </a:solidFill>
                          <a:latin typeface="맑은 고딕"/>
                        </a:rPr>
                        <a:t>동기화 계약 + 비동기 job/파일업로드 API 계약 + PII 암호화 방식 설계</a:t>
                      </a:r>
                    </a:p>
                  </a:txBody>
                  <a:tcPr anchor="ctr" marL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20242B"/>
                          </a:solidFill>
                          <a:latin typeface="맑은 고딕"/>
                        </a:rPr>
                        <a:t>서버·모바일 리드 / 1~2주</a:t>
                      </a:r>
                    </a:p>
                  </a:txBody>
                  <a:tcPr anchor="ctr" marL="76200" marT="38100" marB="381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20242B"/>
                          </a:solidFill>
                          <a:latin typeface="맑은 고딕"/>
                        </a:rPr>
                        <a:t>6</a:t>
                      </a:r>
                    </a:p>
                  </a:txBody>
                  <a:tcPr anchor="ctr" marL="76200" marT="38100" marB="38100">
                    <a:solidFill>
                      <a:srgbClr val="E4F0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20242B"/>
                          </a:solidFill>
                          <a:latin typeface="맑은 고딕"/>
                        </a:rPr>
                        <a:t>로컬 개발환경(docker-compose+스텁) + QA 장애주입 인프라 구축</a:t>
                      </a:r>
                    </a:p>
                  </a:txBody>
                  <a:tcPr anchor="ctr" marL="76200" marT="38100" marB="38100">
                    <a:solidFill>
                      <a:srgbClr val="E4F0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20242B"/>
                          </a:solidFill>
                          <a:latin typeface="맑은 고딕"/>
                        </a:rPr>
                        <a:t>인프라·백엔드·QA / 1~1.5주</a:t>
                      </a:r>
                    </a:p>
                  </a:txBody>
                  <a:tcPr anchor="ctr" marL="76200" marT="38100" marB="38100">
                    <a:solidFill>
                      <a:srgbClr val="E4F0F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20242B"/>
                          </a:solidFill>
                          <a:latin typeface="맑은 고딕"/>
                        </a:rPr>
                        <a:t>7</a:t>
                      </a:r>
                    </a:p>
                  </a:txBody>
                  <a:tcPr anchor="ctr" marL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20242B"/>
                          </a:solidFill>
                          <a:latin typeface="맑은 고딕"/>
                        </a:rPr>
                        <a:t>컬러 토큰 WCAG AA 재조정 + Next.js 폴더구조 정정</a:t>
                      </a:r>
                    </a:p>
                  </a:txBody>
                  <a:tcPr anchor="ctr" marL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20242B"/>
                          </a:solidFill>
                          <a:latin typeface="맑은 고딕"/>
                        </a:rPr>
                        <a:t>프론트엔드 리드 / 2~3일</a:t>
                      </a:r>
                    </a:p>
                  </a:txBody>
                  <a:tcPr anchor="ctr" marL="76200" marT="38100" marB="381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20242B"/>
                          </a:solidFill>
                          <a:latin typeface="맑은 고딕"/>
                        </a:rPr>
                        <a:t>8</a:t>
                      </a:r>
                    </a:p>
                  </a:txBody>
                  <a:tcPr anchor="ctr" marL="76200" marT="38100" marB="38100">
                    <a:solidFill>
                      <a:srgbClr val="E4F0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20242B"/>
                          </a:solidFill>
                          <a:latin typeface="맑은 고딕"/>
                        </a:rPr>
                        <a:t>테스트 정량 Pass/Fail 기준 수립</a:t>
                      </a:r>
                    </a:p>
                  </a:txBody>
                  <a:tcPr anchor="ctr" marL="76200" marT="38100" marB="38100">
                    <a:solidFill>
                      <a:srgbClr val="E4F0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20242B"/>
                          </a:solidFill>
                          <a:latin typeface="맑은 고딕"/>
                        </a:rPr>
                        <a:t>QA 리드 / 1주</a:t>
                      </a:r>
                    </a:p>
                  </a:txBody>
                  <a:tcPr anchor="ctr" marL="76200" marT="38100" marB="38100">
                    <a:solidFill>
                      <a:srgbClr val="E4F0F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20242B"/>
                          </a:solidFill>
                          <a:latin typeface="맑은 고딕"/>
                        </a:rPr>
                        <a:t>9</a:t>
                      </a:r>
                    </a:p>
                  </a:txBody>
                  <a:tcPr anchor="ctr" marL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20242B"/>
                          </a:solidFill>
                          <a:latin typeface="맑은 고딕"/>
                        </a:rPr>
                        <a:t>정서 파이프라인 Phase 1 한정 OFF(피처플래그) 반영 후 Do 단계 착수</a:t>
                      </a:r>
                    </a:p>
                  </a:txBody>
                  <a:tcPr anchor="ctr" marL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20242B"/>
                          </a:solidFill>
                          <a:latin typeface="맑은 고딕"/>
                        </a:rPr>
                        <a:t>개발팀 / 위 1~8 병행 완료 후</a:t>
                      </a:r>
                    </a:p>
                  </a:txBody>
                  <a:tcPr anchor="ctr" marL="76200" marT="38100" marB="381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9096A0"/>
                </a:solidFill>
                <a:latin typeface="맑은 고딕"/>
              </a:rPr>
              <a:t>은빛실타래 · SilverYarn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096A0"/>
                </a:solidFill>
                <a:latin typeface="맑은 고딕"/>
              </a:rPr>
              <a:t>65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02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1E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B89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4400" b="1">
                <a:solidFill>
                  <a:srgbClr val="FFFFFF"/>
                </a:solidFill>
                <a:latin typeface="맑은 고딕"/>
              </a:rPr>
              <a:t>감사합니다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566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>
                <a:solidFill>
                  <a:srgbClr val="B8935A"/>
                </a:solidFill>
                <a:latin typeface="맑은 고딕"/>
              </a:rPr>
              <a:t>Q&amp;A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60350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9096A0"/>
                </a:solidFill>
                <a:latin typeface="맑은 고딕"/>
              </a:rPr>
              <a:t>은빛실타래 (SilverYarn) · NUBiz AX Initiative · 2026년 9월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